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96" r:id="rId3"/>
    <p:sldId id="297" r:id="rId4"/>
    <p:sldId id="298" r:id="rId5"/>
    <p:sldId id="261" r:id="rId6"/>
    <p:sldId id="264" r:id="rId7"/>
    <p:sldId id="263" r:id="rId8"/>
    <p:sldId id="265" r:id="rId9"/>
    <p:sldId id="299" r:id="rId10"/>
    <p:sldId id="286" r:id="rId11"/>
    <p:sldId id="304" r:id="rId12"/>
    <p:sldId id="301" r:id="rId13"/>
    <p:sldId id="303" r:id="rId14"/>
    <p:sldId id="302" r:id="rId15"/>
    <p:sldId id="269" r:id="rId16"/>
    <p:sldId id="270" r:id="rId17"/>
    <p:sldId id="308" r:id="rId18"/>
    <p:sldId id="309" r:id="rId19"/>
    <p:sldId id="310" r:id="rId20"/>
    <p:sldId id="311" r:id="rId21"/>
    <p:sldId id="289" r:id="rId22"/>
    <p:sldId id="312" r:id="rId23"/>
    <p:sldId id="313" r:id="rId2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吳映萱(sarah_wu)" initials="吳映萱(sarah_wu)" lastIdx="2" clrIdx="0">
    <p:extLst>
      <p:ext uri="{19B8F6BF-5375-455C-9EA6-DF929625EA0E}">
        <p15:presenceInfo xmlns:p15="http://schemas.microsoft.com/office/powerpoint/2012/main" userId="S-1-5-21-1417001333-507921405-1708537768-4393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FFE7FF"/>
    <a:srgbClr val="F29100"/>
    <a:srgbClr val="C35710"/>
    <a:srgbClr val="3471A7"/>
    <a:srgbClr val="CCCCFF"/>
    <a:srgbClr val="FFCCFF"/>
    <a:srgbClr val="CFD5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E160D3-92D9-473F-94B7-5139A7497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4E8033B-CCFF-467B-BEBC-3F83345B46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56A670-DC72-4B64-BFBF-C6CA4974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08B9D-073B-4CE2-8750-D050B367CD93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1926E5-897B-4960-9981-DE6EC029C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2D36A60-1C98-4DC1-8DE7-589143DC6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5C53-88D0-47B2-A6EE-23BF033104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2322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EEB036-E436-462C-8509-800649C5E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EC1C1C-B296-4DEB-9D25-C4DE20723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E49F12-6D46-4265-8A60-876D51285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08B9D-073B-4CE2-8750-D050B367CD93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8836A7-C6ED-44C9-B100-342CA9CB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4F6CE3D-3942-4FD5-8203-36C360789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5C53-88D0-47B2-A6EE-23BF033104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3471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B23DC7-1AEA-4631-BC7C-5A09A7B10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41435C3-C065-4491-B98B-AFA2C7996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CCB282-205C-4CA8-80BD-C62366522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08B9D-073B-4CE2-8750-D050B367CD93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53BFD19-2FF9-43CB-9990-4A7D95088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84964F-C770-4DC8-8F31-312E28305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5C53-88D0-47B2-A6EE-23BF033104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6201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74DCB3-659D-4817-8C4A-2B05E17C5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425D65-C44C-4A2B-B36B-543F3D1C28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19E5DFF-E8F6-4F54-92E3-A825E778E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6389C1A-A483-47A8-B304-E395B03D9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08B9D-073B-4CE2-8750-D050B367CD93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971A46F-98EB-490B-A8FB-6B66B58A2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77B64FC-5D9F-4A3C-939D-1D25D49CE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5C53-88D0-47B2-A6EE-23BF033104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6461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4454F2-56B6-4559-8068-657D4E322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0891CD1-9E58-425A-8EDF-06BA1C32E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AD2B849-75D1-44C5-A0B4-8033FE3A9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A7A2152-39AF-4D15-8DFE-DB2C7B2FD6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9FBB4DC-0DDD-46C3-880A-E4B9035A95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7E315AE-01A9-42AA-A129-59A926B03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08B9D-073B-4CE2-8750-D050B367CD93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DAE0C4E-5021-40A3-91EA-58B4D5E1A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61748CC-C97F-4724-9C2B-AC0688EC0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5C53-88D0-47B2-A6EE-23BF033104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1015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39CD81-7115-411E-9777-24B6BB929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456FC13-D5D8-41E1-BF07-7DA10FE5F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08B9D-073B-4CE2-8750-D050B367CD93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D917596-C655-46FE-9E8A-D73F74EE2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2C5EC7F-EE0F-49E6-9F8B-A255A41B6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5C53-88D0-47B2-A6EE-23BF033104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5576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C464BEF-4BA0-4C1F-A74F-2D88BB677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08B9D-073B-4CE2-8750-D050B367CD93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90DE55E-A0D5-4D37-879C-747EDDD48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51B1B7-3F61-4C0D-A9E4-E1A2D3A05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5C53-88D0-47B2-A6EE-23BF033104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8830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9D0B38-CFA8-4E25-8EE4-9407BE86D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645146-53E9-4F00-BE4B-AE87A9DE0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FCA344B-37D3-459C-A11D-DD9CFA53B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89DBDF5-EF63-4741-8A9D-80A799FFA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08B9D-073B-4CE2-8750-D050B367CD93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79C923D-ECB6-4B09-9F12-E70B0BD59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6EFE781-7E16-4313-AC7A-A78BF1F30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5C53-88D0-47B2-A6EE-23BF033104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078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839518-FFEA-4B18-96F3-98FC08C9B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4118894-C4A5-4F7A-906D-3F6EF5559D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AF56328-1587-4F41-B5E9-868E9A2E5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5274D46-3115-4E5F-B0F4-C39D8BA41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08B9D-073B-4CE2-8750-D050B367CD93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E3B5049-2063-4366-87BB-3D23FCA47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C718AFF-1DEF-4379-BC3F-E333F6B11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5C53-88D0-47B2-A6EE-23BF033104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3273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4ADE92-15CE-4CC6-85CE-172657057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BB3977B-8C90-4618-B5BC-A1756CDAF7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23D0EE-6919-4B73-AFB4-F00441101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08B9D-073B-4CE2-8750-D050B367CD93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5CB910-C81A-4F9C-AEA8-5A0808684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B344E3-905F-4312-A933-0890047E7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5C53-88D0-47B2-A6EE-23BF033104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0398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876BD9F-F11B-466A-8637-83758D0937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66D4F73-4845-41EA-9722-31F9846CF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B8B657-69B6-45B4-A3CC-14B33E907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08B9D-073B-4CE2-8750-D050B367CD93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E540EFD-A287-4EB8-9637-BDB6EBB77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02FFCCE-6384-453C-938F-4E0B8B759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5C53-88D0-47B2-A6EE-23BF033104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4824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A picture containing white, black and white, design, art&#10;&#10;Description automatically generated">
            <a:extLst>
              <a:ext uri="{FF2B5EF4-FFF2-40B4-BE49-F238E27FC236}">
                <a16:creationId xmlns:a16="http://schemas.microsoft.com/office/drawing/2014/main" id="{44421972-C57C-A887-8FFE-A0ACE52BED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-1" y="0"/>
            <a:ext cx="12189631" cy="6758382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6000" y="365125"/>
            <a:ext cx="10897800" cy="720000"/>
          </a:xfrm>
        </p:spPr>
        <p:txBody>
          <a:bodyPr>
            <a:normAutofit/>
          </a:bodyPr>
          <a:lstStyle>
            <a:lvl1pPr>
              <a:defRPr lang="en-US" sz="2667" b="1" kern="1200" dirty="0">
                <a:solidFill>
                  <a:srgbClr val="13295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</a:lstStyle>
          <a:p>
            <a:pPr marL="0" lv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CFA58-57C5-4E70-9489-90A970138A3C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A451B-18F2-46CA-8EB8-6249CA8937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8AE6D7-2560-0505-293F-2C27409205DC}"/>
              </a:ext>
            </a:extLst>
          </p:cNvPr>
          <p:cNvSpPr/>
          <p:nvPr userDrawn="1"/>
        </p:nvSpPr>
        <p:spPr>
          <a:xfrm rot="5400000">
            <a:off x="989850" y="-478269"/>
            <a:ext cx="162729" cy="1119263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8" name="Picture 19" descr="A picture containing logo&#10;&#10;Description automatically generated">
            <a:extLst>
              <a:ext uri="{FF2B5EF4-FFF2-40B4-BE49-F238E27FC236}">
                <a16:creationId xmlns:a16="http://schemas.microsoft.com/office/drawing/2014/main" id="{6531A58A-1210-16EB-98A8-4045DAEF53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6383046"/>
            <a:ext cx="12215445" cy="474955"/>
          </a:xfrm>
          <a:prstGeom prst="rect">
            <a:avLst/>
          </a:prstGeom>
        </p:spPr>
      </p:pic>
      <p:pic>
        <p:nvPicPr>
          <p:cNvPr id="9" name="Graphic 20">
            <a:extLst>
              <a:ext uri="{FF2B5EF4-FFF2-40B4-BE49-F238E27FC236}">
                <a16:creationId xmlns:a16="http://schemas.microsoft.com/office/drawing/2014/main" id="{8BCFE683-3CFA-F703-841D-7DBC12C7842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5773" y="6508236"/>
            <a:ext cx="1269259" cy="250146"/>
          </a:xfrm>
          <a:prstGeom prst="rect">
            <a:avLst/>
          </a:prstGeom>
        </p:spPr>
      </p:pic>
      <p:sp>
        <p:nvSpPr>
          <p:cNvPr id="10" name="TextBox 21">
            <a:extLst>
              <a:ext uri="{FF2B5EF4-FFF2-40B4-BE49-F238E27FC236}">
                <a16:creationId xmlns:a16="http://schemas.microsoft.com/office/drawing/2014/main" id="{756FAE72-220F-7F03-A50E-5F4AA875B136}"/>
              </a:ext>
            </a:extLst>
          </p:cNvPr>
          <p:cNvSpPr txBox="1"/>
          <p:nvPr userDrawn="1"/>
        </p:nvSpPr>
        <p:spPr>
          <a:xfrm>
            <a:off x="462435" y="6383045"/>
            <a:ext cx="2686316" cy="47495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spc="60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CD7A373-688F-F794-2189-835EA25C31F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151119" y="6383045"/>
            <a:ext cx="5923175" cy="474955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50" b="0" i="1" spc="300">
                <a:solidFill>
                  <a:schemeClr val="bg1"/>
                </a:solidFill>
                <a:latin typeface="+mn-lt"/>
                <a:ea typeface="Roboto" panose="02000000000000000000" pitchFamily="2" charset="0"/>
              </a:defRPr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9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7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endParaRPr lang="en-US"/>
          </a:p>
        </p:txBody>
      </p:sp>
      <p:pic>
        <p:nvPicPr>
          <p:cNvPr id="12" name="Graphic 24">
            <a:extLst>
              <a:ext uri="{FF2B5EF4-FFF2-40B4-BE49-F238E27FC236}">
                <a16:creationId xmlns:a16="http://schemas.microsoft.com/office/drawing/2014/main" id="{AB50E332-CD18-AF4C-6ACD-BD31EF08D99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5773" y="6508236"/>
            <a:ext cx="1269259" cy="250146"/>
          </a:xfrm>
          <a:prstGeom prst="rect">
            <a:avLst/>
          </a:prstGeom>
        </p:spPr>
      </p:pic>
      <p:pic>
        <p:nvPicPr>
          <p:cNvPr id="13" name="Graphic 26">
            <a:extLst>
              <a:ext uri="{FF2B5EF4-FFF2-40B4-BE49-F238E27FC236}">
                <a16:creationId xmlns:a16="http://schemas.microsoft.com/office/drawing/2014/main" id="{9553E116-8FD8-4E8A-1C6A-66FB5FFE56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5773" y="6508236"/>
            <a:ext cx="1269259" cy="25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087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99B2E8E-7E68-4DFA-AAA6-0161E6D6E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81D0B94-B9DB-4C6E-AE31-F0B1CEA10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2FDCB04-046A-4DAA-8D46-6979B95B20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08B9D-073B-4CE2-8750-D050B367CD93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2FC827-AECF-4A63-9525-A6D450EDE4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0DCF50-8D07-4C10-85EC-C151757BDA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35C53-88D0-47B2-A6EE-23BF033104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4241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microsoft.com/office/2007/relationships/hdphoto" Target="../media/hdphoto2.wdp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48559A-AB4A-49F3-AE38-0C35173E83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5000" b="1" dirty="0">
                <a:solidFill>
                  <a:srgbClr val="002060"/>
                </a:solidFill>
                <a:latin typeface="+mn-lt"/>
                <a:ea typeface="微軟正黑體" panose="020B0604030504040204" pitchFamily="34" charset="-120"/>
              </a:rPr>
              <a:t>Lesson 1: AI Agent</a:t>
            </a:r>
            <a:r>
              <a:rPr lang="en-US" altLang="zh-TW" sz="5000" b="1" dirty="0">
                <a:solidFill>
                  <a:srgbClr val="002060"/>
                </a:solidFill>
                <a:effectLst/>
                <a:latin typeface="+mn-lt"/>
                <a:ea typeface="微軟正黑體" panose="020B0604030504040204" pitchFamily="34" charset="-120"/>
              </a:rPr>
              <a:t> </a:t>
            </a:r>
            <a:endParaRPr lang="zh-TW" altLang="en-US" sz="5000" b="1" dirty="0">
              <a:solidFill>
                <a:srgbClr val="002060"/>
              </a:solidFill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16A754C-D017-4B3D-90C9-F17E42B30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0305" y="3868181"/>
            <a:ext cx="9144000" cy="536329"/>
          </a:xfrm>
        </p:spPr>
        <p:txBody>
          <a:bodyPr>
            <a:normAutofit/>
          </a:bodyPr>
          <a:lstStyle/>
          <a:p>
            <a:r>
              <a:rPr lang="zh-TW" altLang="en-US" sz="22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講師：吳映萱 </a:t>
            </a:r>
            <a:r>
              <a:rPr lang="en-US" altLang="zh-TW" sz="22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Sarah</a:t>
            </a:r>
            <a:endParaRPr lang="zh-TW" altLang="en-US" sz="2200" b="1" dirty="0">
              <a:solidFill>
                <a:schemeClr val="accent2"/>
              </a:solidFill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95129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3AE5ED5-4070-4F21-A9BA-2339DCF24D99}"/>
              </a:ext>
            </a:extLst>
          </p:cNvPr>
          <p:cNvSpPr txBox="1"/>
          <p:nvPr/>
        </p:nvSpPr>
        <p:spPr>
          <a:xfrm>
            <a:off x="2502240" y="2782669"/>
            <a:ext cx="7220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AI Agent </a:t>
            </a:r>
            <a:r>
              <a:rPr lang="zh-TW" altLang="en-US" sz="3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是什麼？ 跟 </a:t>
            </a:r>
            <a:r>
              <a:rPr lang="en-US" altLang="zh-TW" sz="3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LLM </a:t>
            </a:r>
            <a:r>
              <a:rPr lang="zh-TW" altLang="en-US" sz="3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不一樣嗎？</a:t>
            </a:r>
            <a:endParaRPr lang="en-US" altLang="zh-TW" sz="3600" b="1" dirty="0">
              <a:solidFill>
                <a:srgbClr val="002060"/>
              </a:solidFill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53367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effectLst/>
              </a:rPr>
              <a:t>AI Agent </a:t>
            </a:r>
            <a:r>
              <a:rPr lang="zh-TW" altLang="en-US" b="1" dirty="0">
                <a:effectLst/>
              </a:rPr>
              <a:t>是什麼？ 跟 </a:t>
            </a:r>
            <a:r>
              <a:rPr lang="en-US" altLang="zh-TW" b="1" dirty="0">
                <a:effectLst/>
              </a:rPr>
              <a:t>LLM </a:t>
            </a:r>
            <a:r>
              <a:rPr lang="zh-TW" altLang="en-US" b="1" dirty="0">
                <a:effectLst/>
              </a:rPr>
              <a:t>不一樣嗎？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C669C17-E486-4329-B384-76E862493B7B}"/>
              </a:ext>
            </a:extLst>
          </p:cNvPr>
          <p:cNvSpPr txBox="1"/>
          <p:nvPr/>
        </p:nvSpPr>
        <p:spPr>
          <a:xfrm>
            <a:off x="456000" y="1085125"/>
            <a:ext cx="11582030" cy="5223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互動模式的差異</a:t>
            </a:r>
            <a:endParaRPr lang="en-US" altLang="zh-TW" sz="1600" b="1" dirty="0">
              <a:solidFill>
                <a:srgbClr val="002060"/>
              </a:solidFill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LLM</a:t>
            </a:r>
            <a:r>
              <a:rPr lang="zh-TW" altLang="en-US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(</a:t>
            </a:r>
            <a:r>
              <a:rPr lang="zh-TW" altLang="en-US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模型</a:t>
            </a:r>
            <a:r>
              <a:rPr lang="en-US" altLang="zh-TW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) - AI Agent </a:t>
            </a:r>
            <a:r>
              <a:rPr lang="zh-TW" altLang="en-US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的 「大腦」：</a:t>
            </a:r>
            <a:r>
              <a:rPr lang="zh-TW" altLang="en-US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被動</a:t>
            </a:r>
            <a:r>
              <a:rPr lang="zh-TW" altLang="en-US" sz="1600" dirty="0">
                <a:ea typeface="微軟正黑體" panose="020B0604030504040204" pitchFamily="34" charset="-120"/>
              </a:rPr>
              <a:t>的函數。你輸入指令，它輸出回應。對話結束後，它不會產生任何後續動作。</a:t>
            </a:r>
            <a:endParaRPr lang="en-US" altLang="zh-TW" sz="1600" b="1" dirty="0">
              <a:solidFill>
                <a:srgbClr val="002060"/>
              </a:solidFill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AI Agent (</a:t>
            </a:r>
            <a:r>
              <a:rPr lang="zh-TW" altLang="en-US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代理</a:t>
            </a:r>
            <a:r>
              <a:rPr lang="en-US" altLang="zh-TW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)</a:t>
            </a:r>
            <a:r>
              <a:rPr lang="zh-TW" altLang="en-US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– </a:t>
            </a:r>
            <a:r>
              <a:rPr lang="zh-TW" altLang="en-US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整合 </a:t>
            </a:r>
            <a:r>
              <a:rPr lang="en-US" altLang="zh-TW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LLM</a:t>
            </a:r>
            <a:r>
              <a:rPr lang="zh-TW" altLang="en-US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 與工具以達成特定目標的系統：</a:t>
            </a:r>
            <a:r>
              <a:rPr lang="zh-TW" altLang="en-US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主動</a:t>
            </a:r>
            <a:r>
              <a:rPr lang="zh-TW" altLang="en-US" sz="1600" dirty="0">
                <a:ea typeface="微軟正黑體" panose="020B0604030504040204" pitchFamily="34" charset="-120"/>
              </a:rPr>
              <a:t>的系統。它會根據目標，自己決定「我現在該查資料」、「我現在該算數」或「我現在該發郵件」。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altLang="zh-TW" sz="1600" b="1" dirty="0">
              <a:solidFill>
                <a:srgbClr val="002060"/>
              </a:solidFill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AI</a:t>
            </a: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Agent </a:t>
            </a: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的核心組件</a:t>
            </a:r>
            <a:endParaRPr lang="en-US" altLang="zh-TW" sz="1600" b="1" dirty="0">
              <a:solidFill>
                <a:srgbClr val="002060"/>
              </a:solidFill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b="1" dirty="0">
                <a:ea typeface="微軟正黑體" panose="020B0604030504040204" pitchFamily="34" charset="-120"/>
              </a:rPr>
              <a:t>大腦 </a:t>
            </a:r>
            <a:r>
              <a:rPr lang="en-US" altLang="zh-TW" sz="1600" b="1" dirty="0">
                <a:ea typeface="微軟正黑體" panose="020B0604030504040204" pitchFamily="34" charset="-120"/>
              </a:rPr>
              <a:t>(LLM)</a:t>
            </a:r>
            <a:r>
              <a:rPr lang="zh-TW" altLang="en-US" sz="1600" b="1" dirty="0">
                <a:ea typeface="微軟正黑體" panose="020B0604030504040204" pitchFamily="34" charset="-120"/>
              </a:rPr>
              <a:t>： </a:t>
            </a:r>
            <a:r>
              <a:rPr lang="zh-TW" altLang="en-US" sz="1600" dirty="0">
                <a:ea typeface="微軟正黑體" panose="020B0604030504040204" pitchFamily="34" charset="-120"/>
              </a:rPr>
              <a:t>負責推理、規劃、理解意圖。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b="1" dirty="0">
                <a:ea typeface="微軟正黑體" panose="020B0604030504040204" pitchFamily="34" charset="-120"/>
              </a:rPr>
              <a:t>感知 </a:t>
            </a:r>
            <a:r>
              <a:rPr lang="en-US" altLang="zh-TW" sz="1600" b="1" dirty="0">
                <a:ea typeface="微軟正黑體" panose="020B0604030504040204" pitchFamily="34" charset="-120"/>
              </a:rPr>
              <a:t>(Perception)</a:t>
            </a:r>
            <a:r>
              <a:rPr lang="zh-TW" altLang="en-US" sz="1600" b="1" dirty="0">
                <a:ea typeface="微軟正黑體" panose="020B0604030504040204" pitchFamily="34" charset="-120"/>
              </a:rPr>
              <a:t>： </a:t>
            </a:r>
            <a:r>
              <a:rPr lang="zh-TW" altLang="en-US" sz="1600" dirty="0">
                <a:ea typeface="微軟正黑體" panose="020B0604030504040204" pitchFamily="34" charset="-120"/>
              </a:rPr>
              <a:t>接收外部資訊（如閱讀網頁、觀看圖片、接收感測器數據）。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b="1" dirty="0">
                <a:ea typeface="微軟正黑體" panose="020B0604030504040204" pitchFamily="34" charset="-120"/>
              </a:rPr>
              <a:t>規劃 </a:t>
            </a:r>
            <a:r>
              <a:rPr lang="en-US" altLang="zh-TW" sz="1600" b="1" dirty="0">
                <a:ea typeface="微軟正黑體" panose="020B0604030504040204" pitchFamily="34" charset="-120"/>
              </a:rPr>
              <a:t>(Planning)</a:t>
            </a:r>
            <a:r>
              <a:rPr lang="zh-TW" altLang="en-US" sz="1600" b="1" dirty="0">
                <a:ea typeface="微軟正黑體" panose="020B0604030504040204" pitchFamily="34" charset="-120"/>
              </a:rPr>
              <a:t>： </a:t>
            </a:r>
            <a:r>
              <a:rPr lang="zh-TW" altLang="en-US" sz="1600" dirty="0">
                <a:ea typeface="微軟正黑體" panose="020B0604030504040204" pitchFamily="34" charset="-120"/>
              </a:rPr>
              <a:t>能把大目標拆解成小步驟（例如：為了生成 </a:t>
            </a:r>
            <a:r>
              <a:rPr lang="en-US" altLang="zh-TW" sz="1600" dirty="0">
                <a:ea typeface="微軟正黑體" panose="020B0604030504040204" pitchFamily="34" charset="-120"/>
              </a:rPr>
              <a:t>6000 </a:t>
            </a:r>
            <a:r>
              <a:rPr lang="zh-TW" altLang="en-US" sz="1600" dirty="0">
                <a:ea typeface="微軟正黑體" panose="020B0604030504040204" pitchFamily="34" charset="-120"/>
              </a:rPr>
              <a:t>個事故原因，它會先分類、再逐一填寫）。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b="1" dirty="0">
                <a:ea typeface="微軟正黑體" panose="020B0604030504040204" pitchFamily="34" charset="-120"/>
              </a:rPr>
              <a:t>工具 </a:t>
            </a:r>
            <a:r>
              <a:rPr lang="en-US" altLang="zh-TW" sz="1600" b="1" dirty="0">
                <a:ea typeface="微軟正黑體" panose="020B0604030504040204" pitchFamily="34" charset="-120"/>
              </a:rPr>
              <a:t>(Tools/Action)</a:t>
            </a:r>
            <a:r>
              <a:rPr lang="zh-TW" altLang="en-US" sz="1600" b="1" dirty="0">
                <a:ea typeface="微軟正黑體" panose="020B0604030504040204" pitchFamily="34" charset="-120"/>
              </a:rPr>
              <a:t>： </a:t>
            </a:r>
            <a:r>
              <a:rPr lang="zh-TW" altLang="en-US" sz="1600" dirty="0">
                <a:ea typeface="微軟正黑體" panose="020B0604030504040204" pitchFamily="34" charset="-120"/>
              </a:rPr>
              <a:t>能夠調用外部工具（如 </a:t>
            </a:r>
            <a:r>
              <a:rPr lang="en-US" altLang="zh-TW" sz="1600" dirty="0">
                <a:ea typeface="微軟正黑體" panose="020B0604030504040204" pitchFamily="34" charset="-120"/>
              </a:rPr>
              <a:t>Python </a:t>
            </a:r>
            <a:r>
              <a:rPr lang="zh-TW" altLang="en-US" sz="1600" dirty="0">
                <a:ea typeface="微軟正黑體" panose="020B0604030504040204" pitchFamily="34" charset="-120"/>
              </a:rPr>
              <a:t>編譯器、</a:t>
            </a:r>
            <a:r>
              <a:rPr lang="en-US" altLang="zh-TW" sz="1600" dirty="0">
                <a:ea typeface="微軟正黑體" panose="020B0604030504040204" pitchFamily="34" charset="-120"/>
              </a:rPr>
              <a:t>Google </a:t>
            </a:r>
            <a:r>
              <a:rPr lang="zh-TW" altLang="en-US" sz="1600" dirty="0">
                <a:ea typeface="微軟正黑體" panose="020B0604030504040204" pitchFamily="34" charset="-120"/>
              </a:rPr>
              <a:t>搜尋、數據庫寫入）。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altLang="zh-TW" sz="1600" dirty="0"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關鍵區分點：循環 </a:t>
            </a:r>
            <a:r>
              <a:rPr lang="en-US" altLang="zh-TW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(Loop)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ea typeface="微軟正黑體" panose="020B0604030504040204" pitchFamily="34" charset="-120"/>
              </a:rPr>
              <a:t>如果你跟 </a:t>
            </a:r>
            <a:r>
              <a:rPr lang="en-US" altLang="zh-TW" sz="1600" dirty="0">
                <a:ea typeface="微軟正黑體" panose="020B0604030504040204" pitchFamily="34" charset="-120"/>
              </a:rPr>
              <a:t>GPT </a:t>
            </a:r>
            <a:r>
              <a:rPr lang="zh-TW" altLang="en-US" sz="1600" dirty="0">
                <a:ea typeface="微軟正黑體" panose="020B0604030504040204" pitchFamily="34" charset="-120"/>
              </a:rPr>
              <a:t>聊天，它回答完就停了，這時它只是 </a:t>
            </a:r>
            <a:r>
              <a:rPr lang="en-US" altLang="zh-TW" sz="1600" dirty="0">
                <a:ea typeface="微軟正黑體" panose="020B0604030504040204" pitchFamily="34" charset="-120"/>
              </a:rPr>
              <a:t>LLM</a:t>
            </a:r>
            <a:r>
              <a:rPr lang="zh-TW" altLang="en-US" sz="1600" dirty="0">
                <a:ea typeface="微軟正黑體" panose="020B0604030504040204" pitchFamily="34" charset="-120"/>
              </a:rPr>
              <a:t>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ea typeface="微軟正黑體" panose="020B0604030504040204" pitchFamily="34" charset="-120"/>
              </a:rPr>
              <a:t>如果你使用 特定的工作流，給它一個指令後，它會自己跟自己對話，並不斷調用工具直到完成任務，這時它才升格為 </a:t>
            </a:r>
            <a:r>
              <a:rPr lang="en-US" altLang="zh-TW" sz="1600" dirty="0">
                <a:ea typeface="微軟正黑體" panose="020B0604030504040204" pitchFamily="34" charset="-120"/>
              </a:rPr>
              <a:t>Agent</a:t>
            </a:r>
            <a:r>
              <a:rPr lang="zh-TW" altLang="en-US" sz="1600" dirty="0">
                <a:ea typeface="微軟正黑體" panose="020B0604030504040204" pitchFamily="34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43966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5F1A8A-462A-4F07-97C4-5765698C3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effectLst/>
              </a:rPr>
              <a:t>AI Agent </a:t>
            </a:r>
            <a:r>
              <a:rPr lang="zh-TW" altLang="en-US" b="1" dirty="0">
                <a:effectLst/>
              </a:rPr>
              <a:t>是什麼？ 跟 </a:t>
            </a:r>
            <a:r>
              <a:rPr lang="en-US" altLang="zh-TW" b="1" dirty="0">
                <a:effectLst/>
              </a:rPr>
              <a:t>LLM </a:t>
            </a:r>
            <a:r>
              <a:rPr lang="zh-TW" altLang="en-US" b="1" dirty="0">
                <a:effectLst/>
              </a:rPr>
              <a:t>不一樣嗎？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74755F7-A066-417E-B54F-CE6FF945EAAD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E0DFE9B4-968C-4EEB-B0B7-A4D526E363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012187"/>
              </p:ext>
            </p:extLst>
          </p:nvPr>
        </p:nvGraphicFramePr>
        <p:xfrm>
          <a:off x="455999" y="1339129"/>
          <a:ext cx="643790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3637">
                  <a:extLst>
                    <a:ext uri="{9D8B030D-6E8A-4147-A177-3AD203B41FA5}">
                      <a16:colId xmlns:a16="http://schemas.microsoft.com/office/drawing/2014/main" val="2093109216"/>
                    </a:ext>
                  </a:extLst>
                </a:gridCol>
                <a:gridCol w="2757136">
                  <a:extLst>
                    <a:ext uri="{9D8B030D-6E8A-4147-A177-3AD203B41FA5}">
                      <a16:colId xmlns:a16="http://schemas.microsoft.com/office/drawing/2014/main" val="1585499822"/>
                    </a:ext>
                  </a:extLst>
                </a:gridCol>
                <a:gridCol w="2757136">
                  <a:extLst>
                    <a:ext uri="{9D8B030D-6E8A-4147-A177-3AD203B41FA5}">
                      <a16:colId xmlns:a16="http://schemas.microsoft.com/office/drawing/2014/main" val="31682055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solidFill>
                            <a:schemeClr val="bg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特性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bg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LLM</a:t>
                      </a:r>
                      <a:r>
                        <a:rPr lang="zh-TW" altLang="en-US" sz="1600" dirty="0">
                          <a:solidFill>
                            <a:schemeClr val="bg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600" dirty="0">
                          <a:solidFill>
                            <a:schemeClr val="bg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600" dirty="0">
                          <a:solidFill>
                            <a:schemeClr val="bg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大腦</a:t>
                      </a:r>
                      <a:r>
                        <a:rPr lang="en-US" altLang="zh-TW" sz="1600" dirty="0">
                          <a:solidFill>
                            <a:schemeClr val="bg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600" dirty="0">
                        <a:solidFill>
                          <a:schemeClr val="bg1"/>
                        </a:solidFill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bg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1600" dirty="0">
                          <a:solidFill>
                            <a:schemeClr val="bg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600" dirty="0">
                          <a:solidFill>
                            <a:schemeClr val="bg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Agent (</a:t>
                      </a:r>
                      <a:r>
                        <a:rPr lang="zh-TW" altLang="en-US" sz="1600" dirty="0">
                          <a:solidFill>
                            <a:schemeClr val="bg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代理人</a:t>
                      </a:r>
                      <a:r>
                        <a:rPr lang="en-US" altLang="zh-TW" sz="1600" dirty="0">
                          <a:solidFill>
                            <a:schemeClr val="bg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600" dirty="0">
                        <a:solidFill>
                          <a:schemeClr val="bg1"/>
                        </a:solidFill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345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600" b="1" dirty="0">
                          <a:latin typeface="+mn-lt"/>
                          <a:ea typeface="微軟正黑體" panose="020B0604030504040204" pitchFamily="34" charset="-120"/>
                        </a:rPr>
                        <a:t>目標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latin typeface="+mn-lt"/>
                          <a:ea typeface="微軟正黑體" panose="020B0604030504040204" pitchFamily="34" charset="-120"/>
                        </a:rPr>
                        <a:t>預測下一個字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600" dirty="0">
                          <a:latin typeface="+mn-lt"/>
                          <a:ea typeface="微軟正黑體" panose="020B0604030504040204" pitchFamily="34" charset="-120"/>
                        </a:rPr>
                        <a:t>回覆正確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600" dirty="0"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latin typeface="+mn-lt"/>
                          <a:ea typeface="微軟正黑體" panose="020B0604030504040204" pitchFamily="34" charset="-120"/>
                        </a:rPr>
                        <a:t>完成特定任務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600" dirty="0">
                          <a:latin typeface="+mn-lt"/>
                          <a:ea typeface="微軟正黑體" panose="020B0604030504040204" pitchFamily="34" charset="-120"/>
                        </a:rPr>
                        <a:t>達成目標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600" dirty="0"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459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600" b="1" dirty="0">
                          <a:latin typeface="+mn-lt"/>
                          <a:ea typeface="微軟正黑體" panose="020B0604030504040204" pitchFamily="34" charset="-120"/>
                        </a:rPr>
                        <a:t>反饋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latin typeface="+mn-lt"/>
                          <a:ea typeface="微軟正黑體" panose="020B0604030504040204" pitchFamily="34" charset="-120"/>
                        </a:rPr>
                        <a:t>依賴人類輸入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latin typeface="+mn-lt"/>
                          <a:ea typeface="微軟正黑體" panose="020B0604030504040204" pitchFamily="34" charset="-120"/>
                        </a:rPr>
                        <a:t>依賴環境或工具的反饋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830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600" b="1" dirty="0">
                          <a:latin typeface="+mn-lt"/>
                          <a:ea typeface="微軟正黑體" panose="020B0604030504040204" pitchFamily="34" charset="-120"/>
                        </a:rPr>
                        <a:t>持續性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latin typeface="+mn-lt"/>
                          <a:ea typeface="微軟正黑體" panose="020B0604030504040204" pitchFamily="34" charset="-120"/>
                        </a:rPr>
                        <a:t>對話完即結束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latin typeface="+mn-lt"/>
                          <a:ea typeface="微軟正黑體" panose="020B0604030504040204" pitchFamily="34" charset="-120"/>
                        </a:rPr>
                        <a:t>持續運作直到目標達成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658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600" b="1" dirty="0">
                          <a:latin typeface="+mn-lt"/>
                          <a:ea typeface="微軟正黑體" panose="020B0604030504040204" pitchFamily="34" charset="-120"/>
                        </a:rPr>
                        <a:t>自主性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latin typeface="+mn-lt"/>
                          <a:ea typeface="微軟正黑體" panose="020B0604030504040204" pitchFamily="34" charset="-120"/>
                        </a:rPr>
                        <a:t>低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600" dirty="0">
                          <a:latin typeface="+mn-lt"/>
                          <a:ea typeface="微軟正黑體" panose="020B0604030504040204" pitchFamily="34" charset="-120"/>
                        </a:rPr>
                        <a:t>問一答一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600" dirty="0"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latin typeface="+mn-lt"/>
                          <a:ea typeface="微軟正黑體" panose="020B0604030504040204" pitchFamily="34" charset="-120"/>
                        </a:rPr>
                        <a:t>高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600" dirty="0">
                          <a:latin typeface="+mn-lt"/>
                          <a:ea typeface="微軟正黑體" panose="020B0604030504040204" pitchFamily="34" charset="-120"/>
                        </a:rPr>
                        <a:t>自主規劃步驟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600" dirty="0"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951936"/>
                  </a:ext>
                </a:extLst>
              </a:tr>
            </a:tbl>
          </a:graphicData>
        </a:graphic>
      </p:graphicFrame>
      <p:grpSp>
        <p:nvGrpSpPr>
          <p:cNvPr id="67" name="群組 66">
            <a:extLst>
              <a:ext uri="{FF2B5EF4-FFF2-40B4-BE49-F238E27FC236}">
                <a16:creationId xmlns:a16="http://schemas.microsoft.com/office/drawing/2014/main" id="{45784623-077E-4575-A0EA-BEF689A41141}"/>
              </a:ext>
            </a:extLst>
          </p:cNvPr>
          <p:cNvGrpSpPr/>
          <p:nvPr/>
        </p:nvGrpSpPr>
        <p:grpSpPr>
          <a:xfrm>
            <a:off x="8096703" y="714641"/>
            <a:ext cx="3339913" cy="5428717"/>
            <a:chOff x="7705872" y="605523"/>
            <a:chExt cx="3339913" cy="5428717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66196B6F-85F5-4D75-AB42-63D9ADEBD895}"/>
                </a:ext>
              </a:extLst>
            </p:cNvPr>
            <p:cNvGrpSpPr/>
            <p:nvPr/>
          </p:nvGrpSpPr>
          <p:grpSpPr>
            <a:xfrm>
              <a:off x="8063952" y="1339129"/>
              <a:ext cx="1252524" cy="1603520"/>
              <a:chOff x="557422" y="3613157"/>
              <a:chExt cx="1252524" cy="1603520"/>
            </a:xfrm>
          </p:grpSpPr>
          <p:pic>
            <p:nvPicPr>
              <p:cNvPr id="7" name="圖片 6">
                <a:extLst>
                  <a:ext uri="{FF2B5EF4-FFF2-40B4-BE49-F238E27FC236}">
                    <a16:creationId xmlns:a16="http://schemas.microsoft.com/office/drawing/2014/main" id="{54F31AC5-70FC-40DB-B47C-7BEDE2DE12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rgbClr val="5B9BD5">
                    <a:shade val="45000"/>
                    <a:satMod val="135000"/>
                  </a:srgb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11" b="93421" l="7483" r="89796">
                            <a14:foregroundMark x1="7483" y1="47368" x2="7483" y2="47368"/>
                            <a14:foregroundMark x1="31973" y1="44079" x2="31973" y2="44079"/>
                            <a14:foregroundMark x1="62585" y1="51974" x2="62585" y2="51974"/>
                            <a14:foregroundMark x1="63265" y1="12500" x2="63265" y2="12500"/>
                            <a14:foregroundMark x1="42177" y1="90789" x2="42177" y2="90789"/>
                            <a14:foregroundMark x1="62585" y1="93421" x2="62585" y2="93421"/>
                            <a14:foregroundMark x1="42857" y1="89474" x2="42857" y2="89474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57422" y="3921550"/>
                <a:ext cx="1252524" cy="1295127"/>
              </a:xfrm>
              <a:prstGeom prst="rect">
                <a:avLst/>
              </a:prstGeom>
            </p:spPr>
          </p:pic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EA26225-1785-4144-9A98-DBC8BAE1D0A9}"/>
                  </a:ext>
                </a:extLst>
              </p:cNvPr>
              <p:cNvSpPr txBox="1"/>
              <p:nvPr/>
            </p:nvSpPr>
            <p:spPr>
              <a:xfrm>
                <a:off x="723054" y="3613157"/>
                <a:ext cx="9212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b="1" dirty="0">
                    <a:solidFill>
                      <a:srgbClr val="3471A7"/>
                    </a:solidFill>
                  </a:rPr>
                  <a:t>LLM</a:t>
                </a:r>
                <a:endParaRPr lang="zh-TW" altLang="en-US" sz="2000" b="1" dirty="0">
                  <a:solidFill>
                    <a:srgbClr val="3471A7"/>
                  </a:solidFill>
                </a:endParaRPr>
              </a:p>
            </p:txBody>
          </p:sp>
        </p:grpSp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2BA01AED-9010-429A-BEF9-88C7E907AD1D}"/>
                </a:ext>
              </a:extLst>
            </p:cNvPr>
            <p:cNvGrpSpPr/>
            <p:nvPr/>
          </p:nvGrpSpPr>
          <p:grpSpPr>
            <a:xfrm>
              <a:off x="9701395" y="2295085"/>
              <a:ext cx="1237626" cy="1603521"/>
              <a:chOff x="8821286" y="1944613"/>
              <a:chExt cx="1237626" cy="1603521"/>
            </a:xfrm>
          </p:grpSpPr>
          <p:pic>
            <p:nvPicPr>
              <p:cNvPr id="13" name="圖片 12">
                <a:extLst>
                  <a:ext uri="{FF2B5EF4-FFF2-40B4-BE49-F238E27FC236}">
                    <a16:creationId xmlns:a16="http://schemas.microsoft.com/office/drawing/2014/main" id="{99011524-1535-4DF8-BEB4-B8BC79AC97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9471" b="96100" l="10000" r="90000">
                            <a14:foregroundMark x1="13889" y1="21170" x2="13889" y2="21170"/>
                            <a14:foregroundMark x1="24444" y1="24234" x2="24444" y2="24234"/>
                            <a14:foregroundMark x1="30000" y1="22006" x2="30000" y2="22006"/>
                            <a14:foregroundMark x1="39722" y1="81616" x2="39722" y2="81616"/>
                            <a14:foregroundMark x1="19444" y1="92201" x2="19444" y2="92201"/>
                            <a14:foregroundMark x1="28889" y1="96100" x2="28889" y2="96100"/>
                            <a14:foregroundMark x1="23056" y1="79666" x2="23056" y2="79666"/>
                            <a14:foregroundMark x1="75556" y1="10306" x2="75556" y2="10306"/>
                            <a14:foregroundMark x1="76667" y1="9749" x2="76667" y2="9749"/>
                            <a14:foregroundMark x1="23333" y1="9749" x2="23333" y2="9749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8821286" y="2313946"/>
                <a:ext cx="1237626" cy="1234188"/>
              </a:xfrm>
              <a:prstGeom prst="rect">
                <a:avLst/>
              </a:prstGeom>
            </p:spPr>
          </p:pic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9A6C94B3-4161-4417-B7EA-E537A621AEEB}"/>
                  </a:ext>
                </a:extLst>
              </p:cNvPr>
              <p:cNvSpPr txBox="1"/>
              <p:nvPr/>
            </p:nvSpPr>
            <p:spPr>
              <a:xfrm>
                <a:off x="8916230" y="1944613"/>
                <a:ext cx="9212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b="1" dirty="0">
                    <a:solidFill>
                      <a:srgbClr val="C35710"/>
                    </a:solidFill>
                  </a:rPr>
                  <a:t>Tool</a:t>
                </a:r>
                <a:endParaRPr lang="zh-TW" altLang="en-US" sz="2000" b="1" dirty="0">
                  <a:solidFill>
                    <a:srgbClr val="C35710"/>
                  </a:solidFill>
                </a:endParaRPr>
              </a:p>
            </p:txBody>
          </p:sp>
        </p:grpSp>
        <p:grpSp>
          <p:nvGrpSpPr>
            <p:cNvPr id="16" name="群組 15">
              <a:extLst>
                <a:ext uri="{FF2B5EF4-FFF2-40B4-BE49-F238E27FC236}">
                  <a16:creationId xmlns:a16="http://schemas.microsoft.com/office/drawing/2014/main" id="{9D8065AA-7CCC-4EB5-9C3E-F339C8C03FDB}"/>
                </a:ext>
              </a:extLst>
            </p:cNvPr>
            <p:cNvGrpSpPr/>
            <p:nvPr/>
          </p:nvGrpSpPr>
          <p:grpSpPr>
            <a:xfrm>
              <a:off x="8123306" y="3576115"/>
              <a:ext cx="1252524" cy="1603520"/>
              <a:chOff x="557422" y="3613157"/>
              <a:chExt cx="1252524" cy="1603520"/>
            </a:xfrm>
          </p:grpSpPr>
          <p:pic>
            <p:nvPicPr>
              <p:cNvPr id="17" name="圖片 16">
                <a:extLst>
                  <a:ext uri="{FF2B5EF4-FFF2-40B4-BE49-F238E27FC236}">
                    <a16:creationId xmlns:a16="http://schemas.microsoft.com/office/drawing/2014/main" id="{0D4FD7C2-3CD1-4CA6-987B-4736AD64A5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rgbClr val="5B9BD5">
                    <a:shade val="45000"/>
                    <a:satMod val="135000"/>
                  </a:srgb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11" b="93421" l="7483" r="89796">
                            <a14:foregroundMark x1="7483" y1="47368" x2="7483" y2="47368"/>
                            <a14:foregroundMark x1="31973" y1="44079" x2="31973" y2="44079"/>
                            <a14:foregroundMark x1="62585" y1="51974" x2="62585" y2="51974"/>
                            <a14:foregroundMark x1="63265" y1="12500" x2="63265" y2="12500"/>
                            <a14:foregroundMark x1="42177" y1="90789" x2="42177" y2="90789"/>
                            <a14:foregroundMark x1="62585" y1="93421" x2="62585" y2="93421"/>
                            <a14:foregroundMark x1="42857" y1="89474" x2="42857" y2="89474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57422" y="3921550"/>
                <a:ext cx="1252524" cy="1295127"/>
              </a:xfrm>
              <a:prstGeom prst="rect">
                <a:avLst/>
              </a:prstGeom>
            </p:spPr>
          </p:pic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B2301C14-2476-4587-BF5C-ED97DCACFA65}"/>
                  </a:ext>
                </a:extLst>
              </p:cNvPr>
              <p:cNvSpPr txBox="1"/>
              <p:nvPr/>
            </p:nvSpPr>
            <p:spPr>
              <a:xfrm>
                <a:off x="723054" y="3613157"/>
                <a:ext cx="9212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b="1" dirty="0">
                    <a:solidFill>
                      <a:srgbClr val="3471A7"/>
                    </a:solidFill>
                  </a:rPr>
                  <a:t>LLM</a:t>
                </a:r>
                <a:endParaRPr lang="zh-TW" altLang="en-US" sz="2000" b="1" dirty="0">
                  <a:solidFill>
                    <a:srgbClr val="3471A7"/>
                  </a:solidFill>
                </a:endParaRPr>
              </a:p>
            </p:txBody>
          </p:sp>
        </p:grpSp>
        <p:cxnSp>
          <p:nvCxnSpPr>
            <p:cNvPr id="20" name="接點: 肘形 19">
              <a:extLst>
                <a:ext uri="{FF2B5EF4-FFF2-40B4-BE49-F238E27FC236}">
                  <a16:creationId xmlns:a16="http://schemas.microsoft.com/office/drawing/2014/main" id="{01BFF5F7-E571-45D3-B9F7-447CB3F0D9DC}"/>
                </a:ext>
              </a:extLst>
            </p:cNvPr>
            <p:cNvCxnSpPr>
              <a:stCxn id="7" idx="2"/>
            </p:cNvCxnSpPr>
            <p:nvPr/>
          </p:nvCxnSpPr>
          <p:spPr>
            <a:xfrm rot="16200000" flipH="1">
              <a:off x="9173318" y="2459544"/>
              <a:ext cx="139916" cy="1106125"/>
            </a:xfrm>
            <a:prstGeom prst="bentConnector2">
              <a:avLst/>
            </a:prstGeom>
            <a:ln w="28575">
              <a:solidFill>
                <a:srgbClr val="3471A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接點: 肘形 20">
              <a:extLst>
                <a:ext uri="{FF2B5EF4-FFF2-40B4-BE49-F238E27FC236}">
                  <a16:creationId xmlns:a16="http://schemas.microsoft.com/office/drawing/2014/main" id="{79815CE2-7A00-4DE3-BC56-B232BD76516E}"/>
                </a:ext>
              </a:extLst>
            </p:cNvPr>
            <p:cNvCxnSpPr>
              <a:cxnSpLocks/>
              <a:stCxn id="13" idx="1"/>
              <a:endCxn id="18" idx="0"/>
            </p:cNvCxnSpPr>
            <p:nvPr/>
          </p:nvCxnSpPr>
          <p:spPr>
            <a:xfrm rot="10800000" flipV="1">
              <a:off x="8749569" y="3281511"/>
              <a:ext cx="951827" cy="294603"/>
            </a:xfrm>
            <a:prstGeom prst="bentConnector2">
              <a:avLst/>
            </a:prstGeom>
            <a:ln w="28575">
              <a:solidFill>
                <a:srgbClr val="C3571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矩形: 圓角 25">
              <a:extLst>
                <a:ext uri="{FF2B5EF4-FFF2-40B4-BE49-F238E27FC236}">
                  <a16:creationId xmlns:a16="http://schemas.microsoft.com/office/drawing/2014/main" id="{A4F714EF-6B1B-4D1E-BFE4-AB653AA18E70}"/>
                </a:ext>
              </a:extLst>
            </p:cNvPr>
            <p:cNvSpPr/>
            <p:nvPr/>
          </p:nvSpPr>
          <p:spPr>
            <a:xfrm>
              <a:off x="7988431" y="1085125"/>
              <a:ext cx="2950590" cy="4373628"/>
            </a:xfrm>
            <a:prstGeom prst="roundRect">
              <a:avLst/>
            </a:prstGeom>
            <a:noFill/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A7BD0BA3-CFDF-4813-8242-AB454628F89E}"/>
                </a:ext>
              </a:extLst>
            </p:cNvPr>
            <p:cNvSpPr txBox="1"/>
            <p:nvPr/>
          </p:nvSpPr>
          <p:spPr>
            <a:xfrm>
              <a:off x="7900535" y="605523"/>
              <a:ext cx="29505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>
                  <a:ea typeface="微軟正黑體" panose="020B0604030504040204" pitchFamily="34" charset="-120"/>
                </a:rPr>
                <a:t>Q</a:t>
              </a:r>
              <a:r>
                <a:rPr lang="zh-TW" altLang="en-US" b="1" dirty="0">
                  <a:ea typeface="微軟正黑體" panose="020B0604030504040204" pitchFamily="34" charset="-120"/>
                </a:rPr>
                <a:t>：查詢交大的交通資訊</a:t>
              </a:r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4F32DEFF-DDCA-469E-B14C-5AC0C32C0165}"/>
                </a:ext>
              </a:extLst>
            </p:cNvPr>
            <p:cNvSpPr txBox="1"/>
            <p:nvPr/>
          </p:nvSpPr>
          <p:spPr>
            <a:xfrm>
              <a:off x="7705872" y="5664908"/>
              <a:ext cx="33399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>
                  <a:ea typeface="微軟正黑體" panose="020B0604030504040204" pitchFamily="34" charset="-120"/>
                </a:rPr>
                <a:t>A</a:t>
              </a:r>
              <a:r>
                <a:rPr lang="zh-TW" altLang="en-US" b="1" dirty="0">
                  <a:ea typeface="微軟正黑體" panose="020B0604030504040204" pitchFamily="34" charset="-120"/>
                </a:rPr>
                <a:t>：要前往交大可由高鐵 </a:t>
              </a:r>
              <a:r>
                <a:rPr lang="en-US" altLang="zh-TW" b="1" dirty="0">
                  <a:ea typeface="微軟正黑體" panose="020B0604030504040204" pitchFamily="34" charset="-120"/>
                </a:rPr>
                <a:t>…</a:t>
              </a:r>
              <a:endParaRPr lang="zh-TW" altLang="en-US" b="1" dirty="0">
                <a:ea typeface="微軟正黑體" panose="020B0604030504040204" pitchFamily="34" charset="-120"/>
              </a:endParaRPr>
            </a:p>
          </p:txBody>
        </p:sp>
        <p:cxnSp>
          <p:nvCxnSpPr>
            <p:cNvPr id="56" name="接點: 肘形 55">
              <a:extLst>
                <a:ext uri="{FF2B5EF4-FFF2-40B4-BE49-F238E27FC236}">
                  <a16:creationId xmlns:a16="http://schemas.microsoft.com/office/drawing/2014/main" id="{FA066843-3E10-4144-A967-DD4F77E2AE96}"/>
                </a:ext>
              </a:extLst>
            </p:cNvPr>
            <p:cNvCxnSpPr>
              <a:cxnSpLocks/>
              <a:stCxn id="27" idx="2"/>
              <a:endCxn id="10" idx="0"/>
            </p:cNvCxnSpPr>
            <p:nvPr/>
          </p:nvCxnSpPr>
          <p:spPr>
            <a:xfrm rot="5400000">
              <a:off x="8850885" y="814184"/>
              <a:ext cx="364274" cy="685616"/>
            </a:xfrm>
            <a:prstGeom prst="bentConnector3">
              <a:avLst>
                <a:gd name="adj1" fmla="val 57764"/>
              </a:avLst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接點: 肘形 59">
              <a:extLst>
                <a:ext uri="{FF2B5EF4-FFF2-40B4-BE49-F238E27FC236}">
                  <a16:creationId xmlns:a16="http://schemas.microsoft.com/office/drawing/2014/main" id="{FAF298AF-CAF6-4423-B3E7-91305AAA6A19}"/>
                </a:ext>
              </a:extLst>
            </p:cNvPr>
            <p:cNvCxnSpPr>
              <a:cxnSpLocks/>
              <a:stCxn id="17" idx="2"/>
              <a:endCxn id="28" idx="0"/>
            </p:cNvCxnSpPr>
            <p:nvPr/>
          </p:nvCxnSpPr>
          <p:spPr>
            <a:xfrm rot="16200000" flipH="1">
              <a:off x="8820062" y="5109140"/>
              <a:ext cx="485273" cy="626261"/>
            </a:xfrm>
            <a:prstGeom prst="bentConnector3">
              <a:avLst>
                <a:gd name="adj1" fmla="val 26689"/>
              </a:avLst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文字方塊 65">
              <a:extLst>
                <a:ext uri="{FF2B5EF4-FFF2-40B4-BE49-F238E27FC236}">
                  <a16:creationId xmlns:a16="http://schemas.microsoft.com/office/drawing/2014/main" id="{B30AECB1-EBE5-4AA9-B5D9-77AA9CD17117}"/>
                </a:ext>
              </a:extLst>
            </p:cNvPr>
            <p:cNvSpPr txBox="1"/>
            <p:nvPr/>
          </p:nvSpPr>
          <p:spPr>
            <a:xfrm>
              <a:off x="9796339" y="1154763"/>
              <a:ext cx="9212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Agent</a:t>
              </a:r>
              <a:endPara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79" name="群組 78">
            <a:extLst>
              <a:ext uri="{FF2B5EF4-FFF2-40B4-BE49-F238E27FC236}">
                <a16:creationId xmlns:a16="http://schemas.microsoft.com/office/drawing/2014/main" id="{3F7DB0DD-EAD3-4AB9-92F2-2DAEEF98CDCD}"/>
              </a:ext>
            </a:extLst>
          </p:cNvPr>
          <p:cNvGrpSpPr/>
          <p:nvPr/>
        </p:nvGrpSpPr>
        <p:grpSpPr>
          <a:xfrm>
            <a:off x="456000" y="3801599"/>
            <a:ext cx="4728742" cy="1583863"/>
            <a:chOff x="467020" y="3789864"/>
            <a:chExt cx="4728742" cy="1583863"/>
          </a:xfrm>
        </p:grpSpPr>
        <p:pic>
          <p:nvPicPr>
            <p:cNvPr id="68" name="圖片 67">
              <a:extLst>
                <a:ext uri="{FF2B5EF4-FFF2-40B4-BE49-F238E27FC236}">
                  <a16:creationId xmlns:a16="http://schemas.microsoft.com/office/drawing/2014/main" id="{B1AD6BAF-3CAD-466D-BD37-1423528876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5B9BD5">
                  <a:shade val="45000"/>
                  <a:satMod val="135000"/>
                </a:srgb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211" b="93421" l="7483" r="89796">
                          <a14:foregroundMark x1="7483" y1="47368" x2="7483" y2="47368"/>
                          <a14:foregroundMark x1="31973" y1="44079" x2="31973" y2="44079"/>
                          <a14:foregroundMark x1="62585" y1="51974" x2="62585" y2="51974"/>
                          <a14:foregroundMark x1="63265" y1="12500" x2="63265" y2="12500"/>
                          <a14:foregroundMark x1="42177" y1="90789" x2="42177" y2="90789"/>
                          <a14:foregroundMark x1="62585" y1="93421" x2="62585" y2="93421"/>
                          <a14:foregroundMark x1="42857" y1="89474" x2="42857" y2="8947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492629" y="4078600"/>
              <a:ext cx="1252524" cy="1295127"/>
            </a:xfrm>
            <a:prstGeom prst="rect">
              <a:avLst/>
            </a:prstGeom>
          </p:spPr>
        </p:pic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CB392B70-0EA4-4E7A-AC5E-4CCDE92C9CF5}"/>
                </a:ext>
              </a:extLst>
            </p:cNvPr>
            <p:cNvSpPr txBox="1"/>
            <p:nvPr/>
          </p:nvSpPr>
          <p:spPr>
            <a:xfrm>
              <a:off x="2658261" y="3789864"/>
              <a:ext cx="9212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solidFill>
                    <a:srgbClr val="3471A7"/>
                  </a:solidFill>
                </a:rPr>
                <a:t>LLM</a:t>
              </a:r>
              <a:endParaRPr lang="zh-TW" altLang="en-US" sz="2000" b="1" dirty="0">
                <a:solidFill>
                  <a:srgbClr val="3471A7"/>
                </a:solidFill>
              </a:endParaRPr>
            </a:p>
          </p:txBody>
        </p:sp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7944B962-8FD6-453A-8050-6DDECF1BD947}"/>
                </a:ext>
              </a:extLst>
            </p:cNvPr>
            <p:cNvSpPr txBox="1"/>
            <p:nvPr/>
          </p:nvSpPr>
          <p:spPr>
            <a:xfrm>
              <a:off x="467020" y="4541498"/>
              <a:ext cx="1394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/>
                <a:t>Q</a:t>
              </a:r>
              <a:r>
                <a:rPr lang="zh-TW" altLang="en-US" b="1" dirty="0"/>
                <a:t>：</a:t>
              </a:r>
              <a:r>
                <a:rPr lang="en-US" altLang="zh-TW" b="1" dirty="0"/>
                <a:t>23+32=?</a:t>
              </a:r>
              <a:endParaRPr lang="zh-TW" altLang="en-US" b="1" dirty="0"/>
            </a:p>
          </p:txBody>
        </p:sp>
        <p:sp>
          <p:nvSpPr>
            <p:cNvPr id="71" name="文字方塊 70">
              <a:extLst>
                <a:ext uri="{FF2B5EF4-FFF2-40B4-BE49-F238E27FC236}">
                  <a16:creationId xmlns:a16="http://schemas.microsoft.com/office/drawing/2014/main" id="{3D8B14A6-7DA7-43C4-BB58-FFAB12C2F525}"/>
                </a:ext>
              </a:extLst>
            </p:cNvPr>
            <p:cNvSpPr txBox="1"/>
            <p:nvPr/>
          </p:nvSpPr>
          <p:spPr>
            <a:xfrm>
              <a:off x="4376077" y="4541498"/>
              <a:ext cx="819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/>
                <a:t>A</a:t>
              </a:r>
              <a:r>
                <a:rPr lang="zh-TW" altLang="en-US" b="1" dirty="0"/>
                <a:t>：</a:t>
              </a:r>
              <a:r>
                <a:rPr lang="en-US" altLang="zh-TW" b="1" dirty="0"/>
                <a:t>55</a:t>
              </a:r>
              <a:endParaRPr lang="zh-TW" altLang="en-US" b="1" dirty="0"/>
            </a:p>
          </p:txBody>
        </p:sp>
        <p:cxnSp>
          <p:nvCxnSpPr>
            <p:cNvPr id="74" name="直線單箭頭接點 73">
              <a:extLst>
                <a:ext uri="{FF2B5EF4-FFF2-40B4-BE49-F238E27FC236}">
                  <a16:creationId xmlns:a16="http://schemas.microsoft.com/office/drawing/2014/main" id="{877BD894-B415-4C66-8EBA-E0C4E4F01599}"/>
                </a:ext>
              </a:extLst>
            </p:cNvPr>
            <p:cNvCxnSpPr>
              <a:stCxn id="70" idx="3"/>
              <a:endCxn id="68" idx="1"/>
            </p:cNvCxnSpPr>
            <p:nvPr/>
          </p:nvCxnSpPr>
          <p:spPr>
            <a:xfrm>
              <a:off x="1861705" y="4726164"/>
              <a:ext cx="630924" cy="0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單箭頭接點 75">
              <a:extLst>
                <a:ext uri="{FF2B5EF4-FFF2-40B4-BE49-F238E27FC236}">
                  <a16:creationId xmlns:a16="http://schemas.microsoft.com/office/drawing/2014/main" id="{AB3E9EFF-85BC-464D-AD76-B4A40152BF17}"/>
                </a:ext>
              </a:extLst>
            </p:cNvPr>
            <p:cNvCxnSpPr>
              <a:cxnSpLocks/>
              <a:stCxn id="68" idx="3"/>
              <a:endCxn id="71" idx="1"/>
            </p:cNvCxnSpPr>
            <p:nvPr/>
          </p:nvCxnSpPr>
          <p:spPr>
            <a:xfrm>
              <a:off x="3745153" y="4726164"/>
              <a:ext cx="630924" cy="0"/>
            </a:xfrm>
            <a:prstGeom prst="straightConnector1">
              <a:avLst/>
            </a:prstGeom>
            <a:ln w="28575">
              <a:solidFill>
                <a:srgbClr val="3471A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22250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A08F6E-33EA-4A89-A2DF-134B70A4E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常見的 </a:t>
            </a:r>
            <a:r>
              <a:rPr lang="en-US" altLang="zh-TW" dirty="0"/>
              <a:t>AI Agent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069A11A-704D-4D73-BED8-A079CD56F27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460ED5C8-EAF2-468D-BD79-9728B3154E8A}"/>
              </a:ext>
            </a:extLst>
          </p:cNvPr>
          <p:cNvSpPr/>
          <p:nvPr/>
        </p:nvSpPr>
        <p:spPr>
          <a:xfrm>
            <a:off x="729377" y="1853438"/>
            <a:ext cx="2718453" cy="3991180"/>
          </a:xfrm>
          <a:prstGeom prst="round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55BE2D4-9B94-42FC-9365-25A6C090132A}"/>
              </a:ext>
            </a:extLst>
          </p:cNvPr>
          <p:cNvSpPr/>
          <p:nvPr/>
        </p:nvSpPr>
        <p:spPr>
          <a:xfrm>
            <a:off x="4545673" y="1853438"/>
            <a:ext cx="2718453" cy="3991180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BC1E9FF9-3C74-40FA-9C40-294E9D402053}"/>
              </a:ext>
            </a:extLst>
          </p:cNvPr>
          <p:cNvSpPr/>
          <p:nvPr/>
        </p:nvSpPr>
        <p:spPr>
          <a:xfrm>
            <a:off x="8361969" y="1853438"/>
            <a:ext cx="2718453" cy="3991180"/>
          </a:xfrm>
          <a:prstGeom prst="roundRect">
            <a:avLst/>
          </a:prstGeom>
          <a:noFill/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A35CE15-C7E2-4BF5-AD57-60965A10C34B}"/>
              </a:ext>
            </a:extLst>
          </p:cNvPr>
          <p:cNvSpPr txBox="1"/>
          <p:nvPr/>
        </p:nvSpPr>
        <p:spPr>
          <a:xfrm>
            <a:off x="1391019" y="1301721"/>
            <a:ext cx="139516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600" b="1" dirty="0">
                <a:solidFill>
                  <a:srgbClr val="002060"/>
                </a:solidFill>
              </a:rPr>
              <a:t>Chatbot</a:t>
            </a:r>
            <a:endParaRPr lang="zh-TW" altLang="en-US" sz="2600" b="1" dirty="0">
              <a:solidFill>
                <a:srgbClr val="00206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6F68726-3195-4394-BF52-612FFA61C477}"/>
              </a:ext>
            </a:extLst>
          </p:cNvPr>
          <p:cNvSpPr txBox="1"/>
          <p:nvPr/>
        </p:nvSpPr>
        <p:spPr>
          <a:xfrm>
            <a:off x="4545673" y="1301721"/>
            <a:ext cx="271845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600" b="1" dirty="0">
                <a:solidFill>
                  <a:schemeClr val="accent2"/>
                </a:solidFill>
              </a:rPr>
              <a:t>Coding Assistant</a:t>
            </a:r>
            <a:endParaRPr lang="zh-TW" altLang="en-US" sz="2600" b="1" dirty="0">
              <a:solidFill>
                <a:schemeClr val="accent2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4BA11EA-F828-4043-852C-67F1F737A4C1}"/>
              </a:ext>
            </a:extLst>
          </p:cNvPr>
          <p:cNvSpPr txBox="1"/>
          <p:nvPr/>
        </p:nvSpPr>
        <p:spPr>
          <a:xfrm>
            <a:off x="8225279" y="1301720"/>
            <a:ext cx="29918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Research Assistant</a:t>
            </a:r>
            <a:endParaRPr lang="zh-TW" altLang="en-US" sz="2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5" name="Picture 6" descr="Cursor: The AI-Enhanced IDE Powering Intelligent Marketing Automation And  Campaign Engineering - Marketing Agent Blog">
            <a:extLst>
              <a:ext uri="{FF2B5EF4-FFF2-40B4-BE49-F238E27FC236}">
                <a16:creationId xmlns:a16="http://schemas.microsoft.com/office/drawing/2014/main" id="{A9B70705-45F3-4647-ABA3-80094E841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6143" y="2312201"/>
            <a:ext cx="1489181" cy="1103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Google Antigravity AI - Google's agentic development platform">
            <a:extLst>
              <a:ext uri="{FF2B5EF4-FFF2-40B4-BE49-F238E27FC236}">
                <a16:creationId xmlns:a16="http://schemas.microsoft.com/office/drawing/2014/main" id="{8B062E57-C676-4AD5-A8E8-C7FBFC51D2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1" t="5245" r="8024" b="19287"/>
          <a:stretch/>
        </p:blipFill>
        <p:spPr bwMode="auto">
          <a:xfrm>
            <a:off x="4933401" y="3849028"/>
            <a:ext cx="1942995" cy="1338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Google Gemini">
            <a:extLst>
              <a:ext uri="{FF2B5EF4-FFF2-40B4-BE49-F238E27FC236}">
                <a16:creationId xmlns:a16="http://schemas.microsoft.com/office/drawing/2014/main" id="{B656355C-A25D-45D7-990E-E3A49B4927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32" t="39450" r="28711" b="41444"/>
          <a:stretch/>
        </p:blipFill>
        <p:spPr bwMode="auto">
          <a:xfrm>
            <a:off x="930918" y="4071655"/>
            <a:ext cx="2132793" cy="558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群組 6">
            <a:extLst>
              <a:ext uri="{FF2B5EF4-FFF2-40B4-BE49-F238E27FC236}">
                <a16:creationId xmlns:a16="http://schemas.microsoft.com/office/drawing/2014/main" id="{40A93B4F-7BD8-415E-8B2B-0688B51DD948}"/>
              </a:ext>
            </a:extLst>
          </p:cNvPr>
          <p:cNvGrpSpPr/>
          <p:nvPr/>
        </p:nvGrpSpPr>
        <p:grpSpPr>
          <a:xfrm>
            <a:off x="930918" y="2683327"/>
            <a:ext cx="2253766" cy="746084"/>
            <a:chOff x="970049" y="2486746"/>
            <a:chExt cx="2253766" cy="746084"/>
          </a:xfrm>
        </p:grpSpPr>
        <p:pic>
          <p:nvPicPr>
            <p:cNvPr id="20" name="Picture 2" descr="ChatGPT - 維基百科，自由的百科全書">
              <a:extLst>
                <a:ext uri="{FF2B5EF4-FFF2-40B4-BE49-F238E27FC236}">
                  <a16:creationId xmlns:a16="http://schemas.microsoft.com/office/drawing/2014/main" id="{63C2AFF3-D903-4B98-BAE0-EF2E0D6B1D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0049" y="2578253"/>
              <a:ext cx="534093" cy="5340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2" name="Picture 14" descr="ChatGPT Icon Logo">
              <a:extLst>
                <a:ext uri="{FF2B5EF4-FFF2-40B4-BE49-F238E27FC236}">
                  <a16:creationId xmlns:a16="http://schemas.microsoft.com/office/drawing/2014/main" id="{B730ECF5-5900-402F-A0E4-F087ED2E344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605" r="-1"/>
            <a:stretch/>
          </p:blipFill>
          <p:spPr bwMode="auto">
            <a:xfrm>
              <a:off x="1513569" y="2486746"/>
              <a:ext cx="1710246" cy="7460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64" name="Picture 16" descr="Google NotebookLM | AI Research Tool &amp; Thinking Partner">
            <a:extLst>
              <a:ext uri="{FF2B5EF4-FFF2-40B4-BE49-F238E27FC236}">
                <a16:creationId xmlns:a16="http://schemas.microsoft.com/office/drawing/2014/main" id="{52A238F6-74ED-464B-A831-83DC665D8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4573" y="2774834"/>
            <a:ext cx="2332812" cy="244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Notion Logo &amp; Brand Assets (SVG, PNG and vector) - Brandfetch">
            <a:extLst>
              <a:ext uri="{FF2B5EF4-FFF2-40B4-BE49-F238E27FC236}">
                <a16:creationId xmlns:a16="http://schemas.microsoft.com/office/drawing/2014/main" id="{FB6C7F35-123D-40AF-BC83-75FF1A0A83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4343" y="4061064"/>
            <a:ext cx="2153703" cy="742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8602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5D5AFF-D844-4909-89D4-3CF7681E1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流程分析 </a:t>
            </a:r>
            <a:r>
              <a:rPr lang="en-US" altLang="zh-TW" dirty="0"/>
              <a:t>-</a:t>
            </a:r>
            <a:r>
              <a:rPr lang="zh-TW" altLang="en-US" dirty="0"/>
              <a:t> </a:t>
            </a:r>
            <a:r>
              <a:rPr lang="en-US" altLang="zh-TW" dirty="0"/>
              <a:t>Chatbot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3D170CD-1230-420A-809C-E6C44E26A5D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9D3D7B04-0E42-4E31-B346-9C99E0F4F020}"/>
              </a:ext>
            </a:extLst>
          </p:cNvPr>
          <p:cNvGrpSpPr/>
          <p:nvPr/>
        </p:nvGrpSpPr>
        <p:grpSpPr>
          <a:xfrm>
            <a:off x="530836" y="1051960"/>
            <a:ext cx="2734559" cy="5043341"/>
            <a:chOff x="593103" y="1668544"/>
            <a:chExt cx="2482093" cy="4628562"/>
          </a:xfrm>
        </p:grpSpPr>
        <p:pic>
          <p:nvPicPr>
            <p:cNvPr id="4098" name="Picture 2">
              <a:extLst>
                <a:ext uri="{FF2B5EF4-FFF2-40B4-BE49-F238E27FC236}">
                  <a16:creationId xmlns:a16="http://schemas.microsoft.com/office/drawing/2014/main" id="{9F07DA9D-8265-4462-8831-A71F9EFC422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297" b="68017"/>
            <a:stretch/>
          </p:blipFill>
          <p:spPr bwMode="auto">
            <a:xfrm>
              <a:off x="593103" y="1668544"/>
              <a:ext cx="2482092" cy="1112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0" name="Picture 4">
              <a:extLst>
                <a:ext uri="{FF2B5EF4-FFF2-40B4-BE49-F238E27FC236}">
                  <a16:creationId xmlns:a16="http://schemas.microsoft.com/office/drawing/2014/main" id="{BDC66DDE-395B-4F70-96AA-D7CB19A8C3B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855" b="12756"/>
            <a:stretch/>
          </p:blipFill>
          <p:spPr bwMode="auto">
            <a:xfrm>
              <a:off x="593104" y="2780908"/>
              <a:ext cx="2482092" cy="35161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00DDD4C6-720D-4806-A6CB-5D32261E74CE}"/>
              </a:ext>
            </a:extLst>
          </p:cNvPr>
          <p:cNvGrpSpPr/>
          <p:nvPr/>
        </p:nvGrpSpPr>
        <p:grpSpPr>
          <a:xfrm>
            <a:off x="4101902" y="890518"/>
            <a:ext cx="6415389" cy="5348655"/>
            <a:chOff x="3703566" y="973402"/>
            <a:chExt cx="6415389" cy="5348655"/>
          </a:xfrm>
        </p:grpSpPr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805317FC-582C-46A7-8001-0C441030557D}"/>
                </a:ext>
              </a:extLst>
            </p:cNvPr>
            <p:cNvGrpSpPr/>
            <p:nvPr/>
          </p:nvGrpSpPr>
          <p:grpSpPr>
            <a:xfrm>
              <a:off x="3703566" y="973402"/>
              <a:ext cx="6415389" cy="5348655"/>
              <a:chOff x="7988430" y="624597"/>
              <a:chExt cx="6415389" cy="5348655"/>
            </a:xfrm>
          </p:grpSpPr>
          <p:grpSp>
            <p:nvGrpSpPr>
              <p:cNvPr id="8" name="群組 7">
                <a:extLst>
                  <a:ext uri="{FF2B5EF4-FFF2-40B4-BE49-F238E27FC236}">
                    <a16:creationId xmlns:a16="http://schemas.microsoft.com/office/drawing/2014/main" id="{3F832386-FB34-4C8F-B4D3-4D514FC19A1B}"/>
                  </a:ext>
                </a:extLst>
              </p:cNvPr>
              <p:cNvGrpSpPr/>
              <p:nvPr/>
            </p:nvGrpSpPr>
            <p:grpSpPr>
              <a:xfrm>
                <a:off x="8063952" y="1339129"/>
                <a:ext cx="1252524" cy="1603520"/>
                <a:chOff x="557422" y="3613157"/>
                <a:chExt cx="1252524" cy="1603520"/>
              </a:xfrm>
            </p:grpSpPr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59ABC303-6317-4EE5-A9B4-50A03249EC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duotone>
                    <a:srgbClr val="5B9BD5">
                      <a:shade val="45000"/>
                      <a:satMod val="135000"/>
                    </a:srgb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9211" b="93421" l="7483" r="89796">
                              <a14:foregroundMark x1="7483" y1="47368" x2="7483" y2="47368"/>
                              <a14:foregroundMark x1="31973" y1="44079" x2="31973" y2="44079"/>
                              <a14:foregroundMark x1="62585" y1="51974" x2="62585" y2="51974"/>
                              <a14:foregroundMark x1="63265" y1="12500" x2="63265" y2="12500"/>
                              <a14:foregroundMark x1="42177" y1="90789" x2="42177" y2="90789"/>
                              <a14:foregroundMark x1="62585" y1="93421" x2="62585" y2="93421"/>
                              <a14:foregroundMark x1="42857" y1="89474" x2="42857" y2="89474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7422" y="3921550"/>
                  <a:ext cx="1252524" cy="1295127"/>
                </a:xfrm>
                <a:prstGeom prst="rect">
                  <a:avLst/>
                </a:prstGeom>
              </p:spPr>
            </p:pic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0E8E260A-E7D1-47BB-894F-7E1202683DA3}"/>
                    </a:ext>
                  </a:extLst>
                </p:cNvPr>
                <p:cNvSpPr txBox="1"/>
                <p:nvPr/>
              </p:nvSpPr>
              <p:spPr>
                <a:xfrm>
                  <a:off x="723054" y="3613157"/>
                  <a:ext cx="92126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000" b="1" dirty="0">
                      <a:solidFill>
                        <a:srgbClr val="3471A7"/>
                      </a:solidFill>
                    </a:rPr>
                    <a:t>LLM</a:t>
                  </a:r>
                  <a:endParaRPr lang="zh-TW" altLang="en-US" sz="2000" b="1" dirty="0">
                    <a:solidFill>
                      <a:srgbClr val="3471A7"/>
                    </a:solidFill>
                  </a:endParaRPr>
                </a:p>
              </p:txBody>
            </p:sp>
          </p:grpSp>
          <p:grpSp>
            <p:nvGrpSpPr>
              <p:cNvPr id="9" name="群組 8">
                <a:extLst>
                  <a:ext uri="{FF2B5EF4-FFF2-40B4-BE49-F238E27FC236}">
                    <a16:creationId xmlns:a16="http://schemas.microsoft.com/office/drawing/2014/main" id="{2C76722F-AE6B-4414-A536-2164160D60B7}"/>
                  </a:ext>
                </a:extLst>
              </p:cNvPr>
              <p:cNvGrpSpPr/>
              <p:nvPr/>
            </p:nvGrpSpPr>
            <p:grpSpPr>
              <a:xfrm>
                <a:off x="12193767" y="2243483"/>
                <a:ext cx="2210052" cy="1762554"/>
                <a:chOff x="11313658" y="1893011"/>
                <a:chExt cx="2210052" cy="1762554"/>
              </a:xfrm>
            </p:grpSpPr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D8CED340-31D1-471F-8473-5BC5FDBD35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schemeClr val="accent2">
                      <a:shade val="45000"/>
                      <a:satMod val="135000"/>
                    </a:scheme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backgroundRemoval t="9471" b="96100" l="10000" r="90000">
                              <a14:foregroundMark x1="13889" y1="21170" x2="13889" y2="21170"/>
                              <a14:foregroundMark x1="24444" y1="24234" x2="24444" y2="24234"/>
                              <a14:foregroundMark x1="30000" y1="22006" x2="30000" y2="22006"/>
                              <a14:foregroundMark x1="39722" y1="81616" x2="39722" y2="81616"/>
                              <a14:foregroundMark x1="19444" y1="92201" x2="19444" y2="92201"/>
                              <a14:foregroundMark x1="28889" y1="96100" x2="28889" y2="96100"/>
                              <a14:foregroundMark x1="23056" y1="79666" x2="23056" y2="79666"/>
                              <a14:foregroundMark x1="75556" y1="10306" x2="75556" y2="10306"/>
                              <a14:foregroundMark x1="76667" y1="9749" x2="76667" y2="9749"/>
                              <a14:foregroundMark x1="23333" y1="9749" x2="23333" y2="9749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801844" y="2421377"/>
                  <a:ext cx="1237626" cy="1234188"/>
                </a:xfrm>
                <a:prstGeom prst="rect">
                  <a:avLst/>
                </a:prstGeom>
              </p:spPr>
            </p:pic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33038942-13BA-4327-9C75-92F0647FC9CF}"/>
                    </a:ext>
                  </a:extLst>
                </p:cNvPr>
                <p:cNvSpPr txBox="1"/>
                <p:nvPr/>
              </p:nvSpPr>
              <p:spPr>
                <a:xfrm>
                  <a:off x="11313658" y="1893011"/>
                  <a:ext cx="22100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b="1" dirty="0">
                      <a:solidFill>
                        <a:srgbClr val="C35710"/>
                      </a:solidFill>
                    </a:rPr>
                    <a:t>Tool: Web Search</a:t>
                  </a:r>
                  <a:endParaRPr lang="zh-TW" altLang="en-US" b="1" dirty="0">
                    <a:solidFill>
                      <a:srgbClr val="C35710"/>
                    </a:solidFill>
                  </a:endParaRPr>
                </a:p>
              </p:txBody>
            </p:sp>
          </p:grpSp>
          <p:grpSp>
            <p:nvGrpSpPr>
              <p:cNvPr id="10" name="群組 9">
                <a:extLst>
                  <a:ext uri="{FF2B5EF4-FFF2-40B4-BE49-F238E27FC236}">
                    <a16:creationId xmlns:a16="http://schemas.microsoft.com/office/drawing/2014/main" id="{621D6CDE-26D2-4737-87FC-E809B7937687}"/>
                  </a:ext>
                </a:extLst>
              </p:cNvPr>
              <p:cNvGrpSpPr/>
              <p:nvPr/>
            </p:nvGrpSpPr>
            <p:grpSpPr>
              <a:xfrm>
                <a:off x="8123306" y="3576115"/>
                <a:ext cx="1252524" cy="1603520"/>
                <a:chOff x="557422" y="3613157"/>
                <a:chExt cx="1252524" cy="1603520"/>
              </a:xfrm>
            </p:grpSpPr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91F193CA-616F-4D2E-8C53-977E2BAE7A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duotone>
                    <a:srgbClr val="5B9BD5">
                      <a:shade val="45000"/>
                      <a:satMod val="135000"/>
                    </a:srgb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9211" b="93421" l="7483" r="89796">
                              <a14:foregroundMark x1="7483" y1="47368" x2="7483" y2="47368"/>
                              <a14:foregroundMark x1="31973" y1="44079" x2="31973" y2="44079"/>
                              <a14:foregroundMark x1="62585" y1="51974" x2="62585" y2="51974"/>
                              <a14:foregroundMark x1="63265" y1="12500" x2="63265" y2="12500"/>
                              <a14:foregroundMark x1="42177" y1="90789" x2="42177" y2="90789"/>
                              <a14:foregroundMark x1="62585" y1="93421" x2="62585" y2="93421"/>
                              <a14:foregroundMark x1="42857" y1="89474" x2="42857" y2="89474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7422" y="3921550"/>
                  <a:ext cx="1252524" cy="1295127"/>
                </a:xfrm>
                <a:prstGeom prst="rect">
                  <a:avLst/>
                </a:prstGeom>
              </p:spPr>
            </p:pic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99FEAC66-A934-41B9-B0D2-8CBB75F6BFFF}"/>
                    </a:ext>
                  </a:extLst>
                </p:cNvPr>
                <p:cNvSpPr txBox="1"/>
                <p:nvPr/>
              </p:nvSpPr>
              <p:spPr>
                <a:xfrm>
                  <a:off x="723054" y="3613157"/>
                  <a:ext cx="92126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000" b="1" dirty="0">
                      <a:solidFill>
                        <a:srgbClr val="3471A7"/>
                      </a:solidFill>
                    </a:rPr>
                    <a:t>LLM</a:t>
                  </a:r>
                  <a:endParaRPr lang="zh-TW" altLang="en-US" sz="2000" b="1" dirty="0">
                    <a:solidFill>
                      <a:srgbClr val="3471A7"/>
                    </a:solidFill>
                  </a:endParaRPr>
                </a:p>
              </p:txBody>
            </p:sp>
          </p:grpSp>
          <p:cxnSp>
            <p:nvCxnSpPr>
              <p:cNvPr id="11" name="接點: 肘形 10">
                <a:extLst>
                  <a:ext uri="{FF2B5EF4-FFF2-40B4-BE49-F238E27FC236}">
                    <a16:creationId xmlns:a16="http://schemas.microsoft.com/office/drawing/2014/main" id="{BF4C15AA-CE49-44FE-BAD8-4F268B341252}"/>
                  </a:ext>
                </a:extLst>
              </p:cNvPr>
              <p:cNvCxnSpPr>
                <a:cxnSpLocks/>
                <a:stCxn id="23" idx="2"/>
              </p:cNvCxnSpPr>
              <p:nvPr/>
            </p:nvCxnSpPr>
            <p:spPr>
              <a:xfrm rot="16200000" flipH="1">
                <a:off x="10609718" y="1023145"/>
                <a:ext cx="152731" cy="3991738"/>
              </a:xfrm>
              <a:prstGeom prst="bentConnector2">
                <a:avLst/>
              </a:prstGeom>
              <a:ln w="28575">
                <a:solidFill>
                  <a:srgbClr val="3471A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接點: 肘形 11">
                <a:extLst>
                  <a:ext uri="{FF2B5EF4-FFF2-40B4-BE49-F238E27FC236}">
                    <a16:creationId xmlns:a16="http://schemas.microsoft.com/office/drawing/2014/main" id="{BEEFB5CA-5418-4CC1-B85F-312229EF5D6B}"/>
                  </a:ext>
                </a:extLst>
              </p:cNvPr>
              <p:cNvCxnSpPr>
                <a:cxnSpLocks/>
                <a:stCxn id="21" idx="1"/>
                <a:endCxn id="20" idx="0"/>
              </p:cNvCxnSpPr>
              <p:nvPr/>
            </p:nvCxnSpPr>
            <p:spPr>
              <a:xfrm rot="10800000" flipV="1">
                <a:off x="8749569" y="3388943"/>
                <a:ext cx="3932385" cy="187172"/>
              </a:xfrm>
              <a:prstGeom prst="bentConnector2">
                <a:avLst/>
              </a:prstGeom>
              <a:ln w="28575">
                <a:solidFill>
                  <a:srgbClr val="C3571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矩形: 圓角 12">
                <a:extLst>
                  <a:ext uri="{FF2B5EF4-FFF2-40B4-BE49-F238E27FC236}">
                    <a16:creationId xmlns:a16="http://schemas.microsoft.com/office/drawing/2014/main" id="{EEDE532B-F94D-4B56-90B9-4EB1E05F3C94}"/>
                  </a:ext>
                </a:extLst>
              </p:cNvPr>
              <p:cNvSpPr/>
              <p:nvPr/>
            </p:nvSpPr>
            <p:spPr>
              <a:xfrm>
                <a:off x="7988430" y="1085125"/>
                <a:ext cx="6288845" cy="4373628"/>
              </a:xfrm>
              <a:prstGeom prst="roundRect">
                <a:avLst/>
              </a:prstGeom>
              <a:noFill/>
              <a:ln w="381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5063DB58-9A74-49DA-BBF9-702B8BBA0126}"/>
                  </a:ext>
                </a:extLst>
              </p:cNvPr>
              <p:cNvSpPr txBox="1"/>
              <p:nvPr/>
            </p:nvSpPr>
            <p:spPr>
              <a:xfrm>
                <a:off x="9711246" y="624597"/>
                <a:ext cx="29505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b="1" dirty="0">
                    <a:ea typeface="微軟正黑體" panose="020B0604030504040204" pitchFamily="34" charset="-120"/>
                  </a:rPr>
                  <a:t>Q</a:t>
                </a:r>
                <a:r>
                  <a:rPr lang="zh-TW" altLang="en-US" b="1" dirty="0">
                    <a:ea typeface="微軟正黑體" panose="020B0604030504040204" pitchFamily="34" charset="-120"/>
                  </a:rPr>
                  <a:t>：查詢交大的交通資訊</a:t>
                </a:r>
              </a:p>
            </p:txBody>
          </p:sp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D2C70BEB-409B-4A1E-9D30-05DF541BEAA6}"/>
                  </a:ext>
                </a:extLst>
              </p:cNvPr>
              <p:cNvSpPr txBox="1"/>
              <p:nvPr/>
            </p:nvSpPr>
            <p:spPr>
              <a:xfrm>
                <a:off x="9711246" y="5603920"/>
                <a:ext cx="3339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b="1" dirty="0">
                    <a:ea typeface="微軟正黑體" panose="020B0604030504040204" pitchFamily="34" charset="-120"/>
                  </a:rPr>
                  <a:t>A</a:t>
                </a:r>
                <a:r>
                  <a:rPr lang="zh-TW" altLang="en-US" b="1" dirty="0">
                    <a:ea typeface="微軟正黑體" panose="020B0604030504040204" pitchFamily="34" charset="-120"/>
                  </a:rPr>
                  <a:t>：以下是陽明交通大學 </a:t>
                </a:r>
                <a:r>
                  <a:rPr lang="en-US" altLang="zh-TW" b="1" dirty="0">
                    <a:ea typeface="微軟正黑體" panose="020B0604030504040204" pitchFamily="34" charset="-120"/>
                  </a:rPr>
                  <a:t>…</a:t>
                </a:r>
                <a:endParaRPr lang="zh-TW" altLang="en-US" b="1" dirty="0">
                  <a:ea typeface="微軟正黑體" panose="020B0604030504040204" pitchFamily="34" charset="-120"/>
                </a:endParaRPr>
              </a:p>
            </p:txBody>
          </p:sp>
          <p:cxnSp>
            <p:nvCxnSpPr>
              <p:cNvPr id="16" name="接點: 肘形 15">
                <a:extLst>
                  <a:ext uri="{FF2B5EF4-FFF2-40B4-BE49-F238E27FC236}">
                    <a16:creationId xmlns:a16="http://schemas.microsoft.com/office/drawing/2014/main" id="{BA272BAD-EC97-450C-AD46-3B6DBD4AEC6C}"/>
                  </a:ext>
                </a:extLst>
              </p:cNvPr>
              <p:cNvCxnSpPr>
                <a:cxnSpLocks/>
                <a:stCxn id="14" idx="2"/>
                <a:endCxn id="24" idx="0"/>
              </p:cNvCxnSpPr>
              <p:nvPr/>
            </p:nvCxnSpPr>
            <p:spPr>
              <a:xfrm rot="5400000">
                <a:off x="9765778" y="-81634"/>
                <a:ext cx="345200" cy="2496327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接點: 肘形 16">
                <a:extLst>
                  <a:ext uri="{FF2B5EF4-FFF2-40B4-BE49-F238E27FC236}">
                    <a16:creationId xmlns:a16="http://schemas.microsoft.com/office/drawing/2014/main" id="{0B0D9430-61E8-4DA2-940B-C2F6993951D7}"/>
                  </a:ext>
                </a:extLst>
              </p:cNvPr>
              <p:cNvCxnSpPr>
                <a:cxnSpLocks/>
                <a:stCxn id="19" idx="2"/>
                <a:endCxn id="15" idx="0"/>
              </p:cNvCxnSpPr>
              <p:nvPr/>
            </p:nvCxnSpPr>
            <p:spPr>
              <a:xfrm rot="16200000" flipH="1">
                <a:off x="9853243" y="4075959"/>
                <a:ext cx="424285" cy="2631635"/>
              </a:xfrm>
              <a:prstGeom prst="bentConnector3">
                <a:avLst>
                  <a:gd name="adj1" fmla="val 30004"/>
                </a:avLst>
              </a:prstGeom>
              <a:ln w="28575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A4EDFD0C-0F3D-4DA5-9D4F-044AAB64D309}"/>
                  </a:ext>
                </a:extLst>
              </p:cNvPr>
              <p:cNvSpPr txBox="1"/>
              <p:nvPr/>
            </p:nvSpPr>
            <p:spPr>
              <a:xfrm>
                <a:off x="12583867" y="1196173"/>
                <a:ext cx="123762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ChatGPT</a:t>
                </a:r>
                <a:endParaRPr lang="zh-TW" alt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EAB28238-21F1-43D1-B239-286CF902C4D3}"/>
                </a:ext>
              </a:extLst>
            </p:cNvPr>
            <p:cNvSpPr txBox="1"/>
            <p:nvPr/>
          </p:nvSpPr>
          <p:spPr>
            <a:xfrm>
              <a:off x="4999961" y="2893534"/>
              <a:ext cx="315604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rgbClr val="3471A7"/>
                  </a:solidFill>
                </a:rPr>
                <a:t>Keyword:</a:t>
              </a:r>
              <a:r>
                <a:rPr lang="zh-TW" altLang="en-US" sz="1400" b="1" dirty="0">
                  <a:solidFill>
                    <a:srgbClr val="3471A7"/>
                  </a:solidFill>
                </a:rPr>
                <a:t> </a:t>
              </a:r>
              <a:r>
                <a:rPr lang="en-US" altLang="zh-TW" sz="1400" dirty="0">
                  <a:solidFill>
                    <a:srgbClr val="3471A7"/>
                  </a:solidFill>
                </a:rPr>
                <a:t>National Chiao Tung University transportation info how to get there</a:t>
              </a:r>
              <a:endParaRPr lang="zh-TW" altLang="en-US" sz="1400" dirty="0">
                <a:solidFill>
                  <a:srgbClr val="3471A7"/>
                </a:solidFill>
              </a:endParaRPr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C0090D9E-0785-45A0-A326-2E9B8DA27C89}"/>
                </a:ext>
              </a:extLst>
            </p:cNvPr>
            <p:cNvSpPr txBox="1"/>
            <p:nvPr/>
          </p:nvSpPr>
          <p:spPr>
            <a:xfrm>
              <a:off x="4996269" y="3771530"/>
              <a:ext cx="315604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b="1" dirty="0">
                  <a:solidFill>
                    <a:srgbClr val="C35710"/>
                  </a:solidFill>
                </a:rPr>
                <a:t>Website 1:</a:t>
              </a:r>
              <a:r>
                <a:rPr lang="en-US" altLang="zh-TW" sz="1400" dirty="0">
                  <a:solidFill>
                    <a:srgbClr val="C35710"/>
                  </a:solidFill>
                </a:rPr>
                <a:t> …</a:t>
              </a:r>
            </a:p>
            <a:p>
              <a:pPr algn="ctr"/>
              <a:r>
                <a:rPr lang="en-US" altLang="zh-TW" sz="1400" b="1" dirty="0">
                  <a:solidFill>
                    <a:srgbClr val="C35710"/>
                  </a:solidFill>
                </a:rPr>
                <a:t>Website 2: </a:t>
              </a:r>
              <a:r>
                <a:rPr lang="en-US" altLang="zh-TW" sz="1400" dirty="0">
                  <a:solidFill>
                    <a:srgbClr val="C35710"/>
                  </a:solidFill>
                </a:rPr>
                <a:t>…</a:t>
              </a:r>
            </a:p>
            <a:p>
              <a:pPr algn="ctr"/>
              <a:r>
                <a:rPr lang="en-US" altLang="zh-TW" sz="1400" b="1" dirty="0">
                  <a:solidFill>
                    <a:srgbClr val="C35710"/>
                  </a:solidFill>
                </a:rPr>
                <a:t>Website 3: </a:t>
              </a:r>
              <a:r>
                <a:rPr lang="en-US" altLang="zh-TW" sz="1400" dirty="0">
                  <a:solidFill>
                    <a:srgbClr val="C35710"/>
                  </a:solidFill>
                </a:rPr>
                <a:t>…</a:t>
              </a:r>
              <a:endParaRPr lang="zh-TW" altLang="en-US" sz="1400" dirty="0">
                <a:solidFill>
                  <a:srgbClr val="C35710"/>
                </a:solidFill>
              </a:endParaRPr>
            </a:p>
          </p:txBody>
        </p: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5B9FA033-170F-49BA-96A4-2498CE4BC37C}"/>
                </a:ext>
              </a:extLst>
            </p:cNvPr>
            <p:cNvSpPr txBox="1"/>
            <p:nvPr/>
          </p:nvSpPr>
          <p:spPr>
            <a:xfrm>
              <a:off x="5113513" y="1921402"/>
              <a:ext cx="1734475" cy="738664"/>
            </a:xfrm>
            <a:prstGeom prst="rect">
              <a:avLst/>
            </a:prstGeom>
            <a:noFill/>
            <a:ln w="19050">
              <a:solidFill>
                <a:srgbClr val="3471A7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/>
                <a:t>Think</a:t>
              </a:r>
            </a:p>
            <a:p>
              <a:r>
                <a:rPr lang="zh-TW" altLang="en-US" sz="1400" dirty="0"/>
                <a:t>要呼叫什麼工具？</a:t>
              </a:r>
              <a:endParaRPr lang="en-US" altLang="zh-TW" sz="1400" dirty="0"/>
            </a:p>
            <a:p>
              <a:r>
                <a:rPr lang="zh-TW" altLang="en-US" sz="1400" dirty="0"/>
                <a:t>要給什麼關鍵字？</a:t>
              </a:r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78EE93A2-2781-4002-AD5A-815646AE381E}"/>
                </a:ext>
              </a:extLst>
            </p:cNvPr>
            <p:cNvSpPr txBox="1"/>
            <p:nvPr/>
          </p:nvSpPr>
          <p:spPr>
            <a:xfrm>
              <a:off x="5113513" y="4647780"/>
              <a:ext cx="2182833" cy="523220"/>
            </a:xfrm>
            <a:prstGeom prst="rect">
              <a:avLst/>
            </a:prstGeom>
            <a:noFill/>
            <a:ln w="19050">
              <a:solidFill>
                <a:srgbClr val="3471A7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/>
                <a:t>Think</a:t>
              </a:r>
            </a:p>
            <a:p>
              <a:r>
                <a:rPr lang="zh-TW" altLang="en-US" sz="1400" dirty="0"/>
                <a:t>整合 </a:t>
              </a:r>
              <a:r>
                <a:rPr lang="en-US" altLang="zh-TW" sz="1400" dirty="0"/>
                <a:t>Website 1,2,3 </a:t>
              </a:r>
              <a:r>
                <a:rPr lang="zh-TW" altLang="en-US" sz="1400" dirty="0"/>
                <a:t>的資訊</a:t>
              </a:r>
              <a:endParaRPr lang="en-US" altLang="zh-TW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2615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442894-4B91-428B-849F-69EBC032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流程分析 </a:t>
            </a:r>
            <a:r>
              <a:rPr lang="en-US" altLang="zh-TW" dirty="0"/>
              <a:t>–</a:t>
            </a:r>
            <a:r>
              <a:rPr lang="zh-TW" altLang="en-US" dirty="0"/>
              <a:t> </a:t>
            </a:r>
            <a:r>
              <a:rPr lang="en-US" altLang="zh-TW" dirty="0"/>
              <a:t>Coding Assistant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5D8E0B4-3C98-436A-8490-1F4A0C918520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9E4BC1D-F6DE-4C4E-BA3F-FC160372E9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039" r="1"/>
          <a:stretch/>
        </p:blipFill>
        <p:spPr>
          <a:xfrm>
            <a:off x="593889" y="1210792"/>
            <a:ext cx="3289954" cy="4708220"/>
          </a:xfrm>
          <a:prstGeom prst="rect">
            <a:avLst/>
          </a:prstGeom>
        </p:spPr>
      </p:pic>
      <p:grpSp>
        <p:nvGrpSpPr>
          <p:cNvPr id="8" name="群組 7">
            <a:extLst>
              <a:ext uri="{FF2B5EF4-FFF2-40B4-BE49-F238E27FC236}">
                <a16:creationId xmlns:a16="http://schemas.microsoft.com/office/drawing/2014/main" id="{4FE82970-E056-4E0E-95A0-2480836383EF}"/>
              </a:ext>
            </a:extLst>
          </p:cNvPr>
          <p:cNvGrpSpPr/>
          <p:nvPr/>
        </p:nvGrpSpPr>
        <p:grpSpPr>
          <a:xfrm>
            <a:off x="4223208" y="890574"/>
            <a:ext cx="7814821" cy="5385401"/>
            <a:chOff x="3108434" y="973402"/>
            <a:chExt cx="7814821" cy="5385401"/>
          </a:xfrm>
        </p:grpSpPr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8EBA1B9E-E9EA-4C31-9E47-B298B3343468}"/>
                </a:ext>
              </a:extLst>
            </p:cNvPr>
            <p:cNvGrpSpPr/>
            <p:nvPr/>
          </p:nvGrpSpPr>
          <p:grpSpPr>
            <a:xfrm>
              <a:off x="3108434" y="973402"/>
              <a:ext cx="7814821" cy="5385401"/>
              <a:chOff x="7393298" y="624597"/>
              <a:chExt cx="7814821" cy="5385401"/>
            </a:xfrm>
          </p:grpSpPr>
          <p:grpSp>
            <p:nvGrpSpPr>
              <p:cNvPr id="14" name="群組 13">
                <a:extLst>
                  <a:ext uri="{FF2B5EF4-FFF2-40B4-BE49-F238E27FC236}">
                    <a16:creationId xmlns:a16="http://schemas.microsoft.com/office/drawing/2014/main" id="{8BBEED1E-28B9-4FBE-89C6-8A21AF137B96}"/>
                  </a:ext>
                </a:extLst>
              </p:cNvPr>
              <p:cNvGrpSpPr/>
              <p:nvPr/>
            </p:nvGrpSpPr>
            <p:grpSpPr>
              <a:xfrm>
                <a:off x="8063952" y="1339129"/>
                <a:ext cx="1252524" cy="1603520"/>
                <a:chOff x="557422" y="3613157"/>
                <a:chExt cx="1252524" cy="1603520"/>
              </a:xfrm>
            </p:grpSpPr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94656A3F-5C87-40F0-996E-6BC7C94C85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duotone>
                    <a:srgbClr val="5B9BD5">
                      <a:shade val="45000"/>
                      <a:satMod val="135000"/>
                    </a:srgb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9211" b="93421" l="7483" r="89796">
                              <a14:foregroundMark x1="7483" y1="47368" x2="7483" y2="47368"/>
                              <a14:foregroundMark x1="31973" y1="44079" x2="31973" y2="44079"/>
                              <a14:foregroundMark x1="62585" y1="51974" x2="62585" y2="51974"/>
                              <a14:foregroundMark x1="63265" y1="12500" x2="63265" y2="12500"/>
                              <a14:foregroundMark x1="42177" y1="90789" x2="42177" y2="90789"/>
                              <a14:foregroundMark x1="62585" y1="93421" x2="62585" y2="93421"/>
                              <a14:foregroundMark x1="42857" y1="89474" x2="42857" y2="89474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7422" y="3921550"/>
                  <a:ext cx="1252524" cy="1295127"/>
                </a:xfrm>
                <a:prstGeom prst="rect">
                  <a:avLst/>
                </a:prstGeom>
              </p:spPr>
            </p:pic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16551136-F177-492F-880D-2E144934C3E0}"/>
                    </a:ext>
                  </a:extLst>
                </p:cNvPr>
                <p:cNvSpPr txBox="1"/>
                <p:nvPr/>
              </p:nvSpPr>
              <p:spPr>
                <a:xfrm>
                  <a:off x="723054" y="3613157"/>
                  <a:ext cx="92126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000" b="1" dirty="0">
                      <a:solidFill>
                        <a:srgbClr val="3471A7"/>
                      </a:solidFill>
                    </a:rPr>
                    <a:t>LLM</a:t>
                  </a:r>
                  <a:endParaRPr lang="zh-TW" altLang="en-US" sz="2000" b="1" dirty="0">
                    <a:solidFill>
                      <a:srgbClr val="3471A7"/>
                    </a:solidFill>
                  </a:endParaRPr>
                </a:p>
              </p:txBody>
            </p:sp>
          </p:grpSp>
          <p:grpSp>
            <p:nvGrpSpPr>
              <p:cNvPr id="15" name="群組 14">
                <a:extLst>
                  <a:ext uri="{FF2B5EF4-FFF2-40B4-BE49-F238E27FC236}">
                    <a16:creationId xmlns:a16="http://schemas.microsoft.com/office/drawing/2014/main" id="{E2861851-FE0C-4283-ADAA-87EAF41E9389}"/>
                  </a:ext>
                </a:extLst>
              </p:cNvPr>
              <p:cNvGrpSpPr/>
              <p:nvPr/>
            </p:nvGrpSpPr>
            <p:grpSpPr>
              <a:xfrm>
                <a:off x="12193767" y="2243483"/>
                <a:ext cx="2210052" cy="1762554"/>
                <a:chOff x="11313658" y="1893011"/>
                <a:chExt cx="2210052" cy="1762554"/>
              </a:xfrm>
            </p:grpSpPr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0B85A0FB-4386-4693-90B0-EC544AEABF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duotone>
                    <a:schemeClr val="accent2">
                      <a:shade val="45000"/>
                      <a:satMod val="135000"/>
                    </a:scheme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9471" b="96100" l="10000" r="90000">
                              <a14:foregroundMark x1="13889" y1="21170" x2="13889" y2="21170"/>
                              <a14:foregroundMark x1="24444" y1="24234" x2="24444" y2="24234"/>
                              <a14:foregroundMark x1="30000" y1="22006" x2="30000" y2="22006"/>
                              <a14:foregroundMark x1="39722" y1="81616" x2="39722" y2="81616"/>
                              <a14:foregroundMark x1="19444" y1="92201" x2="19444" y2="92201"/>
                              <a14:foregroundMark x1="28889" y1="96100" x2="28889" y2="96100"/>
                              <a14:foregroundMark x1="23056" y1="79666" x2="23056" y2="79666"/>
                              <a14:foregroundMark x1="75556" y1="10306" x2="75556" y2="10306"/>
                              <a14:foregroundMark x1="76667" y1="9749" x2="76667" y2="9749"/>
                              <a14:foregroundMark x1="23333" y1="9749" x2="23333" y2="9749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801844" y="2421377"/>
                  <a:ext cx="1237626" cy="1234188"/>
                </a:xfrm>
                <a:prstGeom prst="rect">
                  <a:avLst/>
                </a:prstGeom>
              </p:spPr>
            </p:pic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C750BFF4-5A9C-4553-BBFD-BFA40A8EB427}"/>
                    </a:ext>
                  </a:extLst>
                </p:cNvPr>
                <p:cNvSpPr txBox="1"/>
                <p:nvPr/>
              </p:nvSpPr>
              <p:spPr>
                <a:xfrm>
                  <a:off x="11313658" y="1893011"/>
                  <a:ext cx="221005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b="1" dirty="0">
                      <a:solidFill>
                        <a:srgbClr val="C35710"/>
                      </a:solidFill>
                    </a:rPr>
                    <a:t>Tool:</a:t>
                  </a:r>
                  <a:r>
                    <a:rPr lang="zh-TW" altLang="en-US" b="1" dirty="0">
                      <a:solidFill>
                        <a:srgbClr val="C35710"/>
                      </a:solidFill>
                    </a:rPr>
                    <a:t> </a:t>
                  </a:r>
                  <a:r>
                    <a:rPr lang="en-US" altLang="zh-TW" b="1" dirty="0">
                      <a:solidFill>
                        <a:srgbClr val="C35710"/>
                      </a:solidFill>
                    </a:rPr>
                    <a:t>Python </a:t>
                  </a:r>
                </a:p>
                <a:p>
                  <a:pPr algn="ctr"/>
                  <a:r>
                    <a:rPr lang="en-US" altLang="zh-TW" b="1" dirty="0">
                      <a:solidFill>
                        <a:srgbClr val="C35710"/>
                      </a:solidFill>
                    </a:rPr>
                    <a:t>Code Writer</a:t>
                  </a:r>
                  <a:endParaRPr lang="zh-TW" altLang="en-US" b="1" dirty="0">
                    <a:solidFill>
                      <a:srgbClr val="C35710"/>
                    </a:solidFill>
                  </a:endParaRPr>
                </a:p>
              </p:txBody>
            </p:sp>
          </p:grpSp>
          <p:grpSp>
            <p:nvGrpSpPr>
              <p:cNvPr id="16" name="群組 15">
                <a:extLst>
                  <a:ext uri="{FF2B5EF4-FFF2-40B4-BE49-F238E27FC236}">
                    <a16:creationId xmlns:a16="http://schemas.microsoft.com/office/drawing/2014/main" id="{CEBF853C-A955-46EA-9C21-9C5600545066}"/>
                  </a:ext>
                </a:extLst>
              </p:cNvPr>
              <p:cNvGrpSpPr/>
              <p:nvPr/>
            </p:nvGrpSpPr>
            <p:grpSpPr>
              <a:xfrm>
                <a:off x="8123306" y="3576115"/>
                <a:ext cx="1252524" cy="1603520"/>
                <a:chOff x="557422" y="3613157"/>
                <a:chExt cx="1252524" cy="1603520"/>
              </a:xfrm>
            </p:grpSpPr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D9911058-6C94-4951-9DF6-80A9A19875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duotone>
                    <a:srgbClr val="5B9BD5">
                      <a:shade val="45000"/>
                      <a:satMod val="135000"/>
                    </a:srgb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9211" b="93421" l="7483" r="89796">
                              <a14:foregroundMark x1="7483" y1="47368" x2="7483" y2="47368"/>
                              <a14:foregroundMark x1="31973" y1="44079" x2="31973" y2="44079"/>
                              <a14:foregroundMark x1="62585" y1="51974" x2="62585" y2="51974"/>
                              <a14:foregroundMark x1="63265" y1="12500" x2="63265" y2="12500"/>
                              <a14:foregroundMark x1="42177" y1="90789" x2="42177" y2="90789"/>
                              <a14:foregroundMark x1="62585" y1="93421" x2="62585" y2="93421"/>
                              <a14:foregroundMark x1="42857" y1="89474" x2="42857" y2="89474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7422" y="3921550"/>
                  <a:ext cx="1252524" cy="1295127"/>
                </a:xfrm>
                <a:prstGeom prst="rect">
                  <a:avLst/>
                </a:prstGeom>
              </p:spPr>
            </p:pic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CA9A97CD-2528-486D-A7DC-2023A9CEA28E}"/>
                    </a:ext>
                  </a:extLst>
                </p:cNvPr>
                <p:cNvSpPr txBox="1"/>
                <p:nvPr/>
              </p:nvSpPr>
              <p:spPr>
                <a:xfrm>
                  <a:off x="723054" y="3613157"/>
                  <a:ext cx="92126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000" b="1" dirty="0">
                      <a:solidFill>
                        <a:srgbClr val="3471A7"/>
                      </a:solidFill>
                    </a:rPr>
                    <a:t>LLM</a:t>
                  </a:r>
                  <a:endParaRPr lang="zh-TW" altLang="en-US" sz="2000" b="1" dirty="0">
                    <a:solidFill>
                      <a:srgbClr val="3471A7"/>
                    </a:solidFill>
                  </a:endParaRPr>
                </a:p>
              </p:txBody>
            </p:sp>
          </p:grpSp>
          <p:cxnSp>
            <p:nvCxnSpPr>
              <p:cNvPr id="17" name="接點: 肘形 16">
                <a:extLst>
                  <a:ext uri="{FF2B5EF4-FFF2-40B4-BE49-F238E27FC236}">
                    <a16:creationId xmlns:a16="http://schemas.microsoft.com/office/drawing/2014/main" id="{9319C0ED-279A-4655-9B55-91E98314F77E}"/>
                  </a:ext>
                </a:extLst>
              </p:cNvPr>
              <p:cNvCxnSpPr>
                <a:cxnSpLocks/>
                <a:stCxn id="29" idx="2"/>
              </p:cNvCxnSpPr>
              <p:nvPr/>
            </p:nvCxnSpPr>
            <p:spPr>
              <a:xfrm rot="16200000" flipH="1">
                <a:off x="10609718" y="1023145"/>
                <a:ext cx="152731" cy="3991738"/>
              </a:xfrm>
              <a:prstGeom prst="bentConnector2">
                <a:avLst/>
              </a:prstGeom>
              <a:ln w="28575">
                <a:solidFill>
                  <a:srgbClr val="3471A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接點: 肘形 17">
                <a:extLst>
                  <a:ext uri="{FF2B5EF4-FFF2-40B4-BE49-F238E27FC236}">
                    <a16:creationId xmlns:a16="http://schemas.microsoft.com/office/drawing/2014/main" id="{79C70BA2-70D1-4AB7-AD96-EE84110514DD}"/>
                  </a:ext>
                </a:extLst>
              </p:cNvPr>
              <p:cNvCxnSpPr>
                <a:cxnSpLocks/>
                <a:stCxn id="27" idx="1"/>
                <a:endCxn id="26" idx="0"/>
              </p:cNvCxnSpPr>
              <p:nvPr/>
            </p:nvCxnSpPr>
            <p:spPr>
              <a:xfrm rot="10800000" flipV="1">
                <a:off x="8749569" y="3388943"/>
                <a:ext cx="3932385" cy="187172"/>
              </a:xfrm>
              <a:prstGeom prst="bentConnector2">
                <a:avLst/>
              </a:prstGeom>
              <a:ln w="28575">
                <a:solidFill>
                  <a:srgbClr val="C3571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矩形: 圓角 18">
                <a:extLst>
                  <a:ext uri="{FF2B5EF4-FFF2-40B4-BE49-F238E27FC236}">
                    <a16:creationId xmlns:a16="http://schemas.microsoft.com/office/drawing/2014/main" id="{BB0244C3-03C4-4D80-88EB-37930519FFBF}"/>
                  </a:ext>
                </a:extLst>
              </p:cNvPr>
              <p:cNvSpPr/>
              <p:nvPr/>
            </p:nvSpPr>
            <p:spPr>
              <a:xfrm>
                <a:off x="7988430" y="1085125"/>
                <a:ext cx="6288845" cy="4373628"/>
              </a:xfrm>
              <a:prstGeom prst="roundRect">
                <a:avLst/>
              </a:prstGeom>
              <a:noFill/>
              <a:ln w="381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C164F11-FEAC-4A26-B012-21FE6A9878C6}"/>
                  </a:ext>
                </a:extLst>
              </p:cNvPr>
              <p:cNvSpPr txBox="1"/>
              <p:nvPr/>
            </p:nvSpPr>
            <p:spPr>
              <a:xfrm>
                <a:off x="7713810" y="624597"/>
                <a:ext cx="65634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b="1" dirty="0">
                    <a:ea typeface="微軟正黑體" panose="020B0604030504040204" pitchFamily="34" charset="-120"/>
                  </a:rPr>
                  <a:t>Q</a:t>
                </a:r>
                <a:r>
                  <a:rPr lang="zh-TW" altLang="en-US" b="1" dirty="0">
                    <a:ea typeface="微軟正黑體" panose="020B0604030504040204" pitchFamily="34" charset="-120"/>
                  </a:rPr>
                  <a:t>：幫我寫一份可以從字串刪除多個指定詞彙的 </a:t>
                </a:r>
                <a:r>
                  <a:rPr lang="en-US" altLang="zh-TW" b="1" dirty="0">
                    <a:ea typeface="微軟正黑體" panose="020B0604030504040204" pitchFamily="34" charset="-120"/>
                  </a:rPr>
                  <a:t>python </a:t>
                </a:r>
                <a:r>
                  <a:rPr lang="zh-TW" altLang="en-US" b="1" dirty="0">
                    <a:ea typeface="微軟正黑體" panose="020B0604030504040204" pitchFamily="34" charset="-120"/>
                  </a:rPr>
                  <a:t>程式</a:t>
                </a:r>
              </a:p>
            </p:txBody>
          </p:sp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F6BD2A33-4B5D-4A79-BCC5-4B92BF7C9709}"/>
                  </a:ext>
                </a:extLst>
              </p:cNvPr>
              <p:cNvSpPr txBox="1"/>
              <p:nvPr/>
            </p:nvSpPr>
            <p:spPr>
              <a:xfrm>
                <a:off x="7393298" y="5640666"/>
                <a:ext cx="78148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b="1" dirty="0">
                    <a:ea typeface="微軟正黑體" panose="020B0604030504040204" pitchFamily="34" charset="-120"/>
                  </a:rPr>
                  <a:t>A</a:t>
                </a:r>
                <a:r>
                  <a:rPr lang="zh-TW" altLang="en-US" b="1" dirty="0">
                    <a:ea typeface="微軟正黑體" panose="020B0604030504040204" pitchFamily="34" charset="-120"/>
                  </a:rPr>
                  <a:t>：我來幫你寫一個可以從字串中刪除多個指定詞彙的 </a:t>
                </a:r>
                <a:r>
                  <a:rPr lang="en-US" altLang="zh-TW" b="1" dirty="0">
                    <a:ea typeface="微軟正黑體" panose="020B0604030504040204" pitchFamily="34" charset="-120"/>
                  </a:rPr>
                  <a:t>Python </a:t>
                </a:r>
                <a:r>
                  <a:rPr lang="zh-TW" altLang="en-US" b="1" dirty="0">
                    <a:ea typeface="微軟正黑體" panose="020B0604030504040204" pitchFamily="34" charset="-120"/>
                  </a:rPr>
                  <a:t>程式。</a:t>
                </a:r>
                <a:r>
                  <a:rPr lang="en-US" altLang="zh-TW" b="1" dirty="0">
                    <a:ea typeface="微軟正黑體" panose="020B0604030504040204" pitchFamily="34" charset="-120"/>
                  </a:rPr>
                  <a:t>…</a:t>
                </a:r>
                <a:endParaRPr lang="zh-TW" altLang="en-US" b="1" dirty="0">
                  <a:ea typeface="微軟正黑體" panose="020B0604030504040204" pitchFamily="34" charset="-120"/>
                </a:endParaRPr>
              </a:p>
            </p:txBody>
          </p:sp>
          <p:cxnSp>
            <p:nvCxnSpPr>
              <p:cNvPr id="22" name="接點: 肘形 21">
                <a:extLst>
                  <a:ext uri="{FF2B5EF4-FFF2-40B4-BE49-F238E27FC236}">
                    <a16:creationId xmlns:a16="http://schemas.microsoft.com/office/drawing/2014/main" id="{45841CF7-7552-44A4-9F68-C8C41434DDB1}"/>
                  </a:ext>
                </a:extLst>
              </p:cNvPr>
              <p:cNvCxnSpPr>
                <a:cxnSpLocks/>
                <a:stCxn id="20" idx="2"/>
                <a:endCxn id="30" idx="0"/>
              </p:cNvCxnSpPr>
              <p:nvPr/>
            </p:nvCxnSpPr>
            <p:spPr>
              <a:xfrm rot="5400000">
                <a:off x="9670279" y="13865"/>
                <a:ext cx="345200" cy="2305329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接點: 肘形 22">
                <a:extLst>
                  <a:ext uri="{FF2B5EF4-FFF2-40B4-BE49-F238E27FC236}">
                    <a16:creationId xmlns:a16="http://schemas.microsoft.com/office/drawing/2014/main" id="{61D4CE7F-D203-4B7F-9F05-FACC0B8DB384}"/>
                  </a:ext>
                </a:extLst>
              </p:cNvPr>
              <p:cNvCxnSpPr>
                <a:cxnSpLocks/>
                <a:stCxn id="25" idx="2"/>
                <a:endCxn id="21" idx="0"/>
              </p:cNvCxnSpPr>
              <p:nvPr/>
            </p:nvCxnSpPr>
            <p:spPr>
              <a:xfrm rot="16200000" flipH="1">
                <a:off x="9794623" y="4134579"/>
                <a:ext cx="461031" cy="2551141"/>
              </a:xfrm>
              <a:prstGeom prst="bentConnector3">
                <a:avLst>
                  <a:gd name="adj1" fmla="val 23419"/>
                </a:avLst>
              </a:prstGeom>
              <a:ln w="28575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1CCF81E6-03A2-4FD0-9274-3A05C1ECB776}"/>
                  </a:ext>
                </a:extLst>
              </p:cNvPr>
              <p:cNvSpPr txBox="1"/>
              <p:nvPr/>
            </p:nvSpPr>
            <p:spPr>
              <a:xfrm>
                <a:off x="12583867" y="1196173"/>
                <a:ext cx="123762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Cursor</a:t>
                </a:r>
                <a:endParaRPr lang="zh-TW" alt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0D405F49-6F25-43D0-859A-844E8A472AD8}"/>
                </a:ext>
              </a:extLst>
            </p:cNvPr>
            <p:cNvSpPr txBox="1"/>
            <p:nvPr/>
          </p:nvSpPr>
          <p:spPr>
            <a:xfrm>
              <a:off x="5325748" y="3084030"/>
              <a:ext cx="27823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400" b="1" dirty="0">
                  <a:solidFill>
                    <a:srgbClr val="3471A7"/>
                  </a:solidFill>
                </a:rPr>
                <a:t>指令：從字串刪除多個指定詞彙</a:t>
              </a:r>
              <a:endParaRPr lang="zh-TW" altLang="en-US" sz="1400" dirty="0">
                <a:solidFill>
                  <a:srgbClr val="3471A7"/>
                </a:solidFill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1E5F7461-852E-48B1-AD9E-FBEF83E55F3C}"/>
                </a:ext>
              </a:extLst>
            </p:cNvPr>
            <p:cNvSpPr txBox="1"/>
            <p:nvPr/>
          </p:nvSpPr>
          <p:spPr>
            <a:xfrm>
              <a:off x="5930471" y="3738299"/>
              <a:ext cx="15321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rgbClr val="C35710"/>
                  </a:solidFill>
                </a:rPr>
                <a:t>remove_words.py</a:t>
              </a: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141D8D89-8342-40DE-8B49-29216619945F}"/>
                </a:ext>
              </a:extLst>
            </p:cNvPr>
            <p:cNvSpPr txBox="1"/>
            <p:nvPr/>
          </p:nvSpPr>
          <p:spPr>
            <a:xfrm>
              <a:off x="5113513" y="1921402"/>
              <a:ext cx="1734475" cy="738664"/>
            </a:xfrm>
            <a:prstGeom prst="rect">
              <a:avLst/>
            </a:prstGeom>
            <a:noFill/>
            <a:ln w="19050">
              <a:solidFill>
                <a:srgbClr val="3471A7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/>
                <a:t>Think</a:t>
              </a:r>
            </a:p>
            <a:p>
              <a:r>
                <a:rPr lang="zh-TW" altLang="en-US" sz="1400" dirty="0"/>
                <a:t>要呼叫什麼工具？</a:t>
              </a:r>
              <a:endParaRPr lang="en-US" altLang="zh-TW" sz="1400" dirty="0"/>
            </a:p>
            <a:p>
              <a:r>
                <a:rPr lang="zh-TW" altLang="en-US" sz="1400" dirty="0"/>
                <a:t>要給什麼指令？</a:t>
              </a:r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B9171817-026B-4C0A-9001-C5010150CD77}"/>
                </a:ext>
              </a:extLst>
            </p:cNvPr>
            <p:cNvSpPr txBox="1"/>
            <p:nvPr/>
          </p:nvSpPr>
          <p:spPr>
            <a:xfrm>
              <a:off x="5113514" y="4647780"/>
              <a:ext cx="1902332" cy="523220"/>
            </a:xfrm>
            <a:prstGeom prst="rect">
              <a:avLst/>
            </a:prstGeom>
            <a:noFill/>
            <a:ln w="19050">
              <a:solidFill>
                <a:srgbClr val="3471A7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/>
                <a:t>Think</a:t>
              </a:r>
            </a:p>
            <a:p>
              <a:r>
                <a:rPr lang="zh-TW" altLang="en-US" sz="1400" dirty="0"/>
                <a:t>講解 </a:t>
              </a:r>
              <a:r>
                <a:rPr lang="en-US" altLang="zh-TW" sz="1400" dirty="0"/>
                <a:t>remove_code.py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8892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79A6BB-9D41-4753-8CCC-17074894A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流程分析 </a:t>
            </a:r>
            <a:r>
              <a:rPr lang="en-US" altLang="zh-TW" dirty="0"/>
              <a:t>–</a:t>
            </a:r>
            <a:r>
              <a:rPr lang="zh-TW" altLang="en-US" dirty="0"/>
              <a:t> </a:t>
            </a:r>
            <a:r>
              <a:rPr lang="en-US" altLang="zh-TW" dirty="0"/>
              <a:t>Research Assistant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F047C20-C148-42E6-8888-F5E85B70A310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4" name="圖片 63">
            <a:extLst>
              <a:ext uri="{FF2B5EF4-FFF2-40B4-BE49-F238E27FC236}">
                <a16:creationId xmlns:a16="http://schemas.microsoft.com/office/drawing/2014/main" id="{C3430415-50E2-4522-A9D7-B9DB07E6A6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2"/>
          <a:stretch/>
        </p:blipFill>
        <p:spPr>
          <a:xfrm>
            <a:off x="415657" y="1517220"/>
            <a:ext cx="6729834" cy="3649316"/>
          </a:xfrm>
          <a:prstGeom prst="rect">
            <a:avLst/>
          </a:prstGeom>
        </p:spPr>
      </p:pic>
      <p:grpSp>
        <p:nvGrpSpPr>
          <p:cNvPr id="83" name="群組 82">
            <a:extLst>
              <a:ext uri="{FF2B5EF4-FFF2-40B4-BE49-F238E27FC236}">
                <a16:creationId xmlns:a16="http://schemas.microsoft.com/office/drawing/2014/main" id="{DAB5C9A7-C7FC-4F7B-8D66-CD112C668D15}"/>
              </a:ext>
            </a:extLst>
          </p:cNvPr>
          <p:cNvGrpSpPr/>
          <p:nvPr/>
        </p:nvGrpSpPr>
        <p:grpSpPr>
          <a:xfrm>
            <a:off x="7257016" y="398899"/>
            <a:ext cx="4984294" cy="5734377"/>
            <a:chOff x="7257016" y="398899"/>
            <a:chExt cx="4984294" cy="5734377"/>
          </a:xfrm>
        </p:grpSpPr>
        <p:grpSp>
          <p:nvGrpSpPr>
            <p:cNvPr id="34" name="群組 33">
              <a:extLst>
                <a:ext uri="{FF2B5EF4-FFF2-40B4-BE49-F238E27FC236}">
                  <a16:creationId xmlns:a16="http://schemas.microsoft.com/office/drawing/2014/main" id="{28E222DF-7B6D-4822-A544-449F911E97DC}"/>
                </a:ext>
              </a:extLst>
            </p:cNvPr>
            <p:cNvGrpSpPr/>
            <p:nvPr/>
          </p:nvGrpSpPr>
          <p:grpSpPr>
            <a:xfrm>
              <a:off x="7257016" y="714641"/>
              <a:ext cx="3518847" cy="5418635"/>
              <a:chOff x="7850179" y="605523"/>
              <a:chExt cx="3518847" cy="5418635"/>
            </a:xfrm>
          </p:grpSpPr>
          <p:grpSp>
            <p:nvGrpSpPr>
              <p:cNvPr id="35" name="群組 34">
                <a:extLst>
                  <a:ext uri="{FF2B5EF4-FFF2-40B4-BE49-F238E27FC236}">
                    <a16:creationId xmlns:a16="http://schemas.microsoft.com/office/drawing/2014/main" id="{B5C1070B-9B9A-4E2A-ABA9-2BFC759833BF}"/>
                  </a:ext>
                </a:extLst>
              </p:cNvPr>
              <p:cNvGrpSpPr/>
              <p:nvPr/>
            </p:nvGrpSpPr>
            <p:grpSpPr>
              <a:xfrm>
                <a:off x="8231375" y="1331158"/>
                <a:ext cx="1006199" cy="1309665"/>
                <a:chOff x="724845" y="3605186"/>
                <a:chExt cx="1006199" cy="1309665"/>
              </a:xfrm>
            </p:grpSpPr>
            <p:pic>
              <p:nvPicPr>
                <p:cNvPr id="50" name="圖片 49">
                  <a:extLst>
                    <a:ext uri="{FF2B5EF4-FFF2-40B4-BE49-F238E27FC236}">
                      <a16:creationId xmlns:a16="http://schemas.microsoft.com/office/drawing/2014/main" id="{F7DE8F33-F872-4CE3-9437-B6DDCD6C4B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duotone>
                    <a:srgbClr val="5B9BD5">
                      <a:shade val="45000"/>
                      <a:satMod val="135000"/>
                    </a:srgb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9211" b="93421" l="7483" r="89796">
                              <a14:foregroundMark x1="7483" y1="47368" x2="7483" y2="47368"/>
                              <a14:foregroundMark x1="31973" y1="44079" x2="31973" y2="44079"/>
                              <a14:foregroundMark x1="62585" y1="51974" x2="62585" y2="51974"/>
                              <a14:foregroundMark x1="63265" y1="12500" x2="63265" y2="12500"/>
                              <a14:foregroundMark x1="42177" y1="90789" x2="42177" y2="90789"/>
                              <a14:foregroundMark x1="62585" y1="93421" x2="62585" y2="93421"/>
                              <a14:foregroundMark x1="42857" y1="89474" x2="42857" y2="89474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4845" y="3874427"/>
                  <a:ext cx="1006199" cy="1040424"/>
                </a:xfrm>
                <a:prstGeom prst="rect">
                  <a:avLst/>
                </a:prstGeom>
              </p:spPr>
            </p:pic>
            <p:sp>
              <p:nvSpPr>
                <p:cNvPr id="51" name="文字方塊 50">
                  <a:extLst>
                    <a:ext uri="{FF2B5EF4-FFF2-40B4-BE49-F238E27FC236}">
                      <a16:creationId xmlns:a16="http://schemas.microsoft.com/office/drawing/2014/main" id="{C1471389-D28B-42DE-8C5B-0CFFE4052AB4}"/>
                    </a:ext>
                  </a:extLst>
                </p:cNvPr>
                <p:cNvSpPr txBox="1"/>
                <p:nvPr/>
              </p:nvSpPr>
              <p:spPr>
                <a:xfrm>
                  <a:off x="767250" y="3605186"/>
                  <a:ext cx="9212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b="1" dirty="0">
                      <a:solidFill>
                        <a:srgbClr val="3471A7"/>
                      </a:solidFill>
                    </a:rPr>
                    <a:t>LLM</a:t>
                  </a:r>
                  <a:endParaRPr lang="zh-TW" altLang="en-US" b="1" dirty="0">
                    <a:solidFill>
                      <a:srgbClr val="3471A7"/>
                    </a:solidFill>
                  </a:endParaRPr>
                </a:p>
              </p:txBody>
            </p:sp>
          </p:grpSp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CD95B0D4-3C7D-4F9A-A7A3-87764856330B}"/>
                  </a:ext>
                </a:extLst>
              </p:cNvPr>
              <p:cNvGrpSpPr/>
              <p:nvPr/>
            </p:nvGrpSpPr>
            <p:grpSpPr>
              <a:xfrm>
                <a:off x="9416511" y="2922002"/>
                <a:ext cx="1952515" cy="1241800"/>
                <a:chOff x="8536402" y="2571530"/>
                <a:chExt cx="1952515" cy="1241800"/>
              </a:xfrm>
            </p:grpSpPr>
            <p:pic>
              <p:nvPicPr>
                <p:cNvPr id="48" name="圖片 47">
                  <a:extLst>
                    <a:ext uri="{FF2B5EF4-FFF2-40B4-BE49-F238E27FC236}">
                      <a16:creationId xmlns:a16="http://schemas.microsoft.com/office/drawing/2014/main" id="{9F22CDE4-A78D-4136-8DA7-E241710381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duotone>
                    <a:schemeClr val="accent2">
                      <a:shade val="45000"/>
                      <a:satMod val="135000"/>
                    </a:scheme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9471" b="96100" l="10000" r="90000">
                              <a14:foregroundMark x1="13889" y1="21170" x2="13889" y2="21170"/>
                              <a14:foregroundMark x1="24444" y1="24234" x2="24444" y2="24234"/>
                              <a14:foregroundMark x1="30000" y1="22006" x2="30000" y2="22006"/>
                              <a14:foregroundMark x1="39722" y1="81616" x2="39722" y2="81616"/>
                              <a14:foregroundMark x1="19444" y1="92201" x2="19444" y2="92201"/>
                              <a14:foregroundMark x1="28889" y1="96100" x2="28889" y2="96100"/>
                              <a14:foregroundMark x1="23056" y1="79666" x2="23056" y2="79666"/>
                              <a14:foregroundMark x1="75556" y1="10306" x2="75556" y2="10306"/>
                              <a14:foregroundMark x1="76667" y1="9749" x2="76667" y2="9749"/>
                              <a14:foregroundMark x1="23333" y1="9749" x2="23333" y2="9749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09635" y="2571530"/>
                  <a:ext cx="921260" cy="918701"/>
                </a:xfrm>
                <a:prstGeom prst="rect">
                  <a:avLst/>
                </a:prstGeom>
              </p:spPr>
            </p:pic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2540A027-A2E4-44A9-8712-54D45DE95510}"/>
                    </a:ext>
                  </a:extLst>
                </p:cNvPr>
                <p:cNvSpPr txBox="1"/>
                <p:nvPr/>
              </p:nvSpPr>
              <p:spPr>
                <a:xfrm>
                  <a:off x="8536402" y="3474776"/>
                  <a:ext cx="195251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600" b="1" dirty="0">
                      <a:solidFill>
                        <a:srgbClr val="C35710"/>
                      </a:solidFill>
                    </a:rPr>
                    <a:t>Tool:</a:t>
                  </a:r>
                  <a:r>
                    <a:rPr lang="zh-TW" altLang="en-US" sz="1600" b="1" dirty="0">
                      <a:solidFill>
                        <a:srgbClr val="C35710"/>
                      </a:solidFill>
                    </a:rPr>
                    <a:t> </a:t>
                  </a:r>
                  <a:r>
                    <a:rPr lang="en-US" altLang="zh-TW" sz="1600" b="1" dirty="0">
                      <a:solidFill>
                        <a:srgbClr val="C35710"/>
                      </a:solidFill>
                    </a:rPr>
                    <a:t>Video Analysis</a:t>
                  </a:r>
                  <a:endParaRPr lang="zh-TW" altLang="en-US" sz="1600" b="1" dirty="0">
                    <a:solidFill>
                      <a:srgbClr val="C35710"/>
                    </a:solidFill>
                  </a:endParaRPr>
                </a:p>
              </p:txBody>
            </p:sp>
          </p:grpSp>
          <p:grpSp>
            <p:nvGrpSpPr>
              <p:cNvPr id="37" name="群組 36">
                <a:extLst>
                  <a:ext uri="{FF2B5EF4-FFF2-40B4-BE49-F238E27FC236}">
                    <a16:creationId xmlns:a16="http://schemas.microsoft.com/office/drawing/2014/main" id="{8777C861-E4BD-4748-9E3B-B53476B3C8E4}"/>
                  </a:ext>
                </a:extLst>
              </p:cNvPr>
              <p:cNvGrpSpPr/>
              <p:nvPr/>
            </p:nvGrpSpPr>
            <p:grpSpPr>
              <a:xfrm>
                <a:off x="8268461" y="3765821"/>
                <a:ext cx="993226" cy="1337053"/>
                <a:chOff x="702577" y="3802863"/>
                <a:chExt cx="993226" cy="1337053"/>
              </a:xfrm>
            </p:grpSpPr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EF2827B5-A3BF-4FE2-9460-F8B2DE5AB9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duotone>
                    <a:srgbClr val="5B9BD5">
                      <a:shade val="45000"/>
                      <a:satMod val="135000"/>
                    </a:srgb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ackgroundRemoval t="9211" b="93421" l="7483" r="89796">
                              <a14:foregroundMark x1="7483" y1="47368" x2="7483" y2="47368"/>
                              <a14:foregroundMark x1="31973" y1="44079" x2="31973" y2="44079"/>
                              <a14:foregroundMark x1="62585" y1="51974" x2="62585" y2="51974"/>
                              <a14:foregroundMark x1="63265" y1="12500" x2="63265" y2="12500"/>
                              <a14:foregroundMark x1="42177" y1="90789" x2="42177" y2="90789"/>
                              <a14:foregroundMark x1="62585" y1="93421" x2="62585" y2="93421"/>
                              <a14:foregroundMark x1="42857" y1="89474" x2="42857" y2="89474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2577" y="4112907"/>
                  <a:ext cx="993226" cy="1027009"/>
                </a:xfrm>
                <a:prstGeom prst="rect">
                  <a:avLst/>
                </a:prstGeom>
              </p:spPr>
            </p:pic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22B26A7A-18F2-4182-84D7-39659FB77245}"/>
                    </a:ext>
                  </a:extLst>
                </p:cNvPr>
                <p:cNvSpPr txBox="1"/>
                <p:nvPr/>
              </p:nvSpPr>
              <p:spPr>
                <a:xfrm>
                  <a:off x="707896" y="3802863"/>
                  <a:ext cx="9212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b="1" dirty="0">
                      <a:solidFill>
                        <a:srgbClr val="3471A7"/>
                      </a:solidFill>
                    </a:rPr>
                    <a:t>LLM</a:t>
                  </a:r>
                  <a:endParaRPr lang="zh-TW" altLang="en-US" b="1" dirty="0">
                    <a:solidFill>
                      <a:srgbClr val="3471A7"/>
                    </a:solidFill>
                  </a:endParaRPr>
                </a:p>
              </p:txBody>
            </p:sp>
          </p:grpSp>
          <p:cxnSp>
            <p:nvCxnSpPr>
              <p:cNvPr id="38" name="接點: 肘形 37">
                <a:extLst>
                  <a:ext uri="{FF2B5EF4-FFF2-40B4-BE49-F238E27FC236}">
                    <a16:creationId xmlns:a16="http://schemas.microsoft.com/office/drawing/2014/main" id="{B7E29B76-6699-4EE7-B958-B5C4DA0F6E85}"/>
                  </a:ext>
                </a:extLst>
              </p:cNvPr>
              <p:cNvCxnSpPr>
                <a:cxnSpLocks/>
                <a:stCxn id="50" idx="2"/>
              </p:cNvCxnSpPr>
              <p:nvPr/>
            </p:nvCxnSpPr>
            <p:spPr>
              <a:xfrm rot="16200000" flipH="1">
                <a:off x="9090499" y="2284799"/>
                <a:ext cx="543220" cy="1255268"/>
              </a:xfrm>
              <a:prstGeom prst="bentConnector2">
                <a:avLst/>
              </a:prstGeom>
              <a:ln w="28575">
                <a:solidFill>
                  <a:srgbClr val="3471A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接點: 肘形 38">
                <a:extLst>
                  <a:ext uri="{FF2B5EF4-FFF2-40B4-BE49-F238E27FC236}">
                    <a16:creationId xmlns:a16="http://schemas.microsoft.com/office/drawing/2014/main" id="{F11E3AB9-2A27-456E-884F-1D8B12355E2F}"/>
                  </a:ext>
                </a:extLst>
              </p:cNvPr>
              <p:cNvCxnSpPr>
                <a:cxnSpLocks/>
                <a:stCxn id="48" idx="1"/>
                <a:endCxn id="47" idx="0"/>
              </p:cNvCxnSpPr>
              <p:nvPr/>
            </p:nvCxnSpPr>
            <p:spPr>
              <a:xfrm rot="10800000" flipV="1">
                <a:off x="8734410" y="3381353"/>
                <a:ext cx="1255334" cy="384468"/>
              </a:xfrm>
              <a:prstGeom prst="bentConnector2">
                <a:avLst/>
              </a:prstGeom>
              <a:ln w="28575">
                <a:solidFill>
                  <a:srgbClr val="C3571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矩形: 圓角 39">
                <a:extLst>
                  <a:ext uri="{FF2B5EF4-FFF2-40B4-BE49-F238E27FC236}">
                    <a16:creationId xmlns:a16="http://schemas.microsoft.com/office/drawing/2014/main" id="{FE7579AC-DFE7-4BA4-B970-FC94A944AA9A}"/>
                  </a:ext>
                </a:extLst>
              </p:cNvPr>
              <p:cNvSpPr/>
              <p:nvPr/>
            </p:nvSpPr>
            <p:spPr>
              <a:xfrm>
                <a:off x="7988431" y="1085125"/>
                <a:ext cx="3339912" cy="4373628"/>
              </a:xfrm>
              <a:prstGeom prst="roundRect">
                <a:avLst/>
              </a:prstGeom>
              <a:noFill/>
              <a:ln w="381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E205F629-8452-4569-8897-C5B0767247E2}"/>
                  </a:ext>
                </a:extLst>
              </p:cNvPr>
              <p:cNvSpPr txBox="1"/>
              <p:nvPr/>
            </p:nvSpPr>
            <p:spPr>
              <a:xfrm>
                <a:off x="7900535" y="605523"/>
                <a:ext cx="32392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b="1" dirty="0">
                    <a:ea typeface="微軟正黑體" panose="020B0604030504040204" pitchFamily="34" charset="-120"/>
                  </a:rPr>
                  <a:t>Q</a:t>
                </a:r>
                <a:r>
                  <a:rPr lang="zh-TW" altLang="en-US" b="1" dirty="0">
                    <a:ea typeface="微軟正黑體" panose="020B0604030504040204" pitchFamily="34" charset="-120"/>
                  </a:rPr>
                  <a:t>：整理伊朗那個影片的重點</a:t>
                </a:r>
              </a:p>
            </p:txBody>
          </p:sp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0E35BB8E-BE7A-4D1E-B1F9-15E9BE5257E4}"/>
                  </a:ext>
                </a:extLst>
              </p:cNvPr>
              <p:cNvSpPr txBox="1"/>
              <p:nvPr/>
            </p:nvSpPr>
            <p:spPr>
              <a:xfrm>
                <a:off x="7850179" y="5654826"/>
                <a:ext cx="3339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b="1" dirty="0">
                    <a:ea typeface="微軟正黑體" panose="020B0604030504040204" pitchFamily="34" charset="-120"/>
                  </a:rPr>
                  <a:t>A</a:t>
                </a:r>
                <a:r>
                  <a:rPr lang="zh-TW" altLang="en-US" b="1" dirty="0">
                    <a:ea typeface="微軟正黑體" panose="020B0604030504040204" pitchFamily="34" charset="-120"/>
                  </a:rPr>
                  <a:t>：這段伊朗的影片主要透過</a:t>
                </a:r>
                <a:r>
                  <a:rPr lang="en-US" altLang="zh-TW" b="1" dirty="0">
                    <a:ea typeface="微軟正黑體" panose="020B0604030504040204" pitchFamily="34" charset="-120"/>
                  </a:rPr>
                  <a:t>…</a:t>
                </a:r>
              </a:p>
            </p:txBody>
          </p:sp>
          <p:cxnSp>
            <p:nvCxnSpPr>
              <p:cNvPr id="43" name="接點: 肘形 42">
                <a:extLst>
                  <a:ext uri="{FF2B5EF4-FFF2-40B4-BE49-F238E27FC236}">
                    <a16:creationId xmlns:a16="http://schemas.microsoft.com/office/drawing/2014/main" id="{FB931DB0-D6A9-473D-80AD-9565A856F1AA}"/>
                  </a:ext>
                </a:extLst>
              </p:cNvPr>
              <p:cNvCxnSpPr>
                <a:cxnSpLocks/>
                <a:stCxn id="41" idx="2"/>
                <a:endCxn id="51" idx="0"/>
              </p:cNvCxnSpPr>
              <p:nvPr/>
            </p:nvCxnSpPr>
            <p:spPr>
              <a:xfrm rot="5400000">
                <a:off x="8949123" y="760143"/>
                <a:ext cx="356303" cy="785727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接點: 肘形 43">
                <a:extLst>
                  <a:ext uri="{FF2B5EF4-FFF2-40B4-BE49-F238E27FC236}">
                    <a16:creationId xmlns:a16="http://schemas.microsoft.com/office/drawing/2014/main" id="{8079AB25-CBF5-4E22-9205-F1C906030846}"/>
                  </a:ext>
                </a:extLst>
              </p:cNvPr>
              <p:cNvCxnSpPr>
                <a:cxnSpLocks/>
                <a:stCxn id="46" idx="2"/>
                <a:endCxn id="42" idx="0"/>
              </p:cNvCxnSpPr>
              <p:nvPr/>
            </p:nvCxnSpPr>
            <p:spPr>
              <a:xfrm rot="16200000" flipH="1">
                <a:off x="8866629" y="5001319"/>
                <a:ext cx="551952" cy="755062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FF115196-F8FA-45B4-9324-E57481B8CAEF}"/>
                  </a:ext>
                </a:extLst>
              </p:cNvPr>
              <p:cNvSpPr txBox="1"/>
              <p:nvPr/>
            </p:nvSpPr>
            <p:spPr>
              <a:xfrm>
                <a:off x="9605090" y="4871988"/>
                <a:ext cx="1534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NotebookLM</a:t>
                </a:r>
                <a:endParaRPr lang="zh-TW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pic>
          <p:nvPicPr>
            <p:cNvPr id="52" name="圖片 51">
              <a:extLst>
                <a:ext uri="{FF2B5EF4-FFF2-40B4-BE49-F238E27FC236}">
                  <a16:creationId xmlns:a16="http://schemas.microsoft.com/office/drawing/2014/main" id="{7C8E9FF9-4CB1-43CD-B911-B847D3A31D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471" b="96100" l="10000" r="90000">
                          <a14:foregroundMark x1="13889" y1="21170" x2="13889" y2="21170"/>
                          <a14:foregroundMark x1="24444" y1="24234" x2="24444" y2="24234"/>
                          <a14:foregroundMark x1="30000" y1="22006" x2="30000" y2="22006"/>
                          <a14:foregroundMark x1="39722" y1="81616" x2="39722" y2="81616"/>
                          <a14:foregroundMark x1="19444" y1="92201" x2="19444" y2="92201"/>
                          <a14:foregroundMark x1="28889" y1="96100" x2="28889" y2="96100"/>
                          <a14:foregroundMark x1="23056" y1="79666" x2="23056" y2="79666"/>
                          <a14:foregroundMark x1="75556" y1="10306" x2="75556" y2="10306"/>
                          <a14:foregroundMark x1="76667" y1="9749" x2="76667" y2="9749"/>
                          <a14:foregroundMark x1="23333" y1="9749" x2="23333" y2="974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940875" y="815686"/>
              <a:ext cx="1035548" cy="1032671"/>
            </a:xfrm>
            <a:prstGeom prst="rect">
              <a:avLst/>
            </a:prstGeom>
          </p:spPr>
        </p:pic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D798FA2B-6C71-434E-8E1B-78896E8FE87D}"/>
                </a:ext>
              </a:extLst>
            </p:cNvPr>
            <p:cNvSpPr txBox="1"/>
            <p:nvPr/>
          </p:nvSpPr>
          <p:spPr>
            <a:xfrm>
              <a:off x="10376759" y="398899"/>
              <a:ext cx="1864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C35710"/>
                  </a:solidFill>
                </a:rPr>
                <a:t>Tool:</a:t>
              </a:r>
              <a:r>
                <a:rPr lang="zh-TW" altLang="en-US" b="1" dirty="0">
                  <a:solidFill>
                    <a:srgbClr val="C35710"/>
                  </a:solidFill>
                </a:rPr>
                <a:t> </a:t>
              </a:r>
              <a:r>
                <a:rPr lang="en-US" altLang="zh-TW" b="1" dirty="0">
                  <a:solidFill>
                    <a:srgbClr val="C35710"/>
                  </a:solidFill>
                </a:rPr>
                <a:t>web Search</a:t>
              </a:r>
              <a:endParaRPr lang="zh-TW" altLang="en-US" b="1" dirty="0">
                <a:solidFill>
                  <a:srgbClr val="C35710"/>
                </a:solidFill>
              </a:endParaRPr>
            </a:p>
          </p:txBody>
        </p:sp>
        <p:cxnSp>
          <p:nvCxnSpPr>
            <p:cNvPr id="54" name="接點: 肘形 53">
              <a:extLst>
                <a:ext uri="{FF2B5EF4-FFF2-40B4-BE49-F238E27FC236}">
                  <a16:creationId xmlns:a16="http://schemas.microsoft.com/office/drawing/2014/main" id="{D08CC362-A60C-4634-9883-E08490A1BF2F}"/>
                </a:ext>
              </a:extLst>
            </p:cNvPr>
            <p:cNvCxnSpPr>
              <a:cxnSpLocks/>
              <a:stCxn id="52" idx="1"/>
              <a:endCxn id="51" idx="3"/>
            </p:cNvCxnSpPr>
            <p:nvPr/>
          </p:nvCxnSpPr>
          <p:spPr>
            <a:xfrm rot="10800000" flipV="1">
              <a:off x="8601877" y="1332022"/>
              <a:ext cx="2338998" cy="292920"/>
            </a:xfrm>
            <a:prstGeom prst="bentConnector3">
              <a:avLst>
                <a:gd name="adj1" fmla="val 79421"/>
              </a:avLst>
            </a:prstGeom>
            <a:ln w="28575">
              <a:solidFill>
                <a:srgbClr val="C3571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02379EC9-1E98-40A6-B69F-6209FD722015}"/>
                </a:ext>
              </a:extLst>
            </p:cNvPr>
            <p:cNvSpPr txBox="1"/>
            <p:nvPr/>
          </p:nvSpPr>
          <p:spPr>
            <a:xfrm>
              <a:off x="9203176" y="1363332"/>
              <a:ext cx="15320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b="1" dirty="0">
                  <a:solidFill>
                    <a:srgbClr val="C35710"/>
                  </a:solidFill>
                  <a:ea typeface="微軟正黑體" panose="020B0604030504040204" pitchFamily="34" charset="-120"/>
                </a:rPr>
                <a:t>YT </a:t>
              </a:r>
              <a:r>
                <a:rPr lang="zh-TW" altLang="en-US" sz="1200" b="1" dirty="0">
                  <a:solidFill>
                    <a:srgbClr val="C35710"/>
                  </a:solidFill>
                  <a:ea typeface="微軟正黑體" panose="020B0604030504040204" pitchFamily="34" charset="-120"/>
                </a:rPr>
                <a:t>影片逐字稿 </a:t>
              </a:r>
              <a:r>
                <a:rPr lang="en-US" altLang="zh-TW" sz="1200" b="1" dirty="0">
                  <a:solidFill>
                    <a:srgbClr val="C35710"/>
                  </a:solidFill>
                  <a:ea typeface="微軟正黑體" panose="020B0604030504040204" pitchFamily="34" charset="-120"/>
                </a:rPr>
                <a:t>1, 2</a:t>
              </a:r>
            </a:p>
          </p:txBody>
        </p:sp>
        <p:sp>
          <p:nvSpPr>
            <p:cNvPr id="68" name="文字方塊 67">
              <a:extLst>
                <a:ext uri="{FF2B5EF4-FFF2-40B4-BE49-F238E27FC236}">
                  <a16:creationId xmlns:a16="http://schemas.microsoft.com/office/drawing/2014/main" id="{B3C35446-6B0B-40A6-A79C-66B04487A15F}"/>
                </a:ext>
              </a:extLst>
            </p:cNvPr>
            <p:cNvSpPr txBox="1"/>
            <p:nvPr/>
          </p:nvSpPr>
          <p:spPr>
            <a:xfrm>
              <a:off x="8718147" y="1824502"/>
              <a:ext cx="1734475" cy="738664"/>
            </a:xfrm>
            <a:prstGeom prst="rect">
              <a:avLst/>
            </a:prstGeom>
            <a:noFill/>
            <a:ln w="19050">
              <a:solidFill>
                <a:srgbClr val="3471A7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/>
                <a:t>Think</a:t>
              </a:r>
            </a:p>
            <a:p>
              <a:r>
                <a:rPr lang="zh-TW" altLang="en-US" sz="1400" dirty="0"/>
                <a:t>要呼叫什麼工具？</a:t>
              </a:r>
              <a:endParaRPr lang="en-US" altLang="zh-TW" sz="1400" dirty="0"/>
            </a:p>
            <a:p>
              <a:r>
                <a:rPr lang="zh-TW" altLang="en-US" sz="1400" dirty="0"/>
                <a:t>要選擇哪個來源？</a:t>
              </a:r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0362FBE5-CE29-44C7-B8B3-88C4890259E2}"/>
                </a:ext>
              </a:extLst>
            </p:cNvPr>
            <p:cNvSpPr txBox="1"/>
            <p:nvPr/>
          </p:nvSpPr>
          <p:spPr>
            <a:xfrm>
              <a:off x="8316382" y="3552970"/>
              <a:ext cx="8035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200" b="1" dirty="0">
                  <a:solidFill>
                    <a:srgbClr val="C35710"/>
                  </a:solidFill>
                  <a:ea typeface="微軟正黑體" panose="020B0604030504040204" pitchFamily="34" charset="-120"/>
                </a:rPr>
                <a:t>分析結果</a:t>
              </a:r>
              <a:endParaRPr lang="en-US" altLang="zh-TW" sz="1200" b="1" dirty="0">
                <a:solidFill>
                  <a:srgbClr val="C35710"/>
                </a:solidFill>
                <a:ea typeface="微軟正黑體" panose="020B0604030504040204" pitchFamily="34" charset="-120"/>
              </a:endParaRPr>
            </a:p>
          </p:txBody>
        </p:sp>
        <p:sp>
          <p:nvSpPr>
            <p:cNvPr id="86" name="文字方塊 85">
              <a:extLst>
                <a:ext uri="{FF2B5EF4-FFF2-40B4-BE49-F238E27FC236}">
                  <a16:creationId xmlns:a16="http://schemas.microsoft.com/office/drawing/2014/main" id="{5BE89C55-A422-45CC-8CA5-303B0833B1B4}"/>
                </a:ext>
              </a:extLst>
            </p:cNvPr>
            <p:cNvSpPr txBox="1"/>
            <p:nvPr/>
          </p:nvSpPr>
          <p:spPr>
            <a:xfrm>
              <a:off x="8171910" y="3022222"/>
              <a:ext cx="12553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b="1" dirty="0">
                  <a:solidFill>
                    <a:srgbClr val="3471A7"/>
                  </a:solidFill>
                  <a:ea typeface="微軟正黑體" panose="020B0604030504040204" pitchFamily="34" charset="-120"/>
                </a:rPr>
                <a:t>YT </a:t>
              </a:r>
              <a:r>
                <a:rPr lang="zh-TW" altLang="en-US" sz="1200" b="1" dirty="0">
                  <a:solidFill>
                    <a:srgbClr val="3471A7"/>
                  </a:solidFill>
                  <a:ea typeface="微軟正黑體" panose="020B0604030504040204" pitchFamily="34" charset="-120"/>
                </a:rPr>
                <a:t>影片逐字稿 </a:t>
              </a:r>
              <a:r>
                <a:rPr lang="en-US" altLang="zh-TW" sz="1200" b="1" dirty="0">
                  <a:solidFill>
                    <a:srgbClr val="3471A7"/>
                  </a:solidFill>
                  <a:ea typeface="微軟正黑體" panose="020B0604030504040204" pitchFamily="34" charset="-12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5226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3AE5ED5-4070-4F21-A9BA-2339DCF24D99}"/>
              </a:ext>
            </a:extLst>
          </p:cNvPr>
          <p:cNvSpPr txBox="1"/>
          <p:nvPr/>
        </p:nvSpPr>
        <p:spPr>
          <a:xfrm>
            <a:off x="2288068" y="2782669"/>
            <a:ext cx="7649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AI Agent </a:t>
            </a:r>
            <a:r>
              <a:rPr lang="zh-TW" altLang="en-US" sz="3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是如何做到自主規劃執行的？</a:t>
            </a:r>
            <a:endParaRPr lang="en-US" altLang="zh-TW" sz="3600" b="1" dirty="0">
              <a:solidFill>
                <a:srgbClr val="002060"/>
              </a:solidFill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48220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01C5047-7F81-4822-8A53-0B9A8C0F2D3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156" name="群組 155">
            <a:extLst>
              <a:ext uri="{FF2B5EF4-FFF2-40B4-BE49-F238E27FC236}">
                <a16:creationId xmlns:a16="http://schemas.microsoft.com/office/drawing/2014/main" id="{66639098-AA8D-49E6-9359-B61AF5C5A57F}"/>
              </a:ext>
            </a:extLst>
          </p:cNvPr>
          <p:cNvGrpSpPr/>
          <p:nvPr/>
        </p:nvGrpSpPr>
        <p:grpSpPr>
          <a:xfrm>
            <a:off x="6891512" y="280567"/>
            <a:ext cx="5147588" cy="6003897"/>
            <a:chOff x="5448141" y="271143"/>
            <a:chExt cx="5147588" cy="6003897"/>
          </a:xfrm>
        </p:grpSpPr>
        <p:grpSp>
          <p:nvGrpSpPr>
            <p:cNvPr id="84" name="群組 83">
              <a:extLst>
                <a:ext uri="{FF2B5EF4-FFF2-40B4-BE49-F238E27FC236}">
                  <a16:creationId xmlns:a16="http://schemas.microsoft.com/office/drawing/2014/main" id="{E1A29599-B4D0-4BD9-B430-A83B5364549E}"/>
                </a:ext>
              </a:extLst>
            </p:cNvPr>
            <p:cNvGrpSpPr/>
            <p:nvPr/>
          </p:nvGrpSpPr>
          <p:grpSpPr>
            <a:xfrm>
              <a:off x="5770002" y="271143"/>
              <a:ext cx="4021081" cy="5413220"/>
              <a:chOff x="810703" y="1016369"/>
              <a:chExt cx="4021081" cy="5413220"/>
            </a:xfrm>
          </p:grpSpPr>
          <p:grpSp>
            <p:nvGrpSpPr>
              <p:cNvPr id="85" name="群組 84">
                <a:extLst>
                  <a:ext uri="{FF2B5EF4-FFF2-40B4-BE49-F238E27FC236}">
                    <a16:creationId xmlns:a16="http://schemas.microsoft.com/office/drawing/2014/main" id="{7F7EB5A2-E41C-415A-B3FC-A0F57DD4C85F}"/>
                  </a:ext>
                </a:extLst>
              </p:cNvPr>
              <p:cNvGrpSpPr/>
              <p:nvPr/>
            </p:nvGrpSpPr>
            <p:grpSpPr>
              <a:xfrm>
                <a:off x="810703" y="1016369"/>
                <a:ext cx="4021081" cy="5413220"/>
                <a:chOff x="8234324" y="667564"/>
                <a:chExt cx="4021081" cy="5413220"/>
              </a:xfrm>
            </p:grpSpPr>
            <p:pic>
              <p:nvPicPr>
                <p:cNvPr id="103" name="圖片 102">
                  <a:extLst>
                    <a:ext uri="{FF2B5EF4-FFF2-40B4-BE49-F238E27FC236}">
                      <a16:creationId xmlns:a16="http://schemas.microsoft.com/office/drawing/2014/main" id="{44123FBD-A62E-4838-8831-7D36C38FCB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duotone>
                    <a:srgbClr val="5B9BD5">
                      <a:shade val="45000"/>
                      <a:satMod val="135000"/>
                    </a:srgb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9211" b="93421" l="7483" r="89796">
                              <a14:foregroundMark x1="7483" y1="47368" x2="7483" y2="47368"/>
                              <a14:foregroundMark x1="31973" y1="44079" x2="31973" y2="44079"/>
                              <a14:foregroundMark x1="62585" y1="51974" x2="62585" y2="51974"/>
                              <a14:foregroundMark x1="63265" y1="12500" x2="63265" y2="12500"/>
                              <a14:foregroundMark x1="42177" y1="90789" x2="42177" y2="90789"/>
                              <a14:foregroundMark x1="62585" y1="93421" x2="62585" y2="93421"/>
                              <a14:foregroundMark x1="42857" y1="89474" x2="42857" y2="89474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17559" y="1492903"/>
                  <a:ext cx="1122258" cy="1160430"/>
                </a:xfrm>
                <a:prstGeom prst="rect">
                  <a:avLst/>
                </a:prstGeom>
              </p:spPr>
            </p:pic>
            <p:grpSp>
              <p:nvGrpSpPr>
                <p:cNvPr id="93" name="群組 92">
                  <a:extLst>
                    <a:ext uri="{FF2B5EF4-FFF2-40B4-BE49-F238E27FC236}">
                      <a16:creationId xmlns:a16="http://schemas.microsoft.com/office/drawing/2014/main" id="{BB47EB27-EDD5-4F20-9E00-F75D16A7DC14}"/>
                    </a:ext>
                  </a:extLst>
                </p:cNvPr>
                <p:cNvGrpSpPr/>
                <p:nvPr/>
              </p:nvGrpSpPr>
              <p:grpSpPr>
                <a:xfrm>
                  <a:off x="9989525" y="2076090"/>
                  <a:ext cx="1966733" cy="1287202"/>
                  <a:chOff x="9109416" y="1725618"/>
                  <a:chExt cx="1966733" cy="1287202"/>
                </a:xfrm>
              </p:grpSpPr>
              <p:pic>
                <p:nvPicPr>
                  <p:cNvPr id="101" name="圖片 100">
                    <a:extLst>
                      <a:ext uri="{FF2B5EF4-FFF2-40B4-BE49-F238E27FC236}">
                        <a16:creationId xmlns:a16="http://schemas.microsoft.com/office/drawing/2014/main" id="{46F57ED4-8F61-4F1D-9A4B-7A369881CA3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duotone>
                      <a:schemeClr val="accent2">
                        <a:shade val="45000"/>
                        <a:satMod val="135000"/>
                      </a:schemeClr>
                      <a:prstClr val="white"/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9471" b="96100" l="10000" r="90000">
                                <a14:foregroundMark x1="13889" y1="21170" x2="13889" y2="21170"/>
                                <a14:foregroundMark x1="24444" y1="24234" x2="24444" y2="24234"/>
                                <a14:foregroundMark x1="30000" y1="22006" x2="30000" y2="22006"/>
                                <a14:foregroundMark x1="39722" y1="81616" x2="39722" y2="81616"/>
                                <a14:foregroundMark x1="19444" y1="92201" x2="19444" y2="92201"/>
                                <a14:foregroundMark x1="28889" y1="96100" x2="28889" y2="96100"/>
                                <a14:foregroundMark x1="23056" y1="79666" x2="23056" y2="79666"/>
                                <a14:foregroundMark x1="75556" y1="10306" x2="75556" y2="10306"/>
                                <a14:foregroundMark x1="76667" y1="9749" x2="76667" y2="9749"/>
                                <a14:foregroundMark x1="23333" y1="9749" x2="23333" y2="9749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484166" y="1960964"/>
                    <a:ext cx="1054786" cy="1051856"/>
                  </a:xfrm>
                  <a:prstGeom prst="rect">
                    <a:avLst/>
                  </a:prstGeom>
                </p:spPr>
              </p:pic>
              <p:sp>
                <p:nvSpPr>
                  <p:cNvPr id="102" name="文字方塊 101">
                    <a:extLst>
                      <a:ext uri="{FF2B5EF4-FFF2-40B4-BE49-F238E27FC236}">
                        <a16:creationId xmlns:a16="http://schemas.microsoft.com/office/drawing/2014/main" id="{6026EC5B-D77C-4B0B-9B5A-440A28FE98C9}"/>
                      </a:ext>
                    </a:extLst>
                  </p:cNvPr>
                  <p:cNvSpPr txBox="1"/>
                  <p:nvPr/>
                </p:nvSpPr>
                <p:spPr>
                  <a:xfrm>
                    <a:off x="9109416" y="1725618"/>
                    <a:ext cx="1966733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TW" sz="1600" b="1" dirty="0">
                        <a:solidFill>
                          <a:srgbClr val="C35710"/>
                        </a:solidFill>
                      </a:rPr>
                      <a:t>Tool:</a:t>
                    </a:r>
                    <a:r>
                      <a:rPr lang="zh-TW" altLang="en-US" sz="1600" b="1" dirty="0">
                        <a:solidFill>
                          <a:srgbClr val="C35710"/>
                        </a:solidFill>
                      </a:rPr>
                      <a:t> </a:t>
                    </a:r>
                    <a:r>
                      <a:rPr lang="en-US" altLang="zh-TW" sz="1600" b="1" dirty="0">
                        <a:solidFill>
                          <a:srgbClr val="C35710"/>
                        </a:solidFill>
                      </a:rPr>
                      <a:t>Web Search</a:t>
                    </a:r>
                    <a:endParaRPr lang="zh-TW" altLang="en-US" sz="1600" b="1" dirty="0">
                      <a:solidFill>
                        <a:srgbClr val="C35710"/>
                      </a:solidFill>
                    </a:endParaRPr>
                  </a:p>
                </p:txBody>
              </p:sp>
            </p:grpSp>
            <p:sp>
              <p:nvSpPr>
                <p:cNvPr id="96" name="矩形: 圓角 95">
                  <a:extLst>
                    <a:ext uri="{FF2B5EF4-FFF2-40B4-BE49-F238E27FC236}">
                      <a16:creationId xmlns:a16="http://schemas.microsoft.com/office/drawing/2014/main" id="{8A1BD9F8-814A-4C87-9F5D-63EAE81E7F0C}"/>
                    </a:ext>
                  </a:extLst>
                </p:cNvPr>
                <p:cNvSpPr/>
                <p:nvPr/>
              </p:nvSpPr>
              <p:spPr>
                <a:xfrm>
                  <a:off x="8234324" y="1263294"/>
                  <a:ext cx="4021081" cy="4817490"/>
                </a:xfrm>
                <a:prstGeom prst="roundRect">
                  <a:avLst/>
                </a:prstGeom>
                <a:noFill/>
                <a:ln w="381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7" name="文字方塊 96">
                  <a:extLst>
                    <a:ext uri="{FF2B5EF4-FFF2-40B4-BE49-F238E27FC236}">
                      <a16:creationId xmlns:a16="http://schemas.microsoft.com/office/drawing/2014/main" id="{C4F069FF-C429-43FE-8859-7FDB9E3D2CD2}"/>
                    </a:ext>
                  </a:extLst>
                </p:cNvPr>
                <p:cNvSpPr txBox="1"/>
                <p:nvPr/>
              </p:nvSpPr>
              <p:spPr>
                <a:xfrm>
                  <a:off x="8360110" y="667564"/>
                  <a:ext cx="36614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600" b="1" dirty="0">
                      <a:ea typeface="微軟正黑體" panose="020B0604030504040204" pitchFamily="34" charset="-120"/>
                    </a:rPr>
                    <a:t>Q</a:t>
                  </a:r>
                  <a:r>
                    <a:rPr lang="zh-TW" altLang="en-US" sz="1600" b="1" dirty="0">
                      <a:ea typeface="微軟正黑體" panose="020B0604030504040204" pitchFamily="34" charset="-120"/>
                    </a:rPr>
                    <a:t>：查詢交大的交通資訊並做成 </a:t>
                  </a:r>
                  <a:r>
                    <a:rPr lang="en-US" altLang="zh-TW" sz="1600" b="1" dirty="0">
                      <a:ea typeface="微軟正黑體" panose="020B0604030504040204" pitchFamily="34" charset="-120"/>
                    </a:rPr>
                    <a:t>PPT</a:t>
                  </a:r>
                  <a:endParaRPr lang="zh-TW" altLang="en-US" sz="1600" b="1" dirty="0">
                    <a:ea typeface="微軟正黑體" panose="020B0604030504040204" pitchFamily="34" charset="-120"/>
                  </a:endParaRPr>
                </a:p>
              </p:txBody>
            </p:sp>
            <p:cxnSp>
              <p:nvCxnSpPr>
                <p:cNvPr id="99" name="接點: 肘形 98">
                  <a:extLst>
                    <a:ext uri="{FF2B5EF4-FFF2-40B4-BE49-F238E27FC236}">
                      <a16:creationId xmlns:a16="http://schemas.microsoft.com/office/drawing/2014/main" id="{7D182315-21D9-4982-984C-385CFB74D657}"/>
                    </a:ext>
                  </a:extLst>
                </p:cNvPr>
                <p:cNvCxnSpPr>
                  <a:cxnSpLocks/>
                  <a:stCxn id="97" idx="2"/>
                  <a:endCxn id="103" idx="0"/>
                </p:cNvCxnSpPr>
                <p:nvPr/>
              </p:nvCxnSpPr>
              <p:spPr>
                <a:xfrm rot="5400000">
                  <a:off x="9491371" y="793436"/>
                  <a:ext cx="486785" cy="912149"/>
                </a:xfrm>
                <a:prstGeom prst="bentConnector3">
                  <a:avLst>
                    <a:gd name="adj1" fmla="val 34508"/>
                  </a:avLst>
                </a:prstGeom>
                <a:ln w="28575">
                  <a:solidFill>
                    <a:schemeClr val="tx1">
                      <a:lumMod val="65000"/>
                      <a:lumOff val="3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95C36F99-C1DD-4E91-9F53-26CCCBB0417B}"/>
                  </a:ext>
                </a:extLst>
              </p:cNvPr>
              <p:cNvSpPr txBox="1"/>
              <p:nvPr/>
            </p:nvSpPr>
            <p:spPr>
              <a:xfrm>
                <a:off x="2500598" y="4087608"/>
                <a:ext cx="20973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35710"/>
                    </a:solidFill>
                  </a:rPr>
                  <a:t>Tool:</a:t>
                </a:r>
                <a:r>
                  <a:rPr lang="zh-TW" altLang="en-US" b="1" dirty="0">
                    <a:solidFill>
                      <a:srgbClr val="C35710"/>
                    </a:solidFill>
                  </a:rPr>
                  <a:t> </a:t>
                </a:r>
                <a:r>
                  <a:rPr lang="en-US" altLang="zh-TW" b="1" dirty="0">
                    <a:solidFill>
                      <a:srgbClr val="C35710"/>
                    </a:solidFill>
                  </a:rPr>
                  <a:t>PPT Creator</a:t>
                </a:r>
                <a:endParaRPr lang="zh-TW" altLang="en-US" b="1" dirty="0">
                  <a:solidFill>
                    <a:srgbClr val="C35710"/>
                  </a:solidFill>
                </a:endParaRPr>
              </a:p>
            </p:txBody>
          </p:sp>
        </p:grpSp>
        <p:pic>
          <p:nvPicPr>
            <p:cNvPr id="111" name="圖片 110">
              <a:extLst>
                <a:ext uri="{FF2B5EF4-FFF2-40B4-BE49-F238E27FC236}">
                  <a16:creationId xmlns:a16="http://schemas.microsoft.com/office/drawing/2014/main" id="{04086649-9C2F-42E4-BEC9-797B332929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9471" b="96100" l="10000" r="90000">
                          <a14:foregroundMark x1="13889" y1="21170" x2="13889" y2="21170"/>
                          <a14:foregroundMark x1="24444" y1="24234" x2="24444" y2="24234"/>
                          <a14:foregroundMark x1="30000" y1="22006" x2="30000" y2="22006"/>
                          <a14:foregroundMark x1="39722" y1="81616" x2="39722" y2="81616"/>
                          <a14:foregroundMark x1="19444" y1="92201" x2="19444" y2="92201"/>
                          <a14:foregroundMark x1="28889" y1="96100" x2="28889" y2="96100"/>
                          <a14:foregroundMark x1="23056" y1="79666" x2="23056" y2="79666"/>
                          <a14:foregroundMark x1="75556" y1="10306" x2="75556" y2="10306"/>
                          <a14:foregroundMark x1="76667" y1="9749" x2="76667" y2="9749"/>
                          <a14:foregroundMark x1="23333" y1="9749" x2="23333" y2="974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950285" y="3600403"/>
              <a:ext cx="1054786" cy="1051856"/>
            </a:xfrm>
            <a:prstGeom prst="rect">
              <a:avLst/>
            </a:prstGeom>
          </p:spPr>
        </p:pic>
        <p:cxnSp>
          <p:nvCxnSpPr>
            <p:cNvPr id="112" name="接點: 肘形 111">
              <a:extLst>
                <a:ext uri="{FF2B5EF4-FFF2-40B4-BE49-F238E27FC236}">
                  <a16:creationId xmlns:a16="http://schemas.microsoft.com/office/drawing/2014/main" id="{BB67B596-A1D1-4731-8F26-D201D5363120}"/>
                </a:ext>
              </a:extLst>
            </p:cNvPr>
            <p:cNvCxnSpPr>
              <a:cxnSpLocks/>
              <a:stCxn id="103" idx="2"/>
              <a:endCxn id="101" idx="1"/>
            </p:cNvCxnSpPr>
            <p:nvPr/>
          </p:nvCxnSpPr>
          <p:spPr>
            <a:xfrm rot="16200000" flipH="1">
              <a:off x="7265144" y="1806133"/>
              <a:ext cx="184031" cy="1085587"/>
            </a:xfrm>
            <a:prstGeom prst="bentConnector2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接點: 肘形 115">
              <a:extLst>
                <a:ext uri="{FF2B5EF4-FFF2-40B4-BE49-F238E27FC236}">
                  <a16:creationId xmlns:a16="http://schemas.microsoft.com/office/drawing/2014/main" id="{64E56258-CE61-41C7-B1C9-6FF8BAF38B79}"/>
                </a:ext>
              </a:extLst>
            </p:cNvPr>
            <p:cNvCxnSpPr>
              <a:cxnSpLocks/>
              <a:endCxn id="133" idx="0"/>
            </p:cNvCxnSpPr>
            <p:nvPr/>
          </p:nvCxnSpPr>
          <p:spPr>
            <a:xfrm rot="10800000" flipV="1">
              <a:off x="6835071" y="2567755"/>
              <a:ext cx="1000059" cy="205401"/>
            </a:xfrm>
            <a:prstGeom prst="bentConnector2">
              <a:avLst/>
            </a:prstGeom>
            <a:ln w="28575">
              <a:solidFill>
                <a:srgbClr val="C3571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接點: 肘形 123">
              <a:extLst>
                <a:ext uri="{FF2B5EF4-FFF2-40B4-BE49-F238E27FC236}">
                  <a16:creationId xmlns:a16="http://schemas.microsoft.com/office/drawing/2014/main" id="{E3DEBAAA-6899-44EB-A80C-92301FB87862}"/>
                </a:ext>
              </a:extLst>
            </p:cNvPr>
            <p:cNvCxnSpPr>
              <a:cxnSpLocks/>
              <a:endCxn id="111" idx="1"/>
            </p:cNvCxnSpPr>
            <p:nvPr/>
          </p:nvCxnSpPr>
          <p:spPr>
            <a:xfrm rot="16200000" flipH="1">
              <a:off x="7312574" y="3488619"/>
              <a:ext cx="130481" cy="1144941"/>
            </a:xfrm>
            <a:prstGeom prst="bentConnector2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接點: 肘形 130">
              <a:extLst>
                <a:ext uri="{FF2B5EF4-FFF2-40B4-BE49-F238E27FC236}">
                  <a16:creationId xmlns:a16="http://schemas.microsoft.com/office/drawing/2014/main" id="{F120C74F-BD9B-4B41-BAFE-CF15AB62E904}"/>
                </a:ext>
              </a:extLst>
            </p:cNvPr>
            <p:cNvCxnSpPr>
              <a:cxnSpLocks/>
              <a:endCxn id="136" idx="0"/>
            </p:cNvCxnSpPr>
            <p:nvPr/>
          </p:nvCxnSpPr>
          <p:spPr>
            <a:xfrm rot="10800000" flipV="1">
              <a:off x="6821826" y="4262575"/>
              <a:ext cx="1115215" cy="189955"/>
            </a:xfrm>
            <a:prstGeom prst="bentConnector2">
              <a:avLst/>
            </a:prstGeom>
            <a:ln w="28575">
              <a:solidFill>
                <a:srgbClr val="C3571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3" name="圖片 132">
              <a:extLst>
                <a:ext uri="{FF2B5EF4-FFF2-40B4-BE49-F238E27FC236}">
                  <a16:creationId xmlns:a16="http://schemas.microsoft.com/office/drawing/2014/main" id="{5884C05E-A3E8-4A92-A1B3-F114A7691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5B9BD5">
                  <a:shade val="45000"/>
                  <a:satMod val="135000"/>
                </a:srgb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211" b="93421" l="7483" r="89796">
                          <a14:foregroundMark x1="7483" y1="47368" x2="7483" y2="47368"/>
                          <a14:foregroundMark x1="31973" y1="44079" x2="31973" y2="44079"/>
                          <a14:foregroundMark x1="62585" y1="51974" x2="62585" y2="51974"/>
                          <a14:foregroundMark x1="63265" y1="12500" x2="63265" y2="12500"/>
                          <a14:foregroundMark x1="42177" y1="90789" x2="42177" y2="90789"/>
                          <a14:foregroundMark x1="62585" y1="93421" x2="62585" y2="93421"/>
                          <a14:foregroundMark x1="42857" y1="89474" x2="42857" y2="8947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273941" y="2773157"/>
              <a:ext cx="1122258" cy="1160430"/>
            </a:xfrm>
            <a:prstGeom prst="rect">
              <a:avLst/>
            </a:prstGeom>
          </p:spPr>
        </p:pic>
        <p:pic>
          <p:nvPicPr>
            <p:cNvPr id="136" name="圖片 135">
              <a:extLst>
                <a:ext uri="{FF2B5EF4-FFF2-40B4-BE49-F238E27FC236}">
                  <a16:creationId xmlns:a16="http://schemas.microsoft.com/office/drawing/2014/main" id="{BD046F42-086B-41B1-AB13-B3B6058F33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5B9BD5">
                  <a:shade val="45000"/>
                  <a:satMod val="135000"/>
                </a:srgb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211" b="93421" l="7483" r="89796">
                          <a14:foregroundMark x1="7483" y1="47368" x2="7483" y2="47368"/>
                          <a14:foregroundMark x1="31973" y1="44079" x2="31973" y2="44079"/>
                          <a14:foregroundMark x1="62585" y1="51974" x2="62585" y2="51974"/>
                          <a14:foregroundMark x1="63265" y1="12500" x2="63265" y2="12500"/>
                          <a14:foregroundMark x1="42177" y1="90789" x2="42177" y2="90789"/>
                          <a14:foregroundMark x1="62585" y1="93421" x2="62585" y2="93421"/>
                          <a14:foregroundMark x1="42857" y1="89474" x2="42857" y2="8947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260696" y="4452531"/>
              <a:ext cx="1122258" cy="1160430"/>
            </a:xfrm>
            <a:prstGeom prst="rect">
              <a:avLst/>
            </a:prstGeom>
          </p:spPr>
        </p:pic>
        <p:sp>
          <p:nvSpPr>
            <p:cNvPr id="141" name="文字方塊 140">
              <a:extLst>
                <a:ext uri="{FF2B5EF4-FFF2-40B4-BE49-F238E27FC236}">
                  <a16:creationId xmlns:a16="http://schemas.microsoft.com/office/drawing/2014/main" id="{A9A2D6D0-EB4A-473C-910D-73A77BBA7E6A}"/>
                </a:ext>
              </a:extLst>
            </p:cNvPr>
            <p:cNvSpPr txBox="1"/>
            <p:nvPr/>
          </p:nvSpPr>
          <p:spPr>
            <a:xfrm>
              <a:off x="5448141" y="5936486"/>
              <a:ext cx="51475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b="1" dirty="0">
                  <a:ea typeface="微軟正黑體" panose="020B0604030504040204" pitchFamily="34" charset="-120"/>
                </a:rPr>
                <a:t>A</a:t>
              </a:r>
              <a:r>
                <a:rPr lang="zh-TW" altLang="en-US" sz="1600" b="1" dirty="0">
                  <a:ea typeface="微軟正黑體" panose="020B0604030504040204" pitchFamily="34" charset="-120"/>
                </a:rPr>
                <a:t>：以下是交大的交通資訊 </a:t>
              </a:r>
              <a:r>
                <a:rPr lang="en-US" altLang="zh-TW" sz="1600" b="1" dirty="0">
                  <a:ea typeface="微軟正黑體" panose="020B0604030504040204" pitchFamily="34" charset="-120"/>
                </a:rPr>
                <a:t>…</a:t>
              </a:r>
              <a:r>
                <a:rPr lang="zh-TW" altLang="en-US" sz="1600" b="1" dirty="0">
                  <a:ea typeface="微軟正黑體" panose="020B0604030504040204" pitchFamily="34" charset="-120"/>
                </a:rPr>
                <a:t> </a:t>
              </a:r>
              <a:r>
                <a:rPr lang="en-US" altLang="zh-TW" sz="1600" b="1" dirty="0">
                  <a:ea typeface="微軟正黑體" panose="020B0604030504040204" pitchFamily="34" charset="-120"/>
                </a:rPr>
                <a:t>PPT</a:t>
              </a:r>
              <a:r>
                <a:rPr lang="zh-TW" altLang="en-US" sz="1600" b="1" dirty="0">
                  <a:ea typeface="微軟正黑體" panose="020B0604030504040204" pitchFamily="34" charset="-120"/>
                </a:rPr>
                <a:t>已生成完畢，存放在 </a:t>
              </a:r>
              <a:r>
                <a:rPr lang="en-US" altLang="zh-TW" sz="1600" b="1" dirty="0">
                  <a:ea typeface="微軟正黑體" panose="020B0604030504040204" pitchFamily="34" charset="-120"/>
                </a:rPr>
                <a:t>…</a:t>
              </a:r>
              <a:endParaRPr lang="zh-TW" altLang="en-US" sz="1600" b="1" dirty="0">
                <a:ea typeface="微軟正黑體" panose="020B0604030504040204" pitchFamily="34" charset="-120"/>
              </a:endParaRPr>
            </a:p>
          </p:txBody>
        </p:sp>
        <p:cxnSp>
          <p:nvCxnSpPr>
            <p:cNvPr id="143" name="接點: 肘形 142">
              <a:extLst>
                <a:ext uri="{FF2B5EF4-FFF2-40B4-BE49-F238E27FC236}">
                  <a16:creationId xmlns:a16="http://schemas.microsoft.com/office/drawing/2014/main" id="{CC033058-B41F-4459-AD08-7A909AFE4CBB}"/>
                </a:ext>
              </a:extLst>
            </p:cNvPr>
            <p:cNvCxnSpPr>
              <a:cxnSpLocks/>
              <a:stCxn id="136" idx="2"/>
              <a:endCxn id="141" idx="0"/>
            </p:cNvCxnSpPr>
            <p:nvPr/>
          </p:nvCxnSpPr>
          <p:spPr>
            <a:xfrm rot="16200000" flipH="1">
              <a:off x="7260118" y="5174668"/>
              <a:ext cx="323525" cy="1200110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文字方塊 147">
              <a:extLst>
                <a:ext uri="{FF2B5EF4-FFF2-40B4-BE49-F238E27FC236}">
                  <a16:creationId xmlns:a16="http://schemas.microsoft.com/office/drawing/2014/main" id="{12AD7F35-3452-4EEB-B9BE-6DFD643982D9}"/>
                </a:ext>
              </a:extLst>
            </p:cNvPr>
            <p:cNvSpPr txBox="1"/>
            <p:nvPr/>
          </p:nvSpPr>
          <p:spPr>
            <a:xfrm>
              <a:off x="5770002" y="1500573"/>
              <a:ext cx="6036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b="1" dirty="0">
                  <a:solidFill>
                    <a:srgbClr val="3471A7"/>
                  </a:solidFill>
                </a:rPr>
                <a:t>LLM</a:t>
              </a:r>
              <a:endParaRPr lang="zh-TW" altLang="en-US" sz="1600" b="1" dirty="0">
                <a:solidFill>
                  <a:srgbClr val="3471A7"/>
                </a:solidFill>
              </a:endParaRPr>
            </a:p>
          </p:txBody>
        </p:sp>
        <p:sp>
          <p:nvSpPr>
            <p:cNvPr id="149" name="文字方塊 148">
              <a:extLst>
                <a:ext uri="{FF2B5EF4-FFF2-40B4-BE49-F238E27FC236}">
                  <a16:creationId xmlns:a16="http://schemas.microsoft.com/office/drawing/2014/main" id="{8F54A498-4333-4763-8367-426F75604239}"/>
                </a:ext>
              </a:extLst>
            </p:cNvPr>
            <p:cNvSpPr txBox="1"/>
            <p:nvPr/>
          </p:nvSpPr>
          <p:spPr>
            <a:xfrm>
              <a:off x="5794184" y="3226254"/>
              <a:ext cx="6036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b="1" dirty="0">
                  <a:solidFill>
                    <a:srgbClr val="3471A7"/>
                  </a:solidFill>
                </a:rPr>
                <a:t>LLM</a:t>
              </a:r>
              <a:endParaRPr lang="zh-TW" altLang="en-US" sz="1600" b="1" dirty="0">
                <a:solidFill>
                  <a:srgbClr val="3471A7"/>
                </a:solidFill>
              </a:endParaRPr>
            </a:p>
          </p:txBody>
        </p:sp>
        <p:sp>
          <p:nvSpPr>
            <p:cNvPr id="150" name="文字方塊 149">
              <a:extLst>
                <a:ext uri="{FF2B5EF4-FFF2-40B4-BE49-F238E27FC236}">
                  <a16:creationId xmlns:a16="http://schemas.microsoft.com/office/drawing/2014/main" id="{327B5EB0-29EE-48D0-920E-660FCDD457AC}"/>
                </a:ext>
              </a:extLst>
            </p:cNvPr>
            <p:cNvSpPr txBox="1"/>
            <p:nvPr/>
          </p:nvSpPr>
          <p:spPr>
            <a:xfrm>
              <a:off x="5776287" y="4534150"/>
              <a:ext cx="6036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b="1" dirty="0">
                  <a:solidFill>
                    <a:srgbClr val="3471A7"/>
                  </a:solidFill>
                </a:rPr>
                <a:t>LLM</a:t>
              </a:r>
              <a:endParaRPr lang="zh-TW" altLang="en-US" sz="1600" b="1" dirty="0">
                <a:solidFill>
                  <a:srgbClr val="3471A7"/>
                </a:solidFill>
              </a:endParaRPr>
            </a:p>
          </p:txBody>
        </p:sp>
      </p:grpSp>
      <p:grpSp>
        <p:nvGrpSpPr>
          <p:cNvPr id="157" name="群組 156">
            <a:extLst>
              <a:ext uri="{FF2B5EF4-FFF2-40B4-BE49-F238E27FC236}">
                <a16:creationId xmlns:a16="http://schemas.microsoft.com/office/drawing/2014/main" id="{40B75C99-700A-4272-ACA7-9510A319352B}"/>
              </a:ext>
            </a:extLst>
          </p:cNvPr>
          <p:cNvGrpSpPr/>
          <p:nvPr/>
        </p:nvGrpSpPr>
        <p:grpSpPr>
          <a:xfrm>
            <a:off x="-185734" y="1120525"/>
            <a:ext cx="7212058" cy="5028453"/>
            <a:chOff x="264454" y="863250"/>
            <a:chExt cx="7212058" cy="5028453"/>
          </a:xfrm>
        </p:grpSpPr>
        <p:grpSp>
          <p:nvGrpSpPr>
            <p:cNvPr id="158" name="群組 157">
              <a:extLst>
                <a:ext uri="{FF2B5EF4-FFF2-40B4-BE49-F238E27FC236}">
                  <a16:creationId xmlns:a16="http://schemas.microsoft.com/office/drawing/2014/main" id="{14E38AAB-AE96-4497-9D90-1B1A6D9ECBD2}"/>
                </a:ext>
              </a:extLst>
            </p:cNvPr>
            <p:cNvGrpSpPr/>
            <p:nvPr/>
          </p:nvGrpSpPr>
          <p:grpSpPr>
            <a:xfrm>
              <a:off x="264454" y="863250"/>
              <a:ext cx="7212058" cy="5028453"/>
              <a:chOff x="7688075" y="514445"/>
              <a:chExt cx="7212058" cy="5028453"/>
            </a:xfrm>
          </p:grpSpPr>
          <p:grpSp>
            <p:nvGrpSpPr>
              <p:cNvPr id="165" name="群組 164">
                <a:extLst>
                  <a:ext uri="{FF2B5EF4-FFF2-40B4-BE49-F238E27FC236}">
                    <a16:creationId xmlns:a16="http://schemas.microsoft.com/office/drawing/2014/main" id="{1AEAAAA6-30BF-483D-85CB-DC31E6AFB4C9}"/>
                  </a:ext>
                </a:extLst>
              </p:cNvPr>
              <p:cNvGrpSpPr/>
              <p:nvPr/>
            </p:nvGrpSpPr>
            <p:grpSpPr>
              <a:xfrm>
                <a:off x="8506270" y="1263295"/>
                <a:ext cx="1739116" cy="1550317"/>
                <a:chOff x="999740" y="3537323"/>
                <a:chExt cx="1739116" cy="1550317"/>
              </a:xfrm>
            </p:grpSpPr>
            <p:pic>
              <p:nvPicPr>
                <p:cNvPr id="176" name="圖片 175">
                  <a:extLst>
                    <a:ext uri="{FF2B5EF4-FFF2-40B4-BE49-F238E27FC236}">
                      <a16:creationId xmlns:a16="http://schemas.microsoft.com/office/drawing/2014/main" id="{464A51E5-786D-4CD9-A28A-D7C17EF120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duotone>
                    <a:srgbClr val="5B9BD5">
                      <a:shade val="45000"/>
                      <a:satMod val="135000"/>
                    </a:srgb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9211" b="93421" l="7483" r="89796">
                              <a14:foregroundMark x1="7483" y1="47368" x2="7483" y2="47368"/>
                              <a14:foregroundMark x1="31973" y1="44079" x2="31973" y2="44079"/>
                              <a14:foregroundMark x1="62585" y1="51974" x2="62585" y2="51974"/>
                              <a14:foregroundMark x1="63265" y1="12500" x2="63265" y2="12500"/>
                              <a14:foregroundMark x1="42177" y1="90789" x2="42177" y2="90789"/>
                              <a14:foregroundMark x1="62585" y1="93421" x2="62585" y2="93421"/>
                              <a14:foregroundMark x1="42857" y1="89474" x2="42857" y2="89474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7179" y="3792513"/>
                  <a:ext cx="1252524" cy="1295127"/>
                </a:xfrm>
                <a:prstGeom prst="rect">
                  <a:avLst/>
                </a:prstGeom>
              </p:spPr>
            </p:pic>
            <p:sp>
              <p:nvSpPr>
                <p:cNvPr id="177" name="文字方塊 176">
                  <a:extLst>
                    <a:ext uri="{FF2B5EF4-FFF2-40B4-BE49-F238E27FC236}">
                      <a16:creationId xmlns:a16="http://schemas.microsoft.com/office/drawing/2014/main" id="{B64322EC-D064-4585-957F-CAEBCA6B3204}"/>
                    </a:ext>
                  </a:extLst>
                </p:cNvPr>
                <p:cNvSpPr txBox="1"/>
                <p:nvPr/>
              </p:nvSpPr>
              <p:spPr>
                <a:xfrm>
                  <a:off x="999740" y="3537323"/>
                  <a:ext cx="173911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600" b="1" dirty="0">
                      <a:solidFill>
                        <a:srgbClr val="3471A7"/>
                      </a:solidFill>
                    </a:rPr>
                    <a:t>LLM: Planning</a:t>
                  </a:r>
                  <a:endParaRPr lang="zh-TW" altLang="en-US" sz="1600" b="1" dirty="0">
                    <a:solidFill>
                      <a:srgbClr val="3471A7"/>
                    </a:solidFill>
                  </a:endParaRPr>
                </a:p>
              </p:txBody>
            </p:sp>
          </p:grpSp>
          <p:grpSp>
            <p:nvGrpSpPr>
              <p:cNvPr id="166" name="群組 165">
                <a:extLst>
                  <a:ext uri="{FF2B5EF4-FFF2-40B4-BE49-F238E27FC236}">
                    <a16:creationId xmlns:a16="http://schemas.microsoft.com/office/drawing/2014/main" id="{293AB969-5D0F-499C-89C3-001D14E6A058}"/>
                  </a:ext>
                </a:extLst>
              </p:cNvPr>
              <p:cNvGrpSpPr/>
              <p:nvPr/>
            </p:nvGrpSpPr>
            <p:grpSpPr>
              <a:xfrm>
                <a:off x="8131065" y="3080195"/>
                <a:ext cx="2324327" cy="1582993"/>
                <a:chOff x="7250956" y="2729723"/>
                <a:chExt cx="2324327" cy="1582993"/>
              </a:xfrm>
            </p:grpSpPr>
            <p:pic>
              <p:nvPicPr>
                <p:cNvPr id="174" name="圖片 173">
                  <a:extLst>
                    <a:ext uri="{FF2B5EF4-FFF2-40B4-BE49-F238E27FC236}">
                      <a16:creationId xmlns:a16="http://schemas.microsoft.com/office/drawing/2014/main" id="{7EEDF3B3-4475-450B-8961-911AAC7935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duotone>
                    <a:schemeClr val="accent2">
                      <a:shade val="45000"/>
                      <a:satMod val="135000"/>
                    </a:scheme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9471" b="96100" l="10000" r="90000">
                              <a14:foregroundMark x1="13889" y1="21170" x2="13889" y2="21170"/>
                              <a14:foregroundMark x1="24444" y1="24234" x2="24444" y2="24234"/>
                              <a14:foregroundMark x1="30000" y1="22006" x2="30000" y2="22006"/>
                              <a14:foregroundMark x1="39722" y1="81616" x2="39722" y2="81616"/>
                              <a14:foregroundMark x1="19444" y1="92201" x2="19444" y2="92201"/>
                              <a14:foregroundMark x1="28889" y1="96100" x2="28889" y2="96100"/>
                              <a14:foregroundMark x1="23056" y1="79666" x2="23056" y2="79666"/>
                              <a14:foregroundMark x1="75556" y1="10306" x2="75556" y2="10306"/>
                              <a14:foregroundMark x1="76667" y1="9749" x2="76667" y2="9749"/>
                              <a14:foregroundMark x1="23333" y1="9749" x2="23333" y2="9749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9226" y="3078528"/>
                  <a:ext cx="1237626" cy="1234188"/>
                </a:xfrm>
                <a:prstGeom prst="rect">
                  <a:avLst/>
                </a:prstGeom>
              </p:spPr>
            </p:pic>
            <p:sp>
              <p:nvSpPr>
                <p:cNvPr id="175" name="文字方塊 174">
                  <a:extLst>
                    <a:ext uri="{FF2B5EF4-FFF2-40B4-BE49-F238E27FC236}">
                      <a16:creationId xmlns:a16="http://schemas.microsoft.com/office/drawing/2014/main" id="{2ECEA68E-3A33-4F06-8AC9-4E1771CE3023}"/>
                    </a:ext>
                  </a:extLst>
                </p:cNvPr>
                <p:cNvSpPr txBox="1"/>
                <p:nvPr/>
              </p:nvSpPr>
              <p:spPr>
                <a:xfrm>
                  <a:off x="7250956" y="2729723"/>
                  <a:ext cx="232432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600" b="1" dirty="0">
                      <a:solidFill>
                        <a:srgbClr val="C35710"/>
                      </a:solidFill>
                    </a:rPr>
                    <a:t>1. Tool:</a:t>
                  </a:r>
                  <a:r>
                    <a:rPr lang="zh-TW" altLang="en-US" sz="1600" b="1" dirty="0">
                      <a:solidFill>
                        <a:srgbClr val="C35710"/>
                      </a:solidFill>
                    </a:rPr>
                    <a:t> </a:t>
                  </a:r>
                  <a:r>
                    <a:rPr lang="en-US" altLang="zh-TW" sz="1600" b="1" dirty="0">
                      <a:solidFill>
                        <a:srgbClr val="C35710"/>
                      </a:solidFill>
                    </a:rPr>
                    <a:t>Web Search</a:t>
                  </a:r>
                  <a:endParaRPr lang="zh-TW" altLang="en-US" sz="1600" b="1" dirty="0">
                    <a:solidFill>
                      <a:srgbClr val="C35710"/>
                    </a:solidFill>
                  </a:endParaRPr>
                </a:p>
              </p:txBody>
            </p:sp>
          </p:grpSp>
          <p:pic>
            <p:nvPicPr>
              <p:cNvPr id="167" name="圖片 166">
                <a:extLst>
                  <a:ext uri="{FF2B5EF4-FFF2-40B4-BE49-F238E27FC236}">
                    <a16:creationId xmlns:a16="http://schemas.microsoft.com/office/drawing/2014/main" id="{E34BCB76-CD16-453B-BFF7-9D15E3B645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rgbClr val="5B9BD5">
                    <a:shade val="45000"/>
                    <a:satMod val="135000"/>
                  </a:srgb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11" b="93421" l="7483" r="89796">
                            <a14:foregroundMark x1="7483" y1="47368" x2="7483" y2="47368"/>
                            <a14:foregroundMark x1="31973" y1="44079" x2="31973" y2="44079"/>
                            <a14:foregroundMark x1="62585" y1="51974" x2="62585" y2="51974"/>
                            <a14:foregroundMark x1="63265" y1="12500" x2="63265" y2="12500"/>
                            <a14:foregroundMark x1="42177" y1="90789" x2="42177" y2="90789"/>
                            <a14:foregroundMark x1="62585" y1="93421" x2="62585" y2="93421"/>
                            <a14:foregroundMark x1="42857" y1="89474" x2="42857" y2="89474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770455" y="3398530"/>
                <a:ext cx="1252524" cy="1295127"/>
              </a:xfrm>
              <a:prstGeom prst="rect">
                <a:avLst/>
              </a:prstGeom>
            </p:spPr>
          </p:pic>
          <p:cxnSp>
            <p:nvCxnSpPr>
              <p:cNvPr id="168" name="接點: 肘形 167">
                <a:extLst>
                  <a:ext uri="{FF2B5EF4-FFF2-40B4-BE49-F238E27FC236}">
                    <a16:creationId xmlns:a16="http://schemas.microsoft.com/office/drawing/2014/main" id="{6B8E91E6-8835-4B04-890B-6680D2C74812}"/>
                  </a:ext>
                </a:extLst>
              </p:cNvPr>
              <p:cNvCxnSpPr>
                <a:cxnSpLocks/>
                <a:stCxn id="176" idx="2"/>
                <a:endCxn id="175" idx="0"/>
              </p:cNvCxnSpPr>
              <p:nvPr/>
            </p:nvCxnSpPr>
            <p:spPr>
              <a:xfrm rot="16200000" flipH="1">
                <a:off x="9158309" y="2945274"/>
                <a:ext cx="266583" cy="3258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9" name="矩形: 圓角 168">
                <a:extLst>
                  <a:ext uri="{FF2B5EF4-FFF2-40B4-BE49-F238E27FC236}">
                    <a16:creationId xmlns:a16="http://schemas.microsoft.com/office/drawing/2014/main" id="{46E33BD4-F8EC-4622-A7FF-ACCC7F362296}"/>
                  </a:ext>
                </a:extLst>
              </p:cNvPr>
              <p:cNvSpPr/>
              <p:nvPr/>
            </p:nvSpPr>
            <p:spPr>
              <a:xfrm>
                <a:off x="8234324" y="969678"/>
                <a:ext cx="6095885" cy="4086545"/>
              </a:xfrm>
              <a:prstGeom prst="roundRect">
                <a:avLst/>
              </a:prstGeom>
              <a:noFill/>
              <a:ln w="381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0" name="文字方塊 169">
                <a:extLst>
                  <a:ext uri="{FF2B5EF4-FFF2-40B4-BE49-F238E27FC236}">
                    <a16:creationId xmlns:a16="http://schemas.microsoft.com/office/drawing/2014/main" id="{BC5A24C4-0224-45CA-B7B8-9F3E6E2925A9}"/>
                  </a:ext>
                </a:extLst>
              </p:cNvPr>
              <p:cNvSpPr txBox="1"/>
              <p:nvPr/>
            </p:nvSpPr>
            <p:spPr>
              <a:xfrm>
                <a:off x="9481174" y="514445"/>
                <a:ext cx="36614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600" b="1" dirty="0">
                    <a:ea typeface="微軟正黑體" panose="020B0604030504040204" pitchFamily="34" charset="-120"/>
                  </a:rPr>
                  <a:t>Q</a:t>
                </a:r>
                <a:r>
                  <a:rPr lang="zh-TW" altLang="en-US" sz="1600" b="1" dirty="0">
                    <a:ea typeface="微軟正黑體" panose="020B0604030504040204" pitchFamily="34" charset="-120"/>
                  </a:rPr>
                  <a:t>：查詢交大的交通資訊並做成 </a:t>
                </a:r>
                <a:r>
                  <a:rPr lang="en-US" altLang="zh-TW" sz="1600" b="1" dirty="0">
                    <a:ea typeface="微軟正黑體" panose="020B0604030504040204" pitchFamily="34" charset="-120"/>
                  </a:rPr>
                  <a:t>PPT</a:t>
                </a:r>
                <a:endParaRPr lang="zh-TW" altLang="en-US" sz="1600" b="1" dirty="0"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71" name="文字方塊 170">
                <a:extLst>
                  <a:ext uri="{FF2B5EF4-FFF2-40B4-BE49-F238E27FC236}">
                    <a16:creationId xmlns:a16="http://schemas.microsoft.com/office/drawing/2014/main" id="{13062B41-F246-478F-8147-E75B80EEAAF8}"/>
                  </a:ext>
                </a:extLst>
              </p:cNvPr>
              <p:cNvSpPr txBox="1"/>
              <p:nvPr/>
            </p:nvSpPr>
            <p:spPr>
              <a:xfrm>
                <a:off x="7688075" y="5204344"/>
                <a:ext cx="721205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600" b="1" dirty="0">
                    <a:ea typeface="微軟正黑體" panose="020B0604030504040204" pitchFamily="34" charset="-120"/>
                  </a:rPr>
                  <a:t>A</a:t>
                </a:r>
                <a:r>
                  <a:rPr lang="zh-TW" altLang="en-US" sz="1600" b="1" dirty="0">
                    <a:ea typeface="微軟正黑體" panose="020B0604030504040204" pitchFamily="34" charset="-120"/>
                  </a:rPr>
                  <a:t>：以下是交大的交通資訊 </a:t>
                </a:r>
                <a:r>
                  <a:rPr lang="en-US" altLang="zh-TW" sz="1600" b="1" dirty="0">
                    <a:ea typeface="微軟正黑體" panose="020B0604030504040204" pitchFamily="34" charset="-120"/>
                  </a:rPr>
                  <a:t>…</a:t>
                </a:r>
                <a:r>
                  <a:rPr lang="zh-TW" altLang="en-US" sz="1600" b="1" dirty="0">
                    <a:ea typeface="微軟正黑體" panose="020B0604030504040204" pitchFamily="34" charset="-120"/>
                  </a:rPr>
                  <a:t> </a:t>
                </a:r>
                <a:r>
                  <a:rPr lang="en-US" altLang="zh-TW" sz="1600" b="1" dirty="0">
                    <a:ea typeface="微軟正黑體" panose="020B0604030504040204" pitchFamily="34" charset="-120"/>
                  </a:rPr>
                  <a:t>PPT</a:t>
                </a:r>
                <a:r>
                  <a:rPr lang="zh-TW" altLang="en-US" sz="1600" b="1" dirty="0">
                    <a:ea typeface="微軟正黑體" panose="020B0604030504040204" pitchFamily="34" charset="-120"/>
                  </a:rPr>
                  <a:t>已生成完畢，存放在 </a:t>
                </a:r>
                <a:r>
                  <a:rPr lang="en-US" altLang="zh-TW" sz="1600" b="1" dirty="0">
                    <a:ea typeface="微軟正黑體" panose="020B0604030504040204" pitchFamily="34" charset="-120"/>
                  </a:rPr>
                  <a:t>…</a:t>
                </a:r>
                <a:endParaRPr lang="zh-TW" altLang="en-US" sz="1600" b="1" dirty="0">
                  <a:ea typeface="微軟正黑體" panose="020B0604030504040204" pitchFamily="34" charset="-120"/>
                </a:endParaRPr>
              </a:p>
            </p:txBody>
          </p:sp>
          <p:cxnSp>
            <p:nvCxnSpPr>
              <p:cNvPr id="172" name="接點: 肘形 171">
                <a:extLst>
                  <a:ext uri="{FF2B5EF4-FFF2-40B4-BE49-F238E27FC236}">
                    <a16:creationId xmlns:a16="http://schemas.microsoft.com/office/drawing/2014/main" id="{505D9FA4-26A2-43AD-B8D1-C49443C03549}"/>
                  </a:ext>
                </a:extLst>
              </p:cNvPr>
              <p:cNvCxnSpPr>
                <a:cxnSpLocks/>
                <a:stCxn id="170" idx="2"/>
                <a:endCxn id="177" idx="0"/>
              </p:cNvCxnSpPr>
              <p:nvPr/>
            </p:nvCxnSpPr>
            <p:spPr>
              <a:xfrm rot="5400000">
                <a:off x="10138717" y="90111"/>
                <a:ext cx="410296" cy="1936073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接點: 肘形 172">
                <a:extLst>
                  <a:ext uri="{FF2B5EF4-FFF2-40B4-BE49-F238E27FC236}">
                    <a16:creationId xmlns:a16="http://schemas.microsoft.com/office/drawing/2014/main" id="{853FE263-1231-458E-9517-621AE995D386}"/>
                  </a:ext>
                </a:extLst>
              </p:cNvPr>
              <p:cNvCxnSpPr>
                <a:cxnSpLocks/>
                <a:stCxn id="167" idx="2"/>
                <a:endCxn id="171" idx="0"/>
              </p:cNvCxnSpPr>
              <p:nvPr/>
            </p:nvCxnSpPr>
            <p:spPr>
              <a:xfrm rot="5400000">
                <a:off x="12090068" y="3897694"/>
                <a:ext cx="510687" cy="2102613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59" name="圖片 158">
              <a:extLst>
                <a:ext uri="{FF2B5EF4-FFF2-40B4-BE49-F238E27FC236}">
                  <a16:creationId xmlns:a16="http://schemas.microsoft.com/office/drawing/2014/main" id="{69B603FF-B6D4-4EC8-B50B-BF86626C18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9471" b="96100" l="10000" r="90000">
                          <a14:foregroundMark x1="13889" y1="21170" x2="13889" y2="21170"/>
                          <a14:foregroundMark x1="24444" y1="24234" x2="24444" y2="24234"/>
                          <a14:foregroundMark x1="30000" y1="22006" x2="30000" y2="22006"/>
                          <a14:foregroundMark x1="39722" y1="81616" x2="39722" y2="81616"/>
                          <a14:foregroundMark x1="19444" y1="92201" x2="19444" y2="92201"/>
                          <a14:foregroundMark x1="28889" y1="96100" x2="28889" y2="96100"/>
                          <a14:foregroundMark x1="23056" y1="79666" x2="23056" y2="79666"/>
                          <a14:foregroundMark x1="75556" y1="10306" x2="75556" y2="10306"/>
                          <a14:foregroundMark x1="76667" y1="9749" x2="76667" y2="9749"/>
                          <a14:foregroundMark x1="23333" y1="9749" x2="23333" y2="974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193128" y="3782672"/>
              <a:ext cx="1237626" cy="1234188"/>
            </a:xfrm>
            <a:prstGeom prst="rect">
              <a:avLst/>
            </a:prstGeom>
          </p:spPr>
        </p:pic>
        <p:sp>
          <p:nvSpPr>
            <p:cNvPr id="160" name="文字方塊 159">
              <a:extLst>
                <a:ext uri="{FF2B5EF4-FFF2-40B4-BE49-F238E27FC236}">
                  <a16:creationId xmlns:a16="http://schemas.microsoft.com/office/drawing/2014/main" id="{622B8A73-0105-4F0B-94B9-42DD71AE6FBB}"/>
                </a:ext>
              </a:extLst>
            </p:cNvPr>
            <p:cNvSpPr txBox="1"/>
            <p:nvPr/>
          </p:nvSpPr>
          <p:spPr>
            <a:xfrm>
              <a:off x="2768521" y="3429000"/>
              <a:ext cx="23243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b="1" dirty="0">
                  <a:solidFill>
                    <a:srgbClr val="C35710"/>
                  </a:solidFill>
                </a:rPr>
                <a:t>2. Tool:</a:t>
              </a:r>
              <a:r>
                <a:rPr lang="zh-TW" altLang="en-US" sz="1600" b="1" dirty="0">
                  <a:solidFill>
                    <a:srgbClr val="C35710"/>
                  </a:solidFill>
                </a:rPr>
                <a:t> </a:t>
              </a:r>
              <a:r>
                <a:rPr lang="en-US" altLang="zh-TW" sz="1600" b="1" dirty="0">
                  <a:solidFill>
                    <a:srgbClr val="C35710"/>
                  </a:solidFill>
                </a:rPr>
                <a:t>PPT Creator</a:t>
              </a:r>
              <a:endParaRPr lang="zh-TW" altLang="en-US" sz="1600" b="1" dirty="0">
                <a:solidFill>
                  <a:srgbClr val="C35710"/>
                </a:solidFill>
              </a:endParaRPr>
            </a:p>
          </p:txBody>
        </p:sp>
        <p:sp>
          <p:nvSpPr>
            <p:cNvPr id="161" name="文字方塊 160">
              <a:extLst>
                <a:ext uri="{FF2B5EF4-FFF2-40B4-BE49-F238E27FC236}">
                  <a16:creationId xmlns:a16="http://schemas.microsoft.com/office/drawing/2014/main" id="{CD7ED04C-3B9D-4C9D-9143-38F023C1E0D8}"/>
                </a:ext>
              </a:extLst>
            </p:cNvPr>
            <p:cNvSpPr txBox="1"/>
            <p:nvPr/>
          </p:nvSpPr>
          <p:spPr>
            <a:xfrm>
              <a:off x="5035342" y="3420689"/>
              <a:ext cx="18712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b="1" dirty="0">
                  <a:solidFill>
                    <a:srgbClr val="3471A7"/>
                  </a:solidFill>
                </a:rPr>
                <a:t>3. LLM: Summary</a:t>
              </a:r>
              <a:endParaRPr lang="zh-TW" altLang="en-US" sz="1600" b="1" dirty="0">
                <a:solidFill>
                  <a:srgbClr val="3471A7"/>
                </a:solidFill>
              </a:endParaRPr>
            </a:p>
          </p:txBody>
        </p:sp>
        <p:cxnSp>
          <p:nvCxnSpPr>
            <p:cNvPr id="162" name="直線單箭頭接點 161">
              <a:extLst>
                <a:ext uri="{FF2B5EF4-FFF2-40B4-BE49-F238E27FC236}">
                  <a16:creationId xmlns:a16="http://schemas.microsoft.com/office/drawing/2014/main" id="{25BB2410-1141-43E2-9903-86264B5E6ACE}"/>
                </a:ext>
              </a:extLst>
            </p:cNvPr>
            <p:cNvCxnSpPr>
              <a:stCxn id="174" idx="3"/>
              <a:endCxn id="159" idx="1"/>
            </p:cNvCxnSpPr>
            <p:nvPr/>
          </p:nvCxnSpPr>
          <p:spPr>
            <a:xfrm>
              <a:off x="2493340" y="4394899"/>
              <a:ext cx="699788" cy="4867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線單箭頭接點 162">
              <a:extLst>
                <a:ext uri="{FF2B5EF4-FFF2-40B4-BE49-F238E27FC236}">
                  <a16:creationId xmlns:a16="http://schemas.microsoft.com/office/drawing/2014/main" id="{5D8098CD-931F-46DE-9C98-BBFD7B416635}"/>
                </a:ext>
              </a:extLst>
            </p:cNvPr>
            <p:cNvCxnSpPr>
              <a:cxnSpLocks/>
              <a:stCxn id="159" idx="3"/>
              <a:endCxn id="167" idx="1"/>
            </p:cNvCxnSpPr>
            <p:nvPr/>
          </p:nvCxnSpPr>
          <p:spPr>
            <a:xfrm flipV="1">
              <a:off x="4430754" y="4394899"/>
              <a:ext cx="916080" cy="4867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文字方塊 163">
              <a:extLst>
                <a:ext uri="{FF2B5EF4-FFF2-40B4-BE49-F238E27FC236}">
                  <a16:creationId xmlns:a16="http://schemas.microsoft.com/office/drawing/2014/main" id="{F8FA421F-9392-4381-ADA9-9B10005C4588}"/>
                </a:ext>
              </a:extLst>
            </p:cNvPr>
            <p:cNvSpPr txBox="1"/>
            <p:nvPr/>
          </p:nvSpPr>
          <p:spPr>
            <a:xfrm>
              <a:off x="2628616" y="1982179"/>
              <a:ext cx="414196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>
                  <a:solidFill>
                    <a:srgbClr val="3471A7"/>
                  </a:solidFill>
                  <a:ea typeface="微軟正黑體" panose="020B0604030504040204" pitchFamily="34" charset="-120"/>
                </a:rPr>
                <a:t>規劃要做哪些步驟以完成目標：</a:t>
              </a:r>
              <a:endParaRPr lang="en-US" altLang="zh-TW" sz="1600" b="1" dirty="0">
                <a:solidFill>
                  <a:srgbClr val="3471A7"/>
                </a:solidFill>
                <a:ea typeface="微軟正黑體" panose="020B0604030504040204" pitchFamily="34" charset="-120"/>
              </a:endParaRPr>
            </a:p>
            <a:p>
              <a:pPr marL="342900" indent="-342900">
                <a:buAutoNum type="arabicPeriod"/>
              </a:pPr>
              <a:r>
                <a:rPr lang="zh-TW" altLang="en-US" sz="1600" dirty="0">
                  <a:ea typeface="微軟正黑體" panose="020B0604030504040204" pitchFamily="34" charset="-120"/>
                </a:rPr>
                <a:t>使用工具  </a:t>
              </a:r>
              <a:r>
                <a:rPr lang="en-US" altLang="zh-TW" sz="1600" dirty="0">
                  <a:ea typeface="微軟正黑體" panose="020B0604030504040204" pitchFamily="34" charset="-120"/>
                </a:rPr>
                <a:t>web search </a:t>
              </a:r>
              <a:r>
                <a:rPr lang="zh-TW" altLang="en-US" sz="1600" dirty="0">
                  <a:ea typeface="微軟正黑體" panose="020B0604030504040204" pitchFamily="34" charset="-120"/>
                </a:rPr>
                <a:t>查詢交大交通資訊</a:t>
              </a:r>
              <a:endParaRPr lang="en-US" altLang="zh-TW" sz="1600" dirty="0">
                <a:ea typeface="微軟正黑體" panose="020B0604030504040204" pitchFamily="34" charset="-120"/>
              </a:endParaRPr>
            </a:p>
            <a:p>
              <a:pPr marL="342900" indent="-342900">
                <a:buAutoNum type="arabicPeriod"/>
              </a:pPr>
              <a:r>
                <a:rPr lang="zh-TW" altLang="en-US" sz="1600" dirty="0">
                  <a:ea typeface="微軟正黑體" panose="020B0604030504040204" pitchFamily="34" charset="-120"/>
                </a:rPr>
                <a:t>使用工具 </a:t>
              </a:r>
              <a:r>
                <a:rPr lang="en-US" altLang="zh-TW" sz="1600" dirty="0">
                  <a:ea typeface="微軟正黑體" panose="020B0604030504040204" pitchFamily="34" charset="-120"/>
                </a:rPr>
                <a:t>PPT creator </a:t>
              </a:r>
              <a:r>
                <a:rPr lang="zh-TW" altLang="en-US" sz="1600" dirty="0">
                  <a:ea typeface="微軟正黑體" panose="020B0604030504040204" pitchFamily="34" charset="-120"/>
                </a:rPr>
                <a:t>生成 </a:t>
              </a:r>
              <a:r>
                <a:rPr lang="en-US" altLang="zh-TW" sz="1600" dirty="0">
                  <a:ea typeface="微軟正黑體" panose="020B0604030504040204" pitchFamily="34" charset="-120"/>
                </a:rPr>
                <a:t>PPT</a:t>
              </a:r>
            </a:p>
            <a:p>
              <a:pPr marL="342900" indent="-342900">
                <a:buAutoNum type="arabicPeriod"/>
              </a:pPr>
              <a:r>
                <a:rPr lang="zh-TW" altLang="en-US" sz="1600" dirty="0">
                  <a:ea typeface="微軟正黑體" panose="020B0604030504040204" pitchFamily="34" charset="-120"/>
                </a:rPr>
                <a:t>總結查詢得到的資訊 </a:t>
              </a:r>
              <a:r>
                <a:rPr lang="en-US" altLang="zh-TW" sz="1600" dirty="0">
                  <a:ea typeface="微軟正黑體" panose="020B0604030504040204" pitchFamily="34" charset="-120"/>
                </a:rPr>
                <a:t>&amp;</a:t>
              </a:r>
              <a:r>
                <a:rPr lang="zh-TW" altLang="en-US" sz="1600" dirty="0">
                  <a:ea typeface="微軟正黑體" panose="020B0604030504040204" pitchFamily="34" charset="-120"/>
                </a:rPr>
                <a:t> </a:t>
              </a:r>
              <a:r>
                <a:rPr lang="en-US" altLang="zh-TW" sz="1600" dirty="0">
                  <a:ea typeface="微軟正黑體" panose="020B0604030504040204" pitchFamily="34" charset="-120"/>
                </a:rPr>
                <a:t>PPT</a:t>
              </a:r>
              <a:r>
                <a:rPr lang="zh-TW" altLang="en-US" sz="1600" dirty="0">
                  <a:ea typeface="微軟正黑體" panose="020B0604030504040204" pitchFamily="34" charset="-120"/>
                </a:rPr>
                <a:t> 的內容</a:t>
              </a:r>
              <a:endParaRPr lang="en-US" altLang="zh-TW" sz="1600" dirty="0">
                <a:ea typeface="微軟正黑體" panose="020B0604030504040204" pitchFamily="34" charset="-120"/>
              </a:endParaRPr>
            </a:p>
          </p:txBody>
        </p:sp>
      </p:grpSp>
      <p:sp>
        <p:nvSpPr>
          <p:cNvPr id="181" name="標題 180">
            <a:extLst>
              <a:ext uri="{FF2B5EF4-FFF2-40B4-BE49-F238E27FC236}">
                <a16:creationId xmlns:a16="http://schemas.microsoft.com/office/drawing/2014/main" id="{4DAF4B5F-1E9B-4ADC-A59D-E23A2AC22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Planning</a:t>
            </a:r>
            <a:endParaRPr lang="zh-TW" altLang="en-US" dirty="0"/>
          </a:p>
        </p:txBody>
      </p:sp>
      <p:sp>
        <p:nvSpPr>
          <p:cNvPr id="183" name="文字方塊 182">
            <a:extLst>
              <a:ext uri="{FF2B5EF4-FFF2-40B4-BE49-F238E27FC236}">
                <a16:creationId xmlns:a16="http://schemas.microsoft.com/office/drawing/2014/main" id="{EDA291CE-BE57-4F5F-AF1C-EB5DE315BC0B}"/>
              </a:ext>
            </a:extLst>
          </p:cNvPr>
          <p:cNvSpPr txBox="1"/>
          <p:nvPr/>
        </p:nvSpPr>
        <p:spPr>
          <a:xfrm>
            <a:off x="9098299" y="1146119"/>
            <a:ext cx="1986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solidFill>
                  <a:srgbClr val="3471A7"/>
                </a:solidFill>
                <a:ea typeface="微軟正黑體" panose="020B0604030504040204" pitchFamily="34" charset="-120"/>
              </a:rPr>
              <a:t>依照現有資訊思考下一步要做什麼</a:t>
            </a:r>
            <a:endParaRPr lang="en-US" altLang="zh-TW" sz="1600" b="1" dirty="0">
              <a:solidFill>
                <a:srgbClr val="3471A7"/>
              </a:solidFill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34342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01C5047-7F81-4822-8A53-0B9A8C0F2D3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156" name="群組 155">
            <a:extLst>
              <a:ext uri="{FF2B5EF4-FFF2-40B4-BE49-F238E27FC236}">
                <a16:creationId xmlns:a16="http://schemas.microsoft.com/office/drawing/2014/main" id="{66639098-AA8D-49E6-9359-B61AF5C5A57F}"/>
              </a:ext>
            </a:extLst>
          </p:cNvPr>
          <p:cNvGrpSpPr/>
          <p:nvPr/>
        </p:nvGrpSpPr>
        <p:grpSpPr>
          <a:xfrm>
            <a:off x="6891512" y="280567"/>
            <a:ext cx="5147588" cy="6003897"/>
            <a:chOff x="5448141" y="271143"/>
            <a:chExt cx="5147588" cy="6003897"/>
          </a:xfrm>
        </p:grpSpPr>
        <p:grpSp>
          <p:nvGrpSpPr>
            <p:cNvPr id="84" name="群組 83">
              <a:extLst>
                <a:ext uri="{FF2B5EF4-FFF2-40B4-BE49-F238E27FC236}">
                  <a16:creationId xmlns:a16="http://schemas.microsoft.com/office/drawing/2014/main" id="{E1A29599-B4D0-4BD9-B430-A83B5364549E}"/>
                </a:ext>
              </a:extLst>
            </p:cNvPr>
            <p:cNvGrpSpPr/>
            <p:nvPr/>
          </p:nvGrpSpPr>
          <p:grpSpPr>
            <a:xfrm>
              <a:off x="5770002" y="271143"/>
              <a:ext cx="4021081" cy="5413220"/>
              <a:chOff x="810703" y="1016369"/>
              <a:chExt cx="4021081" cy="5413220"/>
            </a:xfrm>
          </p:grpSpPr>
          <p:grpSp>
            <p:nvGrpSpPr>
              <p:cNvPr id="85" name="群組 84">
                <a:extLst>
                  <a:ext uri="{FF2B5EF4-FFF2-40B4-BE49-F238E27FC236}">
                    <a16:creationId xmlns:a16="http://schemas.microsoft.com/office/drawing/2014/main" id="{7F7EB5A2-E41C-415A-B3FC-A0F57DD4C85F}"/>
                  </a:ext>
                </a:extLst>
              </p:cNvPr>
              <p:cNvGrpSpPr/>
              <p:nvPr/>
            </p:nvGrpSpPr>
            <p:grpSpPr>
              <a:xfrm>
                <a:off x="810703" y="1016369"/>
                <a:ext cx="4021081" cy="5413220"/>
                <a:chOff x="8234324" y="667564"/>
                <a:chExt cx="4021081" cy="5413220"/>
              </a:xfrm>
            </p:grpSpPr>
            <p:pic>
              <p:nvPicPr>
                <p:cNvPr id="103" name="圖片 102">
                  <a:extLst>
                    <a:ext uri="{FF2B5EF4-FFF2-40B4-BE49-F238E27FC236}">
                      <a16:creationId xmlns:a16="http://schemas.microsoft.com/office/drawing/2014/main" id="{44123FBD-A62E-4838-8831-7D36C38FCB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duotone>
                    <a:srgbClr val="5B9BD5">
                      <a:shade val="45000"/>
                      <a:satMod val="135000"/>
                    </a:srgb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9211" b="93421" l="7483" r="89796">
                              <a14:foregroundMark x1="7483" y1="47368" x2="7483" y2="47368"/>
                              <a14:foregroundMark x1="31973" y1="44079" x2="31973" y2="44079"/>
                              <a14:foregroundMark x1="62585" y1="51974" x2="62585" y2="51974"/>
                              <a14:foregroundMark x1="63265" y1="12500" x2="63265" y2="12500"/>
                              <a14:foregroundMark x1="42177" y1="90789" x2="42177" y2="90789"/>
                              <a14:foregroundMark x1="62585" y1="93421" x2="62585" y2="93421"/>
                              <a14:foregroundMark x1="42857" y1="89474" x2="42857" y2="89474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17559" y="1492903"/>
                  <a:ext cx="1122258" cy="1160430"/>
                </a:xfrm>
                <a:prstGeom prst="rect">
                  <a:avLst/>
                </a:prstGeom>
              </p:spPr>
            </p:pic>
            <p:grpSp>
              <p:nvGrpSpPr>
                <p:cNvPr id="93" name="群組 92">
                  <a:extLst>
                    <a:ext uri="{FF2B5EF4-FFF2-40B4-BE49-F238E27FC236}">
                      <a16:creationId xmlns:a16="http://schemas.microsoft.com/office/drawing/2014/main" id="{BB47EB27-EDD5-4F20-9E00-F75D16A7DC14}"/>
                    </a:ext>
                  </a:extLst>
                </p:cNvPr>
                <p:cNvGrpSpPr/>
                <p:nvPr/>
              </p:nvGrpSpPr>
              <p:grpSpPr>
                <a:xfrm>
                  <a:off x="9989525" y="2076090"/>
                  <a:ext cx="1966733" cy="1287202"/>
                  <a:chOff x="9109416" y="1725618"/>
                  <a:chExt cx="1966733" cy="1287202"/>
                </a:xfrm>
              </p:grpSpPr>
              <p:pic>
                <p:nvPicPr>
                  <p:cNvPr id="101" name="圖片 100">
                    <a:extLst>
                      <a:ext uri="{FF2B5EF4-FFF2-40B4-BE49-F238E27FC236}">
                        <a16:creationId xmlns:a16="http://schemas.microsoft.com/office/drawing/2014/main" id="{46F57ED4-8F61-4F1D-9A4B-7A369881CA3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duotone>
                      <a:schemeClr val="accent2">
                        <a:shade val="45000"/>
                        <a:satMod val="135000"/>
                      </a:schemeClr>
                      <a:prstClr val="white"/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9471" b="96100" l="10000" r="90000">
                                <a14:foregroundMark x1="13889" y1="21170" x2="13889" y2="21170"/>
                                <a14:foregroundMark x1="24444" y1="24234" x2="24444" y2="24234"/>
                                <a14:foregroundMark x1="30000" y1="22006" x2="30000" y2="22006"/>
                                <a14:foregroundMark x1="39722" y1="81616" x2="39722" y2="81616"/>
                                <a14:foregroundMark x1="19444" y1="92201" x2="19444" y2="92201"/>
                                <a14:foregroundMark x1="28889" y1="96100" x2="28889" y2="96100"/>
                                <a14:foregroundMark x1="23056" y1="79666" x2="23056" y2="79666"/>
                                <a14:foregroundMark x1="75556" y1="10306" x2="75556" y2="10306"/>
                                <a14:foregroundMark x1="76667" y1="9749" x2="76667" y2="9749"/>
                                <a14:foregroundMark x1="23333" y1="9749" x2="23333" y2="9749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484166" y="1960964"/>
                    <a:ext cx="1054786" cy="1051856"/>
                  </a:xfrm>
                  <a:prstGeom prst="rect">
                    <a:avLst/>
                  </a:prstGeom>
                </p:spPr>
              </p:pic>
              <p:sp>
                <p:nvSpPr>
                  <p:cNvPr id="102" name="文字方塊 101">
                    <a:extLst>
                      <a:ext uri="{FF2B5EF4-FFF2-40B4-BE49-F238E27FC236}">
                        <a16:creationId xmlns:a16="http://schemas.microsoft.com/office/drawing/2014/main" id="{6026EC5B-D77C-4B0B-9B5A-440A28FE98C9}"/>
                      </a:ext>
                    </a:extLst>
                  </p:cNvPr>
                  <p:cNvSpPr txBox="1"/>
                  <p:nvPr/>
                </p:nvSpPr>
                <p:spPr>
                  <a:xfrm>
                    <a:off x="9109416" y="1725618"/>
                    <a:ext cx="1966733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TW" sz="1600" b="1" dirty="0">
                        <a:solidFill>
                          <a:srgbClr val="C35710"/>
                        </a:solidFill>
                      </a:rPr>
                      <a:t>Tool:</a:t>
                    </a:r>
                    <a:r>
                      <a:rPr lang="zh-TW" altLang="en-US" sz="1600" b="1" dirty="0">
                        <a:solidFill>
                          <a:srgbClr val="C35710"/>
                        </a:solidFill>
                      </a:rPr>
                      <a:t> </a:t>
                    </a:r>
                    <a:r>
                      <a:rPr lang="en-US" altLang="zh-TW" sz="1600" b="1" dirty="0">
                        <a:solidFill>
                          <a:srgbClr val="C35710"/>
                        </a:solidFill>
                      </a:rPr>
                      <a:t>Web Search</a:t>
                    </a:r>
                    <a:endParaRPr lang="zh-TW" altLang="en-US" sz="1600" b="1" dirty="0">
                      <a:solidFill>
                        <a:srgbClr val="C35710"/>
                      </a:solidFill>
                    </a:endParaRPr>
                  </a:p>
                </p:txBody>
              </p:sp>
            </p:grpSp>
            <p:sp>
              <p:nvSpPr>
                <p:cNvPr id="96" name="矩形: 圓角 95">
                  <a:extLst>
                    <a:ext uri="{FF2B5EF4-FFF2-40B4-BE49-F238E27FC236}">
                      <a16:creationId xmlns:a16="http://schemas.microsoft.com/office/drawing/2014/main" id="{8A1BD9F8-814A-4C87-9F5D-63EAE81E7F0C}"/>
                    </a:ext>
                  </a:extLst>
                </p:cNvPr>
                <p:cNvSpPr/>
                <p:nvPr/>
              </p:nvSpPr>
              <p:spPr>
                <a:xfrm>
                  <a:off x="8234324" y="1263294"/>
                  <a:ext cx="4021081" cy="4817490"/>
                </a:xfrm>
                <a:prstGeom prst="roundRect">
                  <a:avLst/>
                </a:prstGeom>
                <a:noFill/>
                <a:ln w="381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7" name="文字方塊 96">
                  <a:extLst>
                    <a:ext uri="{FF2B5EF4-FFF2-40B4-BE49-F238E27FC236}">
                      <a16:creationId xmlns:a16="http://schemas.microsoft.com/office/drawing/2014/main" id="{C4F069FF-C429-43FE-8859-7FDB9E3D2CD2}"/>
                    </a:ext>
                  </a:extLst>
                </p:cNvPr>
                <p:cNvSpPr txBox="1"/>
                <p:nvPr/>
              </p:nvSpPr>
              <p:spPr>
                <a:xfrm>
                  <a:off x="8360110" y="667564"/>
                  <a:ext cx="366145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600" b="1" dirty="0">
                      <a:ea typeface="微軟正黑體" panose="020B0604030504040204" pitchFamily="34" charset="-120"/>
                    </a:rPr>
                    <a:t>Q</a:t>
                  </a:r>
                  <a:r>
                    <a:rPr lang="zh-TW" altLang="en-US" sz="1600" b="1" dirty="0">
                      <a:ea typeface="微軟正黑體" panose="020B0604030504040204" pitchFamily="34" charset="-120"/>
                    </a:rPr>
                    <a:t>：查詢交大的交通資訊並做成 </a:t>
                  </a:r>
                  <a:r>
                    <a:rPr lang="en-US" altLang="zh-TW" sz="1600" b="1" dirty="0">
                      <a:ea typeface="微軟正黑體" panose="020B0604030504040204" pitchFamily="34" charset="-120"/>
                    </a:rPr>
                    <a:t>PPT</a:t>
                  </a:r>
                  <a:endParaRPr lang="zh-TW" altLang="en-US" sz="1600" b="1" dirty="0">
                    <a:ea typeface="微軟正黑體" panose="020B0604030504040204" pitchFamily="34" charset="-120"/>
                  </a:endParaRPr>
                </a:p>
              </p:txBody>
            </p:sp>
            <p:cxnSp>
              <p:nvCxnSpPr>
                <p:cNvPr id="99" name="接點: 肘形 98">
                  <a:extLst>
                    <a:ext uri="{FF2B5EF4-FFF2-40B4-BE49-F238E27FC236}">
                      <a16:creationId xmlns:a16="http://schemas.microsoft.com/office/drawing/2014/main" id="{7D182315-21D9-4982-984C-385CFB74D657}"/>
                    </a:ext>
                  </a:extLst>
                </p:cNvPr>
                <p:cNvCxnSpPr>
                  <a:cxnSpLocks/>
                  <a:stCxn id="97" idx="2"/>
                  <a:endCxn id="103" idx="0"/>
                </p:cNvCxnSpPr>
                <p:nvPr/>
              </p:nvCxnSpPr>
              <p:spPr>
                <a:xfrm rot="5400000">
                  <a:off x="9491371" y="793436"/>
                  <a:ext cx="486785" cy="912149"/>
                </a:xfrm>
                <a:prstGeom prst="bentConnector3">
                  <a:avLst>
                    <a:gd name="adj1" fmla="val 34508"/>
                  </a:avLst>
                </a:prstGeom>
                <a:ln w="28575">
                  <a:solidFill>
                    <a:schemeClr val="tx1">
                      <a:lumMod val="65000"/>
                      <a:lumOff val="3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95C36F99-C1DD-4E91-9F53-26CCCBB0417B}"/>
                  </a:ext>
                </a:extLst>
              </p:cNvPr>
              <p:cNvSpPr txBox="1"/>
              <p:nvPr/>
            </p:nvSpPr>
            <p:spPr>
              <a:xfrm>
                <a:off x="2500598" y="4087608"/>
                <a:ext cx="20973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35710"/>
                    </a:solidFill>
                  </a:rPr>
                  <a:t>Tool:</a:t>
                </a:r>
                <a:r>
                  <a:rPr lang="zh-TW" altLang="en-US" b="1" dirty="0">
                    <a:solidFill>
                      <a:srgbClr val="C35710"/>
                    </a:solidFill>
                  </a:rPr>
                  <a:t> </a:t>
                </a:r>
                <a:r>
                  <a:rPr lang="en-US" altLang="zh-TW" b="1" dirty="0">
                    <a:solidFill>
                      <a:srgbClr val="C35710"/>
                    </a:solidFill>
                  </a:rPr>
                  <a:t>PPT Creator</a:t>
                </a:r>
                <a:endParaRPr lang="zh-TW" altLang="en-US" b="1" dirty="0">
                  <a:solidFill>
                    <a:srgbClr val="C35710"/>
                  </a:solidFill>
                </a:endParaRPr>
              </a:p>
            </p:txBody>
          </p:sp>
        </p:grpSp>
        <p:pic>
          <p:nvPicPr>
            <p:cNvPr id="111" name="圖片 110">
              <a:extLst>
                <a:ext uri="{FF2B5EF4-FFF2-40B4-BE49-F238E27FC236}">
                  <a16:creationId xmlns:a16="http://schemas.microsoft.com/office/drawing/2014/main" id="{04086649-9C2F-42E4-BEC9-797B332929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9471" b="96100" l="10000" r="90000">
                          <a14:foregroundMark x1="13889" y1="21170" x2="13889" y2="21170"/>
                          <a14:foregroundMark x1="24444" y1="24234" x2="24444" y2="24234"/>
                          <a14:foregroundMark x1="30000" y1="22006" x2="30000" y2="22006"/>
                          <a14:foregroundMark x1="39722" y1="81616" x2="39722" y2="81616"/>
                          <a14:foregroundMark x1="19444" y1="92201" x2="19444" y2="92201"/>
                          <a14:foregroundMark x1="28889" y1="96100" x2="28889" y2="96100"/>
                          <a14:foregroundMark x1="23056" y1="79666" x2="23056" y2="79666"/>
                          <a14:foregroundMark x1="75556" y1="10306" x2="75556" y2="10306"/>
                          <a14:foregroundMark x1="76667" y1="9749" x2="76667" y2="9749"/>
                          <a14:foregroundMark x1="23333" y1="9749" x2="23333" y2="974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950285" y="3600403"/>
              <a:ext cx="1054786" cy="1051856"/>
            </a:xfrm>
            <a:prstGeom prst="rect">
              <a:avLst/>
            </a:prstGeom>
          </p:spPr>
        </p:pic>
        <p:cxnSp>
          <p:nvCxnSpPr>
            <p:cNvPr id="112" name="接點: 肘形 111">
              <a:extLst>
                <a:ext uri="{FF2B5EF4-FFF2-40B4-BE49-F238E27FC236}">
                  <a16:creationId xmlns:a16="http://schemas.microsoft.com/office/drawing/2014/main" id="{BB67B596-A1D1-4731-8F26-D201D5363120}"/>
                </a:ext>
              </a:extLst>
            </p:cNvPr>
            <p:cNvCxnSpPr>
              <a:cxnSpLocks/>
              <a:stCxn id="103" idx="2"/>
              <a:endCxn id="101" idx="1"/>
            </p:cNvCxnSpPr>
            <p:nvPr/>
          </p:nvCxnSpPr>
          <p:spPr>
            <a:xfrm rot="16200000" flipH="1">
              <a:off x="7265144" y="1806133"/>
              <a:ext cx="184031" cy="1085587"/>
            </a:xfrm>
            <a:prstGeom prst="bentConnector2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接點: 肘形 115">
              <a:extLst>
                <a:ext uri="{FF2B5EF4-FFF2-40B4-BE49-F238E27FC236}">
                  <a16:creationId xmlns:a16="http://schemas.microsoft.com/office/drawing/2014/main" id="{64E56258-CE61-41C7-B1C9-6FF8BAF38B79}"/>
                </a:ext>
              </a:extLst>
            </p:cNvPr>
            <p:cNvCxnSpPr>
              <a:cxnSpLocks/>
              <a:endCxn id="133" idx="0"/>
            </p:cNvCxnSpPr>
            <p:nvPr/>
          </p:nvCxnSpPr>
          <p:spPr>
            <a:xfrm rot="10800000" flipV="1">
              <a:off x="6835071" y="2567755"/>
              <a:ext cx="1000059" cy="205401"/>
            </a:xfrm>
            <a:prstGeom prst="bentConnector2">
              <a:avLst/>
            </a:prstGeom>
            <a:ln w="28575">
              <a:solidFill>
                <a:srgbClr val="C3571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接點: 肘形 123">
              <a:extLst>
                <a:ext uri="{FF2B5EF4-FFF2-40B4-BE49-F238E27FC236}">
                  <a16:creationId xmlns:a16="http://schemas.microsoft.com/office/drawing/2014/main" id="{E3DEBAAA-6899-44EB-A80C-92301FB87862}"/>
                </a:ext>
              </a:extLst>
            </p:cNvPr>
            <p:cNvCxnSpPr>
              <a:cxnSpLocks/>
              <a:endCxn id="111" idx="1"/>
            </p:cNvCxnSpPr>
            <p:nvPr/>
          </p:nvCxnSpPr>
          <p:spPr>
            <a:xfrm rot="16200000" flipH="1">
              <a:off x="7312574" y="3488619"/>
              <a:ext cx="130481" cy="1144941"/>
            </a:xfrm>
            <a:prstGeom prst="bentConnector2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接點: 肘形 130">
              <a:extLst>
                <a:ext uri="{FF2B5EF4-FFF2-40B4-BE49-F238E27FC236}">
                  <a16:creationId xmlns:a16="http://schemas.microsoft.com/office/drawing/2014/main" id="{F120C74F-BD9B-4B41-BAFE-CF15AB62E904}"/>
                </a:ext>
              </a:extLst>
            </p:cNvPr>
            <p:cNvCxnSpPr>
              <a:cxnSpLocks/>
              <a:endCxn id="136" idx="0"/>
            </p:cNvCxnSpPr>
            <p:nvPr/>
          </p:nvCxnSpPr>
          <p:spPr>
            <a:xfrm rot="10800000" flipV="1">
              <a:off x="6821826" y="4262575"/>
              <a:ext cx="1115215" cy="189955"/>
            </a:xfrm>
            <a:prstGeom prst="bentConnector2">
              <a:avLst/>
            </a:prstGeom>
            <a:ln w="28575">
              <a:solidFill>
                <a:srgbClr val="C3571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3" name="圖片 132">
              <a:extLst>
                <a:ext uri="{FF2B5EF4-FFF2-40B4-BE49-F238E27FC236}">
                  <a16:creationId xmlns:a16="http://schemas.microsoft.com/office/drawing/2014/main" id="{5884C05E-A3E8-4A92-A1B3-F114A7691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5B9BD5">
                  <a:shade val="45000"/>
                  <a:satMod val="135000"/>
                </a:srgb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211" b="93421" l="7483" r="89796">
                          <a14:foregroundMark x1="7483" y1="47368" x2="7483" y2="47368"/>
                          <a14:foregroundMark x1="31973" y1="44079" x2="31973" y2="44079"/>
                          <a14:foregroundMark x1="62585" y1="51974" x2="62585" y2="51974"/>
                          <a14:foregroundMark x1="63265" y1="12500" x2="63265" y2="12500"/>
                          <a14:foregroundMark x1="42177" y1="90789" x2="42177" y2="90789"/>
                          <a14:foregroundMark x1="62585" y1="93421" x2="62585" y2="93421"/>
                          <a14:foregroundMark x1="42857" y1="89474" x2="42857" y2="8947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273941" y="2773157"/>
              <a:ext cx="1122258" cy="1160430"/>
            </a:xfrm>
            <a:prstGeom prst="rect">
              <a:avLst/>
            </a:prstGeom>
          </p:spPr>
        </p:pic>
        <p:pic>
          <p:nvPicPr>
            <p:cNvPr id="136" name="圖片 135">
              <a:extLst>
                <a:ext uri="{FF2B5EF4-FFF2-40B4-BE49-F238E27FC236}">
                  <a16:creationId xmlns:a16="http://schemas.microsoft.com/office/drawing/2014/main" id="{BD046F42-086B-41B1-AB13-B3B6058F33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5B9BD5">
                  <a:shade val="45000"/>
                  <a:satMod val="135000"/>
                </a:srgb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211" b="93421" l="7483" r="89796">
                          <a14:foregroundMark x1="7483" y1="47368" x2="7483" y2="47368"/>
                          <a14:foregroundMark x1="31973" y1="44079" x2="31973" y2="44079"/>
                          <a14:foregroundMark x1="62585" y1="51974" x2="62585" y2="51974"/>
                          <a14:foregroundMark x1="63265" y1="12500" x2="63265" y2="12500"/>
                          <a14:foregroundMark x1="42177" y1="90789" x2="42177" y2="90789"/>
                          <a14:foregroundMark x1="62585" y1="93421" x2="62585" y2="93421"/>
                          <a14:foregroundMark x1="42857" y1="89474" x2="42857" y2="8947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260696" y="4452531"/>
              <a:ext cx="1122258" cy="1160430"/>
            </a:xfrm>
            <a:prstGeom prst="rect">
              <a:avLst/>
            </a:prstGeom>
          </p:spPr>
        </p:pic>
        <p:sp>
          <p:nvSpPr>
            <p:cNvPr id="141" name="文字方塊 140">
              <a:extLst>
                <a:ext uri="{FF2B5EF4-FFF2-40B4-BE49-F238E27FC236}">
                  <a16:creationId xmlns:a16="http://schemas.microsoft.com/office/drawing/2014/main" id="{A9A2D6D0-EB4A-473C-910D-73A77BBA7E6A}"/>
                </a:ext>
              </a:extLst>
            </p:cNvPr>
            <p:cNvSpPr txBox="1"/>
            <p:nvPr/>
          </p:nvSpPr>
          <p:spPr>
            <a:xfrm>
              <a:off x="5448141" y="5936486"/>
              <a:ext cx="51475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b="1" dirty="0">
                  <a:ea typeface="微軟正黑體" panose="020B0604030504040204" pitchFamily="34" charset="-120"/>
                </a:rPr>
                <a:t>A</a:t>
              </a:r>
              <a:r>
                <a:rPr lang="zh-TW" altLang="en-US" sz="1600" b="1" dirty="0">
                  <a:ea typeface="微軟正黑體" panose="020B0604030504040204" pitchFamily="34" charset="-120"/>
                </a:rPr>
                <a:t>：以下是交大的交通資訊 </a:t>
              </a:r>
              <a:r>
                <a:rPr lang="en-US" altLang="zh-TW" sz="1600" b="1" dirty="0">
                  <a:ea typeface="微軟正黑體" panose="020B0604030504040204" pitchFamily="34" charset="-120"/>
                </a:rPr>
                <a:t>…</a:t>
              </a:r>
              <a:r>
                <a:rPr lang="zh-TW" altLang="en-US" sz="1600" b="1" dirty="0">
                  <a:ea typeface="微軟正黑體" panose="020B0604030504040204" pitchFamily="34" charset="-120"/>
                </a:rPr>
                <a:t> </a:t>
              </a:r>
              <a:r>
                <a:rPr lang="en-US" altLang="zh-TW" sz="1600" b="1" dirty="0">
                  <a:ea typeface="微軟正黑體" panose="020B0604030504040204" pitchFamily="34" charset="-120"/>
                </a:rPr>
                <a:t>PPT</a:t>
              </a:r>
              <a:r>
                <a:rPr lang="zh-TW" altLang="en-US" sz="1600" b="1" dirty="0">
                  <a:ea typeface="微軟正黑體" panose="020B0604030504040204" pitchFamily="34" charset="-120"/>
                </a:rPr>
                <a:t>已生成完畢，存放在 </a:t>
              </a:r>
              <a:r>
                <a:rPr lang="en-US" altLang="zh-TW" sz="1600" b="1" dirty="0">
                  <a:ea typeface="微軟正黑體" panose="020B0604030504040204" pitchFamily="34" charset="-120"/>
                </a:rPr>
                <a:t>…</a:t>
              </a:r>
              <a:endParaRPr lang="zh-TW" altLang="en-US" sz="1600" b="1" dirty="0">
                <a:ea typeface="微軟正黑體" panose="020B0604030504040204" pitchFamily="34" charset="-120"/>
              </a:endParaRPr>
            </a:p>
          </p:txBody>
        </p:sp>
        <p:cxnSp>
          <p:nvCxnSpPr>
            <p:cNvPr id="143" name="接點: 肘形 142">
              <a:extLst>
                <a:ext uri="{FF2B5EF4-FFF2-40B4-BE49-F238E27FC236}">
                  <a16:creationId xmlns:a16="http://schemas.microsoft.com/office/drawing/2014/main" id="{CC033058-B41F-4459-AD08-7A909AFE4CBB}"/>
                </a:ext>
              </a:extLst>
            </p:cNvPr>
            <p:cNvCxnSpPr>
              <a:cxnSpLocks/>
              <a:stCxn id="136" idx="2"/>
              <a:endCxn id="141" idx="0"/>
            </p:cNvCxnSpPr>
            <p:nvPr/>
          </p:nvCxnSpPr>
          <p:spPr>
            <a:xfrm rot="16200000" flipH="1">
              <a:off x="7260118" y="5174668"/>
              <a:ext cx="323525" cy="1200110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文字方塊 147">
              <a:extLst>
                <a:ext uri="{FF2B5EF4-FFF2-40B4-BE49-F238E27FC236}">
                  <a16:creationId xmlns:a16="http://schemas.microsoft.com/office/drawing/2014/main" id="{12AD7F35-3452-4EEB-B9BE-6DFD643982D9}"/>
                </a:ext>
              </a:extLst>
            </p:cNvPr>
            <p:cNvSpPr txBox="1"/>
            <p:nvPr/>
          </p:nvSpPr>
          <p:spPr>
            <a:xfrm>
              <a:off x="5770002" y="1500573"/>
              <a:ext cx="6036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b="1" dirty="0">
                  <a:solidFill>
                    <a:srgbClr val="3471A7"/>
                  </a:solidFill>
                </a:rPr>
                <a:t>LLM</a:t>
              </a:r>
              <a:endParaRPr lang="zh-TW" altLang="en-US" sz="1600" b="1" dirty="0">
                <a:solidFill>
                  <a:srgbClr val="3471A7"/>
                </a:solidFill>
              </a:endParaRPr>
            </a:p>
          </p:txBody>
        </p:sp>
        <p:sp>
          <p:nvSpPr>
            <p:cNvPr id="149" name="文字方塊 148">
              <a:extLst>
                <a:ext uri="{FF2B5EF4-FFF2-40B4-BE49-F238E27FC236}">
                  <a16:creationId xmlns:a16="http://schemas.microsoft.com/office/drawing/2014/main" id="{8F54A498-4333-4763-8367-426F75604239}"/>
                </a:ext>
              </a:extLst>
            </p:cNvPr>
            <p:cNvSpPr txBox="1"/>
            <p:nvPr/>
          </p:nvSpPr>
          <p:spPr>
            <a:xfrm>
              <a:off x="5794184" y="3226254"/>
              <a:ext cx="6036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b="1" dirty="0">
                  <a:solidFill>
                    <a:srgbClr val="3471A7"/>
                  </a:solidFill>
                </a:rPr>
                <a:t>LLM</a:t>
              </a:r>
              <a:endParaRPr lang="zh-TW" altLang="en-US" sz="1600" b="1" dirty="0">
                <a:solidFill>
                  <a:srgbClr val="3471A7"/>
                </a:solidFill>
              </a:endParaRPr>
            </a:p>
          </p:txBody>
        </p:sp>
        <p:sp>
          <p:nvSpPr>
            <p:cNvPr id="150" name="文字方塊 149">
              <a:extLst>
                <a:ext uri="{FF2B5EF4-FFF2-40B4-BE49-F238E27FC236}">
                  <a16:creationId xmlns:a16="http://schemas.microsoft.com/office/drawing/2014/main" id="{327B5EB0-29EE-48D0-920E-660FCDD457AC}"/>
                </a:ext>
              </a:extLst>
            </p:cNvPr>
            <p:cNvSpPr txBox="1"/>
            <p:nvPr/>
          </p:nvSpPr>
          <p:spPr>
            <a:xfrm>
              <a:off x="5776287" y="4534150"/>
              <a:ext cx="6036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b="1" dirty="0">
                  <a:solidFill>
                    <a:srgbClr val="3471A7"/>
                  </a:solidFill>
                </a:rPr>
                <a:t>LLM</a:t>
              </a:r>
              <a:endParaRPr lang="zh-TW" altLang="en-US" sz="1600" b="1" dirty="0">
                <a:solidFill>
                  <a:srgbClr val="3471A7"/>
                </a:solidFill>
              </a:endParaRPr>
            </a:p>
          </p:txBody>
        </p:sp>
      </p:grpSp>
      <p:grpSp>
        <p:nvGrpSpPr>
          <p:cNvPr id="157" name="群組 156">
            <a:extLst>
              <a:ext uri="{FF2B5EF4-FFF2-40B4-BE49-F238E27FC236}">
                <a16:creationId xmlns:a16="http://schemas.microsoft.com/office/drawing/2014/main" id="{40B75C99-700A-4272-ACA7-9510A319352B}"/>
              </a:ext>
            </a:extLst>
          </p:cNvPr>
          <p:cNvGrpSpPr/>
          <p:nvPr/>
        </p:nvGrpSpPr>
        <p:grpSpPr>
          <a:xfrm>
            <a:off x="-185734" y="1120525"/>
            <a:ext cx="7212058" cy="5028453"/>
            <a:chOff x="264454" y="863250"/>
            <a:chExt cx="7212058" cy="5028453"/>
          </a:xfrm>
        </p:grpSpPr>
        <p:grpSp>
          <p:nvGrpSpPr>
            <p:cNvPr id="158" name="群組 157">
              <a:extLst>
                <a:ext uri="{FF2B5EF4-FFF2-40B4-BE49-F238E27FC236}">
                  <a16:creationId xmlns:a16="http://schemas.microsoft.com/office/drawing/2014/main" id="{14E38AAB-AE96-4497-9D90-1B1A6D9ECBD2}"/>
                </a:ext>
              </a:extLst>
            </p:cNvPr>
            <p:cNvGrpSpPr/>
            <p:nvPr/>
          </p:nvGrpSpPr>
          <p:grpSpPr>
            <a:xfrm>
              <a:off x="264454" y="863250"/>
              <a:ext cx="7212058" cy="5028453"/>
              <a:chOff x="7688075" y="514445"/>
              <a:chExt cx="7212058" cy="5028453"/>
            </a:xfrm>
          </p:grpSpPr>
          <p:grpSp>
            <p:nvGrpSpPr>
              <p:cNvPr id="165" name="群組 164">
                <a:extLst>
                  <a:ext uri="{FF2B5EF4-FFF2-40B4-BE49-F238E27FC236}">
                    <a16:creationId xmlns:a16="http://schemas.microsoft.com/office/drawing/2014/main" id="{1AEAAAA6-30BF-483D-85CB-DC31E6AFB4C9}"/>
                  </a:ext>
                </a:extLst>
              </p:cNvPr>
              <p:cNvGrpSpPr/>
              <p:nvPr/>
            </p:nvGrpSpPr>
            <p:grpSpPr>
              <a:xfrm>
                <a:off x="8506270" y="1263295"/>
                <a:ext cx="1739116" cy="1550317"/>
                <a:chOff x="999740" y="3537323"/>
                <a:chExt cx="1739116" cy="1550317"/>
              </a:xfrm>
            </p:grpSpPr>
            <p:pic>
              <p:nvPicPr>
                <p:cNvPr id="176" name="圖片 175">
                  <a:extLst>
                    <a:ext uri="{FF2B5EF4-FFF2-40B4-BE49-F238E27FC236}">
                      <a16:creationId xmlns:a16="http://schemas.microsoft.com/office/drawing/2014/main" id="{464A51E5-786D-4CD9-A28A-D7C17EF120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duotone>
                    <a:srgbClr val="5B9BD5">
                      <a:shade val="45000"/>
                      <a:satMod val="135000"/>
                    </a:srgb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9211" b="93421" l="7483" r="89796">
                              <a14:foregroundMark x1="7483" y1="47368" x2="7483" y2="47368"/>
                              <a14:foregroundMark x1="31973" y1="44079" x2="31973" y2="44079"/>
                              <a14:foregroundMark x1="62585" y1="51974" x2="62585" y2="51974"/>
                              <a14:foregroundMark x1="63265" y1="12500" x2="63265" y2="12500"/>
                              <a14:foregroundMark x1="42177" y1="90789" x2="42177" y2="90789"/>
                              <a14:foregroundMark x1="62585" y1="93421" x2="62585" y2="93421"/>
                              <a14:foregroundMark x1="42857" y1="89474" x2="42857" y2="89474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7179" y="3792513"/>
                  <a:ext cx="1252524" cy="1295127"/>
                </a:xfrm>
                <a:prstGeom prst="rect">
                  <a:avLst/>
                </a:prstGeom>
              </p:spPr>
            </p:pic>
            <p:sp>
              <p:nvSpPr>
                <p:cNvPr id="177" name="文字方塊 176">
                  <a:extLst>
                    <a:ext uri="{FF2B5EF4-FFF2-40B4-BE49-F238E27FC236}">
                      <a16:creationId xmlns:a16="http://schemas.microsoft.com/office/drawing/2014/main" id="{B64322EC-D064-4585-957F-CAEBCA6B3204}"/>
                    </a:ext>
                  </a:extLst>
                </p:cNvPr>
                <p:cNvSpPr txBox="1"/>
                <p:nvPr/>
              </p:nvSpPr>
              <p:spPr>
                <a:xfrm>
                  <a:off x="999740" y="3537323"/>
                  <a:ext cx="173911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600" b="1" dirty="0">
                      <a:solidFill>
                        <a:srgbClr val="3471A7"/>
                      </a:solidFill>
                    </a:rPr>
                    <a:t>LLM: Planning</a:t>
                  </a:r>
                  <a:endParaRPr lang="zh-TW" altLang="en-US" sz="1600" b="1" dirty="0">
                    <a:solidFill>
                      <a:srgbClr val="3471A7"/>
                    </a:solidFill>
                  </a:endParaRPr>
                </a:p>
              </p:txBody>
            </p:sp>
          </p:grpSp>
          <p:grpSp>
            <p:nvGrpSpPr>
              <p:cNvPr id="166" name="群組 165">
                <a:extLst>
                  <a:ext uri="{FF2B5EF4-FFF2-40B4-BE49-F238E27FC236}">
                    <a16:creationId xmlns:a16="http://schemas.microsoft.com/office/drawing/2014/main" id="{293AB969-5D0F-499C-89C3-001D14E6A058}"/>
                  </a:ext>
                </a:extLst>
              </p:cNvPr>
              <p:cNvGrpSpPr/>
              <p:nvPr/>
            </p:nvGrpSpPr>
            <p:grpSpPr>
              <a:xfrm>
                <a:off x="8131065" y="3080195"/>
                <a:ext cx="2324327" cy="1582993"/>
                <a:chOff x="7250956" y="2729723"/>
                <a:chExt cx="2324327" cy="1582993"/>
              </a:xfrm>
            </p:grpSpPr>
            <p:pic>
              <p:nvPicPr>
                <p:cNvPr id="174" name="圖片 173">
                  <a:extLst>
                    <a:ext uri="{FF2B5EF4-FFF2-40B4-BE49-F238E27FC236}">
                      <a16:creationId xmlns:a16="http://schemas.microsoft.com/office/drawing/2014/main" id="{7EEDF3B3-4475-450B-8961-911AAC7935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duotone>
                    <a:schemeClr val="accent2">
                      <a:shade val="45000"/>
                      <a:satMod val="135000"/>
                    </a:scheme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9471" b="96100" l="10000" r="90000">
                              <a14:foregroundMark x1="13889" y1="21170" x2="13889" y2="21170"/>
                              <a14:foregroundMark x1="24444" y1="24234" x2="24444" y2="24234"/>
                              <a14:foregroundMark x1="30000" y1="22006" x2="30000" y2="22006"/>
                              <a14:foregroundMark x1="39722" y1="81616" x2="39722" y2="81616"/>
                              <a14:foregroundMark x1="19444" y1="92201" x2="19444" y2="92201"/>
                              <a14:foregroundMark x1="28889" y1="96100" x2="28889" y2="96100"/>
                              <a14:foregroundMark x1="23056" y1="79666" x2="23056" y2="79666"/>
                              <a14:foregroundMark x1="75556" y1="10306" x2="75556" y2="10306"/>
                              <a14:foregroundMark x1="76667" y1="9749" x2="76667" y2="9749"/>
                              <a14:foregroundMark x1="23333" y1="9749" x2="23333" y2="9749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9226" y="3078528"/>
                  <a:ext cx="1237626" cy="1234188"/>
                </a:xfrm>
                <a:prstGeom prst="rect">
                  <a:avLst/>
                </a:prstGeom>
              </p:spPr>
            </p:pic>
            <p:sp>
              <p:nvSpPr>
                <p:cNvPr id="175" name="文字方塊 174">
                  <a:extLst>
                    <a:ext uri="{FF2B5EF4-FFF2-40B4-BE49-F238E27FC236}">
                      <a16:creationId xmlns:a16="http://schemas.microsoft.com/office/drawing/2014/main" id="{2ECEA68E-3A33-4F06-8AC9-4E1771CE3023}"/>
                    </a:ext>
                  </a:extLst>
                </p:cNvPr>
                <p:cNvSpPr txBox="1"/>
                <p:nvPr/>
              </p:nvSpPr>
              <p:spPr>
                <a:xfrm>
                  <a:off x="7250956" y="2729723"/>
                  <a:ext cx="232432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600" b="1" dirty="0">
                      <a:solidFill>
                        <a:srgbClr val="C35710"/>
                      </a:solidFill>
                    </a:rPr>
                    <a:t>1. Tool:</a:t>
                  </a:r>
                  <a:r>
                    <a:rPr lang="zh-TW" altLang="en-US" sz="1600" b="1" dirty="0">
                      <a:solidFill>
                        <a:srgbClr val="C35710"/>
                      </a:solidFill>
                    </a:rPr>
                    <a:t> </a:t>
                  </a:r>
                  <a:r>
                    <a:rPr lang="en-US" altLang="zh-TW" sz="1600" b="1" dirty="0">
                      <a:solidFill>
                        <a:srgbClr val="C35710"/>
                      </a:solidFill>
                    </a:rPr>
                    <a:t>Web Search</a:t>
                  </a:r>
                  <a:endParaRPr lang="zh-TW" altLang="en-US" sz="1600" b="1" dirty="0">
                    <a:solidFill>
                      <a:srgbClr val="C35710"/>
                    </a:solidFill>
                  </a:endParaRPr>
                </a:p>
              </p:txBody>
            </p:sp>
          </p:grpSp>
          <p:pic>
            <p:nvPicPr>
              <p:cNvPr id="167" name="圖片 166">
                <a:extLst>
                  <a:ext uri="{FF2B5EF4-FFF2-40B4-BE49-F238E27FC236}">
                    <a16:creationId xmlns:a16="http://schemas.microsoft.com/office/drawing/2014/main" id="{E34BCB76-CD16-453B-BFF7-9D15E3B645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rgbClr val="5B9BD5">
                    <a:shade val="45000"/>
                    <a:satMod val="135000"/>
                  </a:srgb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211" b="93421" l="7483" r="89796">
                            <a14:foregroundMark x1="7483" y1="47368" x2="7483" y2="47368"/>
                            <a14:foregroundMark x1="31973" y1="44079" x2="31973" y2="44079"/>
                            <a14:foregroundMark x1="62585" y1="51974" x2="62585" y2="51974"/>
                            <a14:foregroundMark x1="63265" y1="12500" x2="63265" y2="12500"/>
                            <a14:foregroundMark x1="42177" y1="90789" x2="42177" y2="90789"/>
                            <a14:foregroundMark x1="62585" y1="93421" x2="62585" y2="93421"/>
                            <a14:foregroundMark x1="42857" y1="89474" x2="42857" y2="89474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770455" y="3398530"/>
                <a:ext cx="1252524" cy="1295127"/>
              </a:xfrm>
              <a:prstGeom prst="rect">
                <a:avLst/>
              </a:prstGeom>
            </p:spPr>
          </p:pic>
          <p:cxnSp>
            <p:nvCxnSpPr>
              <p:cNvPr id="168" name="接點: 肘形 167">
                <a:extLst>
                  <a:ext uri="{FF2B5EF4-FFF2-40B4-BE49-F238E27FC236}">
                    <a16:creationId xmlns:a16="http://schemas.microsoft.com/office/drawing/2014/main" id="{6B8E91E6-8835-4B04-890B-6680D2C74812}"/>
                  </a:ext>
                </a:extLst>
              </p:cNvPr>
              <p:cNvCxnSpPr>
                <a:cxnSpLocks/>
                <a:stCxn id="176" idx="2"/>
                <a:endCxn id="175" idx="0"/>
              </p:cNvCxnSpPr>
              <p:nvPr/>
            </p:nvCxnSpPr>
            <p:spPr>
              <a:xfrm rot="16200000" flipH="1">
                <a:off x="9158309" y="2945274"/>
                <a:ext cx="266583" cy="3258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9" name="矩形: 圓角 168">
                <a:extLst>
                  <a:ext uri="{FF2B5EF4-FFF2-40B4-BE49-F238E27FC236}">
                    <a16:creationId xmlns:a16="http://schemas.microsoft.com/office/drawing/2014/main" id="{46E33BD4-F8EC-4622-A7FF-ACCC7F362296}"/>
                  </a:ext>
                </a:extLst>
              </p:cNvPr>
              <p:cNvSpPr/>
              <p:nvPr/>
            </p:nvSpPr>
            <p:spPr>
              <a:xfrm>
                <a:off x="8234324" y="969678"/>
                <a:ext cx="6095885" cy="4086545"/>
              </a:xfrm>
              <a:prstGeom prst="roundRect">
                <a:avLst/>
              </a:prstGeom>
              <a:noFill/>
              <a:ln w="381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0" name="文字方塊 169">
                <a:extLst>
                  <a:ext uri="{FF2B5EF4-FFF2-40B4-BE49-F238E27FC236}">
                    <a16:creationId xmlns:a16="http://schemas.microsoft.com/office/drawing/2014/main" id="{BC5A24C4-0224-45CA-B7B8-9F3E6E2925A9}"/>
                  </a:ext>
                </a:extLst>
              </p:cNvPr>
              <p:cNvSpPr txBox="1"/>
              <p:nvPr/>
            </p:nvSpPr>
            <p:spPr>
              <a:xfrm>
                <a:off x="9481174" y="514445"/>
                <a:ext cx="36614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600" b="1" dirty="0">
                    <a:ea typeface="微軟正黑體" panose="020B0604030504040204" pitchFamily="34" charset="-120"/>
                  </a:rPr>
                  <a:t>Q</a:t>
                </a:r>
                <a:r>
                  <a:rPr lang="zh-TW" altLang="en-US" sz="1600" b="1" dirty="0">
                    <a:ea typeface="微軟正黑體" panose="020B0604030504040204" pitchFamily="34" charset="-120"/>
                  </a:rPr>
                  <a:t>：查詢交大的交通資訊並做成 </a:t>
                </a:r>
                <a:r>
                  <a:rPr lang="en-US" altLang="zh-TW" sz="1600" b="1" dirty="0">
                    <a:ea typeface="微軟正黑體" panose="020B0604030504040204" pitchFamily="34" charset="-120"/>
                  </a:rPr>
                  <a:t>PPT</a:t>
                </a:r>
                <a:endParaRPr lang="zh-TW" altLang="en-US" sz="1600" b="1" dirty="0"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71" name="文字方塊 170">
                <a:extLst>
                  <a:ext uri="{FF2B5EF4-FFF2-40B4-BE49-F238E27FC236}">
                    <a16:creationId xmlns:a16="http://schemas.microsoft.com/office/drawing/2014/main" id="{13062B41-F246-478F-8147-E75B80EEAAF8}"/>
                  </a:ext>
                </a:extLst>
              </p:cNvPr>
              <p:cNvSpPr txBox="1"/>
              <p:nvPr/>
            </p:nvSpPr>
            <p:spPr>
              <a:xfrm>
                <a:off x="7688075" y="5204344"/>
                <a:ext cx="721205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600" b="1" dirty="0">
                    <a:ea typeface="微軟正黑體" panose="020B0604030504040204" pitchFamily="34" charset="-120"/>
                  </a:rPr>
                  <a:t>A</a:t>
                </a:r>
                <a:r>
                  <a:rPr lang="zh-TW" altLang="en-US" sz="1600" b="1" dirty="0">
                    <a:ea typeface="微軟正黑體" panose="020B0604030504040204" pitchFamily="34" charset="-120"/>
                  </a:rPr>
                  <a:t>：以下是交大的交通資訊 </a:t>
                </a:r>
                <a:r>
                  <a:rPr lang="en-US" altLang="zh-TW" sz="1600" b="1" dirty="0">
                    <a:ea typeface="微軟正黑體" panose="020B0604030504040204" pitchFamily="34" charset="-120"/>
                  </a:rPr>
                  <a:t>…</a:t>
                </a:r>
                <a:r>
                  <a:rPr lang="zh-TW" altLang="en-US" sz="1600" b="1" dirty="0">
                    <a:ea typeface="微軟正黑體" panose="020B0604030504040204" pitchFamily="34" charset="-120"/>
                  </a:rPr>
                  <a:t> </a:t>
                </a:r>
                <a:r>
                  <a:rPr lang="en-US" altLang="zh-TW" sz="1600" b="1" dirty="0">
                    <a:ea typeface="微軟正黑體" panose="020B0604030504040204" pitchFamily="34" charset="-120"/>
                  </a:rPr>
                  <a:t>PPT</a:t>
                </a:r>
                <a:r>
                  <a:rPr lang="zh-TW" altLang="en-US" sz="1600" b="1" dirty="0">
                    <a:ea typeface="微軟正黑體" panose="020B0604030504040204" pitchFamily="34" charset="-120"/>
                  </a:rPr>
                  <a:t>已生成完畢，存放在 </a:t>
                </a:r>
                <a:r>
                  <a:rPr lang="en-US" altLang="zh-TW" sz="1600" b="1" dirty="0">
                    <a:ea typeface="微軟正黑體" panose="020B0604030504040204" pitchFamily="34" charset="-120"/>
                  </a:rPr>
                  <a:t>…</a:t>
                </a:r>
                <a:endParaRPr lang="zh-TW" altLang="en-US" sz="1600" b="1" dirty="0">
                  <a:ea typeface="微軟正黑體" panose="020B0604030504040204" pitchFamily="34" charset="-120"/>
                </a:endParaRPr>
              </a:p>
            </p:txBody>
          </p:sp>
          <p:cxnSp>
            <p:nvCxnSpPr>
              <p:cNvPr id="172" name="接點: 肘形 171">
                <a:extLst>
                  <a:ext uri="{FF2B5EF4-FFF2-40B4-BE49-F238E27FC236}">
                    <a16:creationId xmlns:a16="http://schemas.microsoft.com/office/drawing/2014/main" id="{505D9FA4-26A2-43AD-B8D1-C49443C03549}"/>
                  </a:ext>
                </a:extLst>
              </p:cNvPr>
              <p:cNvCxnSpPr>
                <a:cxnSpLocks/>
                <a:stCxn id="170" idx="2"/>
                <a:endCxn id="177" idx="0"/>
              </p:cNvCxnSpPr>
              <p:nvPr/>
            </p:nvCxnSpPr>
            <p:spPr>
              <a:xfrm rot="5400000">
                <a:off x="10138717" y="90111"/>
                <a:ext cx="410296" cy="1936073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接點: 肘形 172">
                <a:extLst>
                  <a:ext uri="{FF2B5EF4-FFF2-40B4-BE49-F238E27FC236}">
                    <a16:creationId xmlns:a16="http://schemas.microsoft.com/office/drawing/2014/main" id="{853FE263-1231-458E-9517-621AE995D386}"/>
                  </a:ext>
                </a:extLst>
              </p:cNvPr>
              <p:cNvCxnSpPr>
                <a:cxnSpLocks/>
                <a:stCxn id="167" idx="2"/>
                <a:endCxn id="171" idx="0"/>
              </p:cNvCxnSpPr>
              <p:nvPr/>
            </p:nvCxnSpPr>
            <p:spPr>
              <a:xfrm rot="5400000">
                <a:off x="12090068" y="3897694"/>
                <a:ext cx="510687" cy="2102613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59" name="圖片 158">
              <a:extLst>
                <a:ext uri="{FF2B5EF4-FFF2-40B4-BE49-F238E27FC236}">
                  <a16:creationId xmlns:a16="http://schemas.microsoft.com/office/drawing/2014/main" id="{69B603FF-B6D4-4EC8-B50B-BF86626C18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9471" b="96100" l="10000" r="90000">
                          <a14:foregroundMark x1="13889" y1="21170" x2="13889" y2="21170"/>
                          <a14:foregroundMark x1="24444" y1="24234" x2="24444" y2="24234"/>
                          <a14:foregroundMark x1="30000" y1="22006" x2="30000" y2="22006"/>
                          <a14:foregroundMark x1="39722" y1="81616" x2="39722" y2="81616"/>
                          <a14:foregroundMark x1="19444" y1="92201" x2="19444" y2="92201"/>
                          <a14:foregroundMark x1="28889" y1="96100" x2="28889" y2="96100"/>
                          <a14:foregroundMark x1="23056" y1="79666" x2="23056" y2="79666"/>
                          <a14:foregroundMark x1="75556" y1="10306" x2="75556" y2="10306"/>
                          <a14:foregroundMark x1="76667" y1="9749" x2="76667" y2="9749"/>
                          <a14:foregroundMark x1="23333" y1="9749" x2="23333" y2="974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193128" y="3782672"/>
              <a:ext cx="1237626" cy="1234188"/>
            </a:xfrm>
            <a:prstGeom prst="rect">
              <a:avLst/>
            </a:prstGeom>
          </p:spPr>
        </p:pic>
        <p:sp>
          <p:nvSpPr>
            <p:cNvPr id="160" name="文字方塊 159">
              <a:extLst>
                <a:ext uri="{FF2B5EF4-FFF2-40B4-BE49-F238E27FC236}">
                  <a16:creationId xmlns:a16="http://schemas.microsoft.com/office/drawing/2014/main" id="{622B8A73-0105-4F0B-94B9-42DD71AE6FBB}"/>
                </a:ext>
              </a:extLst>
            </p:cNvPr>
            <p:cNvSpPr txBox="1"/>
            <p:nvPr/>
          </p:nvSpPr>
          <p:spPr>
            <a:xfrm>
              <a:off x="2768521" y="3429000"/>
              <a:ext cx="23243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b="1" dirty="0">
                  <a:solidFill>
                    <a:srgbClr val="C35710"/>
                  </a:solidFill>
                </a:rPr>
                <a:t>2. Tool:</a:t>
              </a:r>
              <a:r>
                <a:rPr lang="zh-TW" altLang="en-US" sz="1600" b="1" dirty="0">
                  <a:solidFill>
                    <a:srgbClr val="C35710"/>
                  </a:solidFill>
                </a:rPr>
                <a:t> </a:t>
              </a:r>
              <a:r>
                <a:rPr lang="en-US" altLang="zh-TW" sz="1600" b="1" dirty="0">
                  <a:solidFill>
                    <a:srgbClr val="C35710"/>
                  </a:solidFill>
                </a:rPr>
                <a:t>PPT Creator</a:t>
              </a:r>
              <a:endParaRPr lang="zh-TW" altLang="en-US" sz="1600" b="1" dirty="0">
                <a:solidFill>
                  <a:srgbClr val="C35710"/>
                </a:solidFill>
              </a:endParaRPr>
            </a:p>
          </p:txBody>
        </p:sp>
        <p:sp>
          <p:nvSpPr>
            <p:cNvPr id="161" name="文字方塊 160">
              <a:extLst>
                <a:ext uri="{FF2B5EF4-FFF2-40B4-BE49-F238E27FC236}">
                  <a16:creationId xmlns:a16="http://schemas.microsoft.com/office/drawing/2014/main" id="{CD7ED04C-3B9D-4C9D-9143-38F023C1E0D8}"/>
                </a:ext>
              </a:extLst>
            </p:cNvPr>
            <p:cNvSpPr txBox="1"/>
            <p:nvPr/>
          </p:nvSpPr>
          <p:spPr>
            <a:xfrm>
              <a:off x="5035342" y="3420689"/>
              <a:ext cx="18712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b="1" dirty="0">
                  <a:solidFill>
                    <a:srgbClr val="3471A7"/>
                  </a:solidFill>
                </a:rPr>
                <a:t>3. LLM: Summary</a:t>
              </a:r>
              <a:endParaRPr lang="zh-TW" altLang="en-US" sz="1600" b="1" dirty="0">
                <a:solidFill>
                  <a:srgbClr val="3471A7"/>
                </a:solidFill>
              </a:endParaRPr>
            </a:p>
          </p:txBody>
        </p:sp>
        <p:cxnSp>
          <p:nvCxnSpPr>
            <p:cNvPr id="162" name="直線單箭頭接點 161">
              <a:extLst>
                <a:ext uri="{FF2B5EF4-FFF2-40B4-BE49-F238E27FC236}">
                  <a16:creationId xmlns:a16="http://schemas.microsoft.com/office/drawing/2014/main" id="{25BB2410-1141-43E2-9903-86264B5E6ACE}"/>
                </a:ext>
              </a:extLst>
            </p:cNvPr>
            <p:cNvCxnSpPr>
              <a:stCxn id="174" idx="3"/>
              <a:endCxn id="159" idx="1"/>
            </p:cNvCxnSpPr>
            <p:nvPr/>
          </p:nvCxnSpPr>
          <p:spPr>
            <a:xfrm>
              <a:off x="2493340" y="4394899"/>
              <a:ext cx="699788" cy="4867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線單箭頭接點 162">
              <a:extLst>
                <a:ext uri="{FF2B5EF4-FFF2-40B4-BE49-F238E27FC236}">
                  <a16:creationId xmlns:a16="http://schemas.microsoft.com/office/drawing/2014/main" id="{5D8098CD-931F-46DE-9C98-BBFD7B416635}"/>
                </a:ext>
              </a:extLst>
            </p:cNvPr>
            <p:cNvCxnSpPr>
              <a:cxnSpLocks/>
              <a:stCxn id="159" idx="3"/>
              <a:endCxn id="167" idx="1"/>
            </p:cNvCxnSpPr>
            <p:nvPr/>
          </p:nvCxnSpPr>
          <p:spPr>
            <a:xfrm flipV="1">
              <a:off x="4430754" y="4394899"/>
              <a:ext cx="916080" cy="4867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文字方塊 163">
              <a:extLst>
                <a:ext uri="{FF2B5EF4-FFF2-40B4-BE49-F238E27FC236}">
                  <a16:creationId xmlns:a16="http://schemas.microsoft.com/office/drawing/2014/main" id="{F8FA421F-9392-4381-ADA9-9B10005C4588}"/>
                </a:ext>
              </a:extLst>
            </p:cNvPr>
            <p:cNvSpPr txBox="1"/>
            <p:nvPr/>
          </p:nvSpPr>
          <p:spPr>
            <a:xfrm>
              <a:off x="2628616" y="1982179"/>
              <a:ext cx="414196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>
                  <a:solidFill>
                    <a:srgbClr val="3471A7"/>
                  </a:solidFill>
                  <a:ea typeface="微軟正黑體" panose="020B0604030504040204" pitchFamily="34" charset="-120"/>
                </a:rPr>
                <a:t>規劃要做哪些步驟以完成目標：</a:t>
              </a:r>
              <a:endParaRPr lang="en-US" altLang="zh-TW" sz="1600" b="1" dirty="0">
                <a:solidFill>
                  <a:srgbClr val="3471A7"/>
                </a:solidFill>
                <a:ea typeface="微軟正黑體" panose="020B0604030504040204" pitchFamily="34" charset="-120"/>
              </a:endParaRPr>
            </a:p>
            <a:p>
              <a:pPr marL="342900" indent="-342900">
                <a:buAutoNum type="arabicPeriod"/>
              </a:pPr>
              <a:r>
                <a:rPr lang="zh-TW" altLang="en-US" sz="1600" dirty="0">
                  <a:ea typeface="微軟正黑體" panose="020B0604030504040204" pitchFamily="34" charset="-120"/>
                </a:rPr>
                <a:t>使用工具  </a:t>
              </a:r>
              <a:r>
                <a:rPr lang="en-US" altLang="zh-TW" sz="1600" dirty="0">
                  <a:ea typeface="微軟正黑體" panose="020B0604030504040204" pitchFamily="34" charset="-120"/>
                </a:rPr>
                <a:t>web search </a:t>
              </a:r>
              <a:r>
                <a:rPr lang="zh-TW" altLang="en-US" sz="1600" dirty="0">
                  <a:ea typeface="微軟正黑體" panose="020B0604030504040204" pitchFamily="34" charset="-120"/>
                </a:rPr>
                <a:t>查詢交大交通資訊</a:t>
              </a:r>
              <a:endParaRPr lang="en-US" altLang="zh-TW" sz="1600" dirty="0">
                <a:ea typeface="微軟正黑體" panose="020B0604030504040204" pitchFamily="34" charset="-120"/>
              </a:endParaRPr>
            </a:p>
            <a:p>
              <a:pPr marL="342900" indent="-342900">
                <a:buAutoNum type="arabicPeriod"/>
              </a:pPr>
              <a:r>
                <a:rPr lang="zh-TW" altLang="en-US" sz="1600" dirty="0">
                  <a:ea typeface="微軟正黑體" panose="020B0604030504040204" pitchFamily="34" charset="-120"/>
                </a:rPr>
                <a:t>使用工具 </a:t>
              </a:r>
              <a:r>
                <a:rPr lang="en-US" altLang="zh-TW" sz="1600" dirty="0">
                  <a:ea typeface="微軟正黑體" panose="020B0604030504040204" pitchFamily="34" charset="-120"/>
                </a:rPr>
                <a:t>PPT creator </a:t>
              </a:r>
              <a:r>
                <a:rPr lang="zh-TW" altLang="en-US" sz="1600" dirty="0">
                  <a:ea typeface="微軟正黑體" panose="020B0604030504040204" pitchFamily="34" charset="-120"/>
                </a:rPr>
                <a:t>生成 </a:t>
              </a:r>
              <a:r>
                <a:rPr lang="en-US" altLang="zh-TW" sz="1600" dirty="0">
                  <a:ea typeface="微軟正黑體" panose="020B0604030504040204" pitchFamily="34" charset="-120"/>
                </a:rPr>
                <a:t>PPT</a:t>
              </a:r>
            </a:p>
            <a:p>
              <a:pPr marL="342900" indent="-342900">
                <a:buAutoNum type="arabicPeriod"/>
              </a:pPr>
              <a:r>
                <a:rPr lang="zh-TW" altLang="en-US" sz="1600" dirty="0">
                  <a:ea typeface="微軟正黑體" panose="020B0604030504040204" pitchFamily="34" charset="-120"/>
                </a:rPr>
                <a:t>總結查詢得到的資訊 </a:t>
              </a:r>
              <a:r>
                <a:rPr lang="en-US" altLang="zh-TW" sz="1600" dirty="0">
                  <a:ea typeface="微軟正黑體" panose="020B0604030504040204" pitchFamily="34" charset="-120"/>
                </a:rPr>
                <a:t>&amp;</a:t>
              </a:r>
              <a:r>
                <a:rPr lang="zh-TW" altLang="en-US" sz="1600" dirty="0">
                  <a:ea typeface="微軟正黑體" panose="020B0604030504040204" pitchFamily="34" charset="-120"/>
                </a:rPr>
                <a:t> </a:t>
              </a:r>
              <a:r>
                <a:rPr lang="en-US" altLang="zh-TW" sz="1600" dirty="0">
                  <a:ea typeface="微軟正黑體" panose="020B0604030504040204" pitchFamily="34" charset="-120"/>
                </a:rPr>
                <a:t>PPT</a:t>
              </a:r>
              <a:r>
                <a:rPr lang="zh-TW" altLang="en-US" sz="1600" dirty="0">
                  <a:ea typeface="微軟正黑體" panose="020B0604030504040204" pitchFamily="34" charset="-120"/>
                </a:rPr>
                <a:t> 的內容</a:t>
              </a:r>
              <a:endParaRPr lang="en-US" altLang="zh-TW" sz="1600" dirty="0">
                <a:ea typeface="微軟正黑體" panose="020B0604030504040204" pitchFamily="34" charset="-120"/>
              </a:endParaRPr>
            </a:p>
          </p:txBody>
        </p:sp>
      </p:grpSp>
      <p:sp>
        <p:nvSpPr>
          <p:cNvPr id="183" name="文字方塊 182">
            <a:extLst>
              <a:ext uri="{FF2B5EF4-FFF2-40B4-BE49-F238E27FC236}">
                <a16:creationId xmlns:a16="http://schemas.microsoft.com/office/drawing/2014/main" id="{EDA291CE-BE57-4F5F-AF1C-EB5DE315BC0B}"/>
              </a:ext>
            </a:extLst>
          </p:cNvPr>
          <p:cNvSpPr txBox="1"/>
          <p:nvPr/>
        </p:nvSpPr>
        <p:spPr>
          <a:xfrm>
            <a:off x="9098299" y="1146119"/>
            <a:ext cx="1986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solidFill>
                  <a:srgbClr val="3471A7"/>
                </a:solidFill>
                <a:ea typeface="微軟正黑體" panose="020B0604030504040204" pitchFamily="34" charset="-120"/>
              </a:rPr>
              <a:t>依照現有資訊思考下一步要做什麼</a:t>
            </a:r>
            <a:endParaRPr lang="en-US" altLang="zh-TW" sz="1600" b="1" dirty="0">
              <a:solidFill>
                <a:srgbClr val="3471A7"/>
              </a:solidFill>
              <a:ea typeface="微軟正黑體" panose="020B0604030504040204" pitchFamily="34" charset="-120"/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5132EE24-65C4-4571-AB65-387CB9B06A8E}"/>
              </a:ext>
            </a:extLst>
          </p:cNvPr>
          <p:cNvSpPr txBox="1"/>
          <p:nvPr/>
        </p:nvSpPr>
        <p:spPr>
          <a:xfrm>
            <a:off x="360515" y="652757"/>
            <a:ext cx="27137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先規劃好再按步執行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D24D2293-527A-4C4C-8061-E6270D7AC046}"/>
              </a:ext>
            </a:extLst>
          </p:cNvPr>
          <p:cNvSpPr txBox="1"/>
          <p:nvPr/>
        </p:nvSpPr>
        <p:spPr>
          <a:xfrm>
            <a:off x="6030542" y="658845"/>
            <a:ext cx="1597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邊做邊想</a:t>
            </a:r>
          </a:p>
        </p:txBody>
      </p:sp>
    </p:spTree>
    <p:extLst>
      <p:ext uri="{BB962C8B-B14F-4D97-AF65-F5344CB8AC3E}">
        <p14:creationId xmlns:p14="http://schemas.microsoft.com/office/powerpoint/2010/main" val="950946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4FFB1DA-9B39-401B-B5AD-C827C6D77A0D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C7DE929F-2578-43A7-9E5C-4037B3CBDDEA}"/>
              </a:ext>
            </a:extLst>
          </p:cNvPr>
          <p:cNvGrpSpPr/>
          <p:nvPr/>
        </p:nvGrpSpPr>
        <p:grpSpPr>
          <a:xfrm>
            <a:off x="4426043" y="714641"/>
            <a:ext cx="3339913" cy="5428717"/>
            <a:chOff x="4426043" y="714641"/>
            <a:chExt cx="3339913" cy="5428717"/>
          </a:xfrm>
        </p:grpSpPr>
        <p:grpSp>
          <p:nvGrpSpPr>
            <p:cNvPr id="4" name="群組 3">
              <a:extLst>
                <a:ext uri="{FF2B5EF4-FFF2-40B4-BE49-F238E27FC236}">
                  <a16:creationId xmlns:a16="http://schemas.microsoft.com/office/drawing/2014/main" id="{ADB9DEA1-F497-44A4-89C3-2A8C61F0C63E}"/>
                </a:ext>
              </a:extLst>
            </p:cNvPr>
            <p:cNvGrpSpPr/>
            <p:nvPr/>
          </p:nvGrpSpPr>
          <p:grpSpPr>
            <a:xfrm>
              <a:off x="4426043" y="714641"/>
              <a:ext cx="3339913" cy="5428717"/>
              <a:chOff x="7705872" y="605523"/>
              <a:chExt cx="3339913" cy="5428717"/>
            </a:xfrm>
          </p:grpSpPr>
          <p:grpSp>
            <p:nvGrpSpPr>
              <p:cNvPr id="5" name="群組 4">
                <a:extLst>
                  <a:ext uri="{FF2B5EF4-FFF2-40B4-BE49-F238E27FC236}">
                    <a16:creationId xmlns:a16="http://schemas.microsoft.com/office/drawing/2014/main" id="{4D96B4B3-4D79-49F3-9090-D0C0EF9F00E0}"/>
                  </a:ext>
                </a:extLst>
              </p:cNvPr>
              <p:cNvGrpSpPr/>
              <p:nvPr/>
            </p:nvGrpSpPr>
            <p:grpSpPr>
              <a:xfrm>
                <a:off x="8063952" y="1339129"/>
                <a:ext cx="1252524" cy="1603520"/>
                <a:chOff x="557422" y="3613157"/>
                <a:chExt cx="1252524" cy="1603520"/>
              </a:xfrm>
            </p:grpSpPr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43135FD4-EE27-40B7-B97F-D1DF8E4D7A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duotone>
                    <a:srgbClr val="5B9BD5">
                      <a:shade val="45000"/>
                      <a:satMod val="135000"/>
                    </a:srgb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9211" b="93421" l="7483" r="89796">
                              <a14:foregroundMark x1="7483" y1="47368" x2="7483" y2="47368"/>
                              <a14:foregroundMark x1="31973" y1="44079" x2="31973" y2="44079"/>
                              <a14:foregroundMark x1="62585" y1="51974" x2="62585" y2="51974"/>
                              <a14:foregroundMark x1="63265" y1="12500" x2="63265" y2="12500"/>
                              <a14:foregroundMark x1="42177" y1="90789" x2="42177" y2="90789"/>
                              <a14:foregroundMark x1="62585" y1="93421" x2="62585" y2="93421"/>
                              <a14:foregroundMark x1="42857" y1="89474" x2="42857" y2="89474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7422" y="3921550"/>
                  <a:ext cx="1252524" cy="1295127"/>
                </a:xfrm>
                <a:prstGeom prst="rect">
                  <a:avLst/>
                </a:prstGeom>
              </p:spPr>
            </p:pic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874F54F5-5A5D-4D19-8308-61477868023F}"/>
                    </a:ext>
                  </a:extLst>
                </p:cNvPr>
                <p:cNvSpPr txBox="1"/>
                <p:nvPr/>
              </p:nvSpPr>
              <p:spPr>
                <a:xfrm>
                  <a:off x="723054" y="3613157"/>
                  <a:ext cx="92126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000" b="1" dirty="0">
                      <a:solidFill>
                        <a:srgbClr val="3471A7"/>
                      </a:solidFill>
                    </a:rPr>
                    <a:t>LLM</a:t>
                  </a:r>
                  <a:endParaRPr lang="zh-TW" altLang="en-US" sz="2000" b="1" dirty="0">
                    <a:solidFill>
                      <a:srgbClr val="3471A7"/>
                    </a:solidFill>
                  </a:endParaRPr>
                </a:p>
              </p:txBody>
            </p:sp>
          </p:grpSp>
          <p:grpSp>
            <p:nvGrpSpPr>
              <p:cNvPr id="6" name="群組 5">
                <a:extLst>
                  <a:ext uri="{FF2B5EF4-FFF2-40B4-BE49-F238E27FC236}">
                    <a16:creationId xmlns:a16="http://schemas.microsoft.com/office/drawing/2014/main" id="{07C4C51B-5996-433E-9835-D3030A5551B0}"/>
                  </a:ext>
                </a:extLst>
              </p:cNvPr>
              <p:cNvGrpSpPr/>
              <p:nvPr/>
            </p:nvGrpSpPr>
            <p:grpSpPr>
              <a:xfrm>
                <a:off x="9701395" y="2295085"/>
                <a:ext cx="1237626" cy="1603521"/>
                <a:chOff x="8821286" y="1944613"/>
                <a:chExt cx="1237626" cy="1603521"/>
              </a:xfrm>
            </p:grpSpPr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78FE8150-594F-49F1-B40D-7CBE1485CB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duotone>
                    <a:schemeClr val="accent2">
                      <a:shade val="45000"/>
                      <a:satMod val="135000"/>
                    </a:scheme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9471" b="96100" l="10000" r="90000">
                              <a14:foregroundMark x1="13889" y1="21170" x2="13889" y2="21170"/>
                              <a14:foregroundMark x1="24444" y1="24234" x2="24444" y2="24234"/>
                              <a14:foregroundMark x1="30000" y1="22006" x2="30000" y2="22006"/>
                              <a14:foregroundMark x1="39722" y1="81616" x2="39722" y2="81616"/>
                              <a14:foregroundMark x1="19444" y1="92201" x2="19444" y2="92201"/>
                              <a14:foregroundMark x1="28889" y1="96100" x2="28889" y2="96100"/>
                              <a14:foregroundMark x1="23056" y1="79666" x2="23056" y2="79666"/>
                              <a14:foregroundMark x1="75556" y1="10306" x2="75556" y2="10306"/>
                              <a14:foregroundMark x1="76667" y1="9749" x2="76667" y2="9749"/>
                              <a14:foregroundMark x1="23333" y1="9749" x2="23333" y2="9749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21286" y="2313946"/>
                  <a:ext cx="1237626" cy="1234188"/>
                </a:xfrm>
                <a:prstGeom prst="rect">
                  <a:avLst/>
                </a:prstGeom>
              </p:spPr>
            </p:pic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C996E07F-2F7D-42DB-9589-6362573AA8D0}"/>
                    </a:ext>
                  </a:extLst>
                </p:cNvPr>
                <p:cNvSpPr txBox="1"/>
                <p:nvPr/>
              </p:nvSpPr>
              <p:spPr>
                <a:xfrm>
                  <a:off x="8916230" y="1944613"/>
                  <a:ext cx="92126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000" b="1" dirty="0">
                      <a:solidFill>
                        <a:srgbClr val="C35710"/>
                      </a:solidFill>
                    </a:rPr>
                    <a:t>Tool</a:t>
                  </a:r>
                  <a:endParaRPr lang="zh-TW" altLang="en-US" sz="2000" b="1" dirty="0">
                    <a:solidFill>
                      <a:srgbClr val="C35710"/>
                    </a:solidFill>
                  </a:endParaRPr>
                </a:p>
              </p:txBody>
            </p:sp>
          </p:grpSp>
          <p:grpSp>
            <p:nvGrpSpPr>
              <p:cNvPr id="7" name="群組 6">
                <a:extLst>
                  <a:ext uri="{FF2B5EF4-FFF2-40B4-BE49-F238E27FC236}">
                    <a16:creationId xmlns:a16="http://schemas.microsoft.com/office/drawing/2014/main" id="{0828828A-1EE6-4F0B-A98F-E9336FD0641E}"/>
                  </a:ext>
                </a:extLst>
              </p:cNvPr>
              <p:cNvGrpSpPr/>
              <p:nvPr/>
            </p:nvGrpSpPr>
            <p:grpSpPr>
              <a:xfrm>
                <a:off x="8123306" y="3576115"/>
                <a:ext cx="1252524" cy="1603520"/>
                <a:chOff x="557422" y="3613157"/>
                <a:chExt cx="1252524" cy="1603520"/>
              </a:xfrm>
            </p:grpSpPr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60ED289F-64C6-4104-A7CF-A73923490B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duotone>
                    <a:srgbClr val="5B9BD5">
                      <a:shade val="45000"/>
                      <a:satMod val="135000"/>
                    </a:srgb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9211" b="93421" l="7483" r="89796">
                              <a14:foregroundMark x1="7483" y1="47368" x2="7483" y2="47368"/>
                              <a14:foregroundMark x1="31973" y1="44079" x2="31973" y2="44079"/>
                              <a14:foregroundMark x1="62585" y1="51974" x2="62585" y2="51974"/>
                              <a14:foregroundMark x1="63265" y1="12500" x2="63265" y2="12500"/>
                              <a14:foregroundMark x1="42177" y1="90789" x2="42177" y2="90789"/>
                              <a14:foregroundMark x1="62585" y1="93421" x2="62585" y2="93421"/>
                              <a14:foregroundMark x1="42857" y1="89474" x2="42857" y2="89474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7422" y="3921550"/>
                  <a:ext cx="1252524" cy="1295127"/>
                </a:xfrm>
                <a:prstGeom prst="rect">
                  <a:avLst/>
                </a:prstGeom>
              </p:spPr>
            </p:pic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B9307505-EA65-4193-AB25-8FC02E71A4C9}"/>
                    </a:ext>
                  </a:extLst>
                </p:cNvPr>
                <p:cNvSpPr txBox="1"/>
                <p:nvPr/>
              </p:nvSpPr>
              <p:spPr>
                <a:xfrm>
                  <a:off x="723054" y="3613157"/>
                  <a:ext cx="92126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000" b="1" dirty="0">
                      <a:solidFill>
                        <a:srgbClr val="3471A7"/>
                      </a:solidFill>
                    </a:rPr>
                    <a:t>LLM</a:t>
                  </a:r>
                  <a:endParaRPr lang="zh-TW" altLang="en-US" sz="2000" b="1" dirty="0">
                    <a:solidFill>
                      <a:srgbClr val="3471A7"/>
                    </a:solidFill>
                  </a:endParaRPr>
                </a:p>
              </p:txBody>
            </p:sp>
          </p:grpSp>
          <p:cxnSp>
            <p:nvCxnSpPr>
              <p:cNvPr id="8" name="接點: 肘形 7">
                <a:extLst>
                  <a:ext uri="{FF2B5EF4-FFF2-40B4-BE49-F238E27FC236}">
                    <a16:creationId xmlns:a16="http://schemas.microsoft.com/office/drawing/2014/main" id="{014C9ADC-6CA6-4F80-8524-C4EFE054474A}"/>
                  </a:ext>
                </a:extLst>
              </p:cNvPr>
              <p:cNvCxnSpPr>
                <a:stCxn id="20" idx="2"/>
              </p:cNvCxnSpPr>
              <p:nvPr/>
            </p:nvCxnSpPr>
            <p:spPr>
              <a:xfrm rot="16200000" flipH="1">
                <a:off x="9173318" y="2459544"/>
                <a:ext cx="139916" cy="1106125"/>
              </a:xfrm>
              <a:prstGeom prst="bentConnector2">
                <a:avLst/>
              </a:prstGeom>
              <a:ln w="28575">
                <a:solidFill>
                  <a:srgbClr val="3471A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接點: 肘形 8">
                <a:extLst>
                  <a:ext uri="{FF2B5EF4-FFF2-40B4-BE49-F238E27FC236}">
                    <a16:creationId xmlns:a16="http://schemas.microsoft.com/office/drawing/2014/main" id="{7414421E-83F6-46D7-8516-5205B459D236}"/>
                  </a:ext>
                </a:extLst>
              </p:cNvPr>
              <p:cNvCxnSpPr>
                <a:cxnSpLocks/>
                <a:stCxn id="18" idx="1"/>
                <a:endCxn id="17" idx="0"/>
              </p:cNvCxnSpPr>
              <p:nvPr/>
            </p:nvCxnSpPr>
            <p:spPr>
              <a:xfrm rot="10800000" flipV="1">
                <a:off x="8749569" y="3281511"/>
                <a:ext cx="951827" cy="294603"/>
              </a:xfrm>
              <a:prstGeom prst="bentConnector2">
                <a:avLst/>
              </a:prstGeom>
              <a:ln w="28575">
                <a:solidFill>
                  <a:srgbClr val="C3571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矩形: 圓角 9">
                <a:extLst>
                  <a:ext uri="{FF2B5EF4-FFF2-40B4-BE49-F238E27FC236}">
                    <a16:creationId xmlns:a16="http://schemas.microsoft.com/office/drawing/2014/main" id="{68E4DA1F-2DA0-4986-96B7-5D6477F1822B}"/>
                  </a:ext>
                </a:extLst>
              </p:cNvPr>
              <p:cNvSpPr/>
              <p:nvPr/>
            </p:nvSpPr>
            <p:spPr>
              <a:xfrm>
                <a:off x="7988431" y="1085125"/>
                <a:ext cx="2950590" cy="4373628"/>
              </a:xfrm>
              <a:prstGeom prst="roundRect">
                <a:avLst/>
              </a:prstGeom>
              <a:noFill/>
              <a:ln w="381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92D9A556-5A17-41FC-9EED-79F172A3C603}"/>
                  </a:ext>
                </a:extLst>
              </p:cNvPr>
              <p:cNvSpPr txBox="1"/>
              <p:nvPr/>
            </p:nvSpPr>
            <p:spPr>
              <a:xfrm>
                <a:off x="7900535" y="605523"/>
                <a:ext cx="29505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b="1" dirty="0"/>
                  <a:t>Request</a:t>
                </a:r>
                <a:endParaRPr lang="zh-TW" altLang="en-US" b="1" dirty="0"/>
              </a:p>
            </p:txBody>
          </p:sp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01B0E49E-9CF9-461A-AACC-D9FEBDE995E3}"/>
                  </a:ext>
                </a:extLst>
              </p:cNvPr>
              <p:cNvSpPr txBox="1"/>
              <p:nvPr/>
            </p:nvSpPr>
            <p:spPr>
              <a:xfrm>
                <a:off x="7705872" y="5664908"/>
                <a:ext cx="3339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b="1" dirty="0"/>
                  <a:t>Response</a:t>
                </a:r>
                <a:endParaRPr lang="zh-TW" altLang="en-US" b="1" dirty="0"/>
              </a:p>
            </p:txBody>
          </p:sp>
          <p:cxnSp>
            <p:nvCxnSpPr>
              <p:cNvPr id="13" name="接點: 肘形 12">
                <a:extLst>
                  <a:ext uri="{FF2B5EF4-FFF2-40B4-BE49-F238E27FC236}">
                    <a16:creationId xmlns:a16="http://schemas.microsoft.com/office/drawing/2014/main" id="{8A782512-2EB7-4BB8-B1C3-7FD57506EF93}"/>
                  </a:ext>
                </a:extLst>
              </p:cNvPr>
              <p:cNvCxnSpPr>
                <a:cxnSpLocks/>
                <a:stCxn id="11" idx="2"/>
                <a:endCxn id="21" idx="0"/>
              </p:cNvCxnSpPr>
              <p:nvPr/>
            </p:nvCxnSpPr>
            <p:spPr>
              <a:xfrm rot="5400000">
                <a:off x="8850885" y="814184"/>
                <a:ext cx="364274" cy="685616"/>
              </a:xfrm>
              <a:prstGeom prst="bentConnector3">
                <a:avLst>
                  <a:gd name="adj1" fmla="val 57764"/>
                </a:avLst>
              </a:prstGeom>
              <a:ln w="28575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接點: 肘形 13">
                <a:extLst>
                  <a:ext uri="{FF2B5EF4-FFF2-40B4-BE49-F238E27FC236}">
                    <a16:creationId xmlns:a16="http://schemas.microsoft.com/office/drawing/2014/main" id="{00ABE8CF-49C1-4E9D-9380-A4EF075114D3}"/>
                  </a:ext>
                </a:extLst>
              </p:cNvPr>
              <p:cNvCxnSpPr>
                <a:cxnSpLocks/>
                <a:stCxn id="16" idx="2"/>
                <a:endCxn id="12" idx="0"/>
              </p:cNvCxnSpPr>
              <p:nvPr/>
            </p:nvCxnSpPr>
            <p:spPr>
              <a:xfrm rot="16200000" flipH="1">
                <a:off x="8820062" y="5109140"/>
                <a:ext cx="485273" cy="626261"/>
              </a:xfrm>
              <a:prstGeom prst="bentConnector3">
                <a:avLst>
                  <a:gd name="adj1" fmla="val 26689"/>
                </a:avLst>
              </a:prstGeom>
              <a:ln w="28575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B9E9829E-BB1B-424F-94C7-B6E7146D7FEA}"/>
                  </a:ext>
                </a:extLst>
              </p:cNvPr>
              <p:cNvSpPr txBox="1"/>
              <p:nvPr/>
            </p:nvSpPr>
            <p:spPr>
              <a:xfrm>
                <a:off x="9796339" y="1154763"/>
                <a:ext cx="9212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Agent</a:t>
                </a:r>
                <a:endParaRPr lang="zh-TW" alt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86F5D6A-BCC1-4F0F-B3AA-A2ACCDE19063}"/>
                </a:ext>
              </a:extLst>
            </p:cNvPr>
            <p:cNvSpPr/>
            <p:nvPr/>
          </p:nvSpPr>
          <p:spPr>
            <a:xfrm>
              <a:off x="4799021" y="1464618"/>
              <a:ext cx="1237626" cy="160351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4" name="標題 1">
            <a:extLst>
              <a:ext uri="{FF2B5EF4-FFF2-40B4-BE49-F238E27FC236}">
                <a16:creationId xmlns:a16="http://schemas.microsoft.com/office/drawing/2014/main" id="{61F8FDF7-0B74-414B-AC16-D3B9539D5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000" y="365125"/>
            <a:ext cx="10897800" cy="720000"/>
          </a:xfrm>
        </p:spPr>
        <p:txBody>
          <a:bodyPr/>
          <a:lstStyle/>
          <a:p>
            <a:r>
              <a:rPr lang="en-US" altLang="zh-TW" dirty="0"/>
              <a:t>Architecture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23810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12259C-4209-4489-9A68-90551833A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LLM</a:t>
            </a:r>
            <a:r>
              <a:rPr lang="zh-TW" altLang="en-US" dirty="0"/>
              <a:t> 可以理解的對話紀錄格式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0E91655-D761-4B17-B0DF-777D6B46200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A91BAFB2-98ED-4C14-AFA0-5334A6CB3F3F}"/>
              </a:ext>
            </a:extLst>
          </p:cNvPr>
          <p:cNvGrpSpPr/>
          <p:nvPr/>
        </p:nvGrpSpPr>
        <p:grpSpPr>
          <a:xfrm>
            <a:off x="5821433" y="1075783"/>
            <a:ext cx="3827282" cy="878638"/>
            <a:chOff x="970962" y="1372408"/>
            <a:chExt cx="3827282" cy="878638"/>
          </a:xfrm>
        </p:grpSpPr>
        <p:sp>
          <p:nvSpPr>
            <p:cNvPr id="4" name="語音泡泡: 矩形 3">
              <a:extLst>
                <a:ext uri="{FF2B5EF4-FFF2-40B4-BE49-F238E27FC236}">
                  <a16:creationId xmlns:a16="http://schemas.microsoft.com/office/drawing/2014/main" id="{A062622D-4250-46BD-A9B4-1C5C98D39B8C}"/>
                </a:ext>
              </a:extLst>
            </p:cNvPr>
            <p:cNvSpPr/>
            <p:nvPr/>
          </p:nvSpPr>
          <p:spPr>
            <a:xfrm>
              <a:off x="970962" y="1451727"/>
              <a:ext cx="1480007" cy="720000"/>
            </a:xfrm>
            <a:prstGeom prst="wedgeRectCallout">
              <a:avLst>
                <a:gd name="adj1" fmla="val -38659"/>
                <a:gd name="adj2" fmla="val 67881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message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8321C240-FDFC-42BD-A28E-10D304810DBB}"/>
                </a:ext>
              </a:extLst>
            </p:cNvPr>
            <p:cNvSpPr txBox="1"/>
            <p:nvPr/>
          </p:nvSpPr>
          <p:spPr>
            <a:xfrm>
              <a:off x="2887169" y="1372408"/>
              <a:ext cx="1911075" cy="878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b="1" dirty="0"/>
                <a:t>role: </a:t>
              </a:r>
              <a:r>
                <a:rPr lang="en-US" altLang="zh-TW" dirty="0"/>
                <a:t>user</a:t>
              </a:r>
            </a:p>
            <a:p>
              <a:pPr>
                <a:lnSpc>
                  <a:spcPct val="150000"/>
                </a:lnSpc>
              </a:pPr>
              <a:r>
                <a:rPr lang="en-US" altLang="zh-TW" b="1" dirty="0">
                  <a:ea typeface="微軟正黑體" panose="020B0604030504040204" pitchFamily="34" charset="-120"/>
                </a:rPr>
                <a:t>content: </a:t>
              </a:r>
              <a:r>
                <a:rPr lang="zh-TW" altLang="en-US" dirty="0">
                  <a:ea typeface="微軟正黑體" panose="020B0604030504040204" pitchFamily="34" charset="-120"/>
                </a:rPr>
                <a:t>你好嗎</a:t>
              </a:r>
            </a:p>
          </p:txBody>
        </p:sp>
        <p:sp>
          <p:nvSpPr>
            <p:cNvPr id="7" name="左大括弧 6">
              <a:extLst>
                <a:ext uri="{FF2B5EF4-FFF2-40B4-BE49-F238E27FC236}">
                  <a16:creationId xmlns:a16="http://schemas.microsoft.com/office/drawing/2014/main" id="{6580E97E-1C29-42DB-AC41-3A43AEAF4F53}"/>
                </a:ext>
              </a:extLst>
            </p:cNvPr>
            <p:cNvSpPr/>
            <p:nvPr/>
          </p:nvSpPr>
          <p:spPr>
            <a:xfrm>
              <a:off x="2541807" y="1372408"/>
              <a:ext cx="254524" cy="878638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73CA228E-3D25-4318-8E09-30BF37392EC3}"/>
              </a:ext>
            </a:extLst>
          </p:cNvPr>
          <p:cNvSpPr txBox="1"/>
          <p:nvPr/>
        </p:nvSpPr>
        <p:spPr>
          <a:xfrm>
            <a:off x="456000" y="1124665"/>
            <a:ext cx="4977353" cy="879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LLM </a:t>
            </a:r>
            <a:r>
              <a:rPr lang="zh-TW" altLang="en-US" dirty="0"/>
              <a:t>記錄對話是由多個 </a:t>
            </a:r>
            <a:r>
              <a:rPr lang="en-US" altLang="zh-TW" dirty="0"/>
              <a:t>message </a:t>
            </a:r>
            <a:r>
              <a:rPr lang="zh-TW" altLang="en-US" dirty="0"/>
              <a:t>組成的 </a:t>
            </a:r>
            <a:r>
              <a:rPr lang="en-US" altLang="zh-TW" dirty="0"/>
              <a:t>list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/>
              <a:t>每個 </a:t>
            </a:r>
            <a:r>
              <a:rPr lang="en-US" altLang="zh-TW" dirty="0"/>
              <a:t>message </a:t>
            </a:r>
            <a:r>
              <a:rPr lang="zh-TW" altLang="en-US" dirty="0"/>
              <a:t>都要有 </a:t>
            </a:r>
            <a:r>
              <a:rPr lang="en-US" altLang="zh-TW" dirty="0">
                <a:solidFill>
                  <a:srgbClr val="FF0000"/>
                </a:solidFill>
              </a:rPr>
              <a:t>role, content </a:t>
            </a:r>
            <a:r>
              <a:rPr lang="zh-TW" altLang="en-US" dirty="0"/>
              <a:t>這兩個部分</a:t>
            </a:r>
          </a:p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E6F29566-F446-426B-8EF7-CC6674240239}"/>
              </a:ext>
            </a:extLst>
          </p:cNvPr>
          <p:cNvGrpSpPr/>
          <p:nvPr/>
        </p:nvGrpSpPr>
        <p:grpSpPr>
          <a:xfrm>
            <a:off x="644063" y="2181889"/>
            <a:ext cx="6367495" cy="3968907"/>
            <a:chOff x="456000" y="2167942"/>
            <a:chExt cx="6367495" cy="3968907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C948E780-A8A4-4E29-8592-8E6DE6FB0B7C}"/>
                </a:ext>
              </a:extLst>
            </p:cNvPr>
            <p:cNvSpPr/>
            <p:nvPr/>
          </p:nvSpPr>
          <p:spPr>
            <a:xfrm>
              <a:off x="456000" y="2545237"/>
              <a:ext cx="2714920" cy="359161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語音泡泡: 矩形 13">
              <a:extLst>
                <a:ext uri="{FF2B5EF4-FFF2-40B4-BE49-F238E27FC236}">
                  <a16:creationId xmlns:a16="http://schemas.microsoft.com/office/drawing/2014/main" id="{DB28B832-571D-4642-9B30-DAB8082EA570}"/>
                </a:ext>
              </a:extLst>
            </p:cNvPr>
            <p:cNvSpPr/>
            <p:nvPr/>
          </p:nvSpPr>
          <p:spPr>
            <a:xfrm>
              <a:off x="1533304" y="3901857"/>
              <a:ext cx="1480007" cy="550527"/>
            </a:xfrm>
            <a:prstGeom prst="wedgeRectCallout">
              <a:avLst>
                <a:gd name="adj1" fmla="val 44781"/>
                <a:gd name="adj2" fmla="val 74427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23+32=?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7A3BA782-116D-4833-B842-E3C857218F6A}"/>
                </a:ext>
              </a:extLst>
            </p:cNvPr>
            <p:cNvSpPr txBox="1"/>
            <p:nvPr/>
          </p:nvSpPr>
          <p:spPr>
            <a:xfrm>
              <a:off x="3383524" y="3916666"/>
              <a:ext cx="1911075" cy="8786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b="1" dirty="0"/>
                <a:t>role: </a:t>
              </a:r>
              <a:r>
                <a:rPr lang="en-US" altLang="zh-TW" b="1" dirty="0">
                  <a:solidFill>
                    <a:srgbClr val="0070C0"/>
                  </a:solidFill>
                </a:rPr>
                <a:t>user</a:t>
              </a:r>
            </a:p>
            <a:p>
              <a:pPr>
                <a:lnSpc>
                  <a:spcPct val="150000"/>
                </a:lnSpc>
              </a:pPr>
              <a:r>
                <a:rPr lang="en-US" altLang="zh-TW" dirty="0">
                  <a:ea typeface="微軟正黑體" panose="020B0604030504040204" pitchFamily="34" charset="-120"/>
                </a:rPr>
                <a:t>content: 23+32=?</a:t>
              </a:r>
              <a:endParaRPr lang="zh-TW" altLang="en-US" dirty="0">
                <a:ea typeface="微軟正黑體" panose="020B0604030504040204" pitchFamily="34" charset="-120"/>
              </a:endParaRPr>
            </a:p>
          </p:txBody>
        </p:sp>
        <p:sp>
          <p:nvSpPr>
            <p:cNvPr id="18" name="語音泡泡: 矩形 17">
              <a:extLst>
                <a:ext uri="{FF2B5EF4-FFF2-40B4-BE49-F238E27FC236}">
                  <a16:creationId xmlns:a16="http://schemas.microsoft.com/office/drawing/2014/main" id="{661E678D-79E3-44C2-A2FC-98790FE72532}"/>
                </a:ext>
              </a:extLst>
            </p:cNvPr>
            <p:cNvSpPr/>
            <p:nvPr/>
          </p:nvSpPr>
          <p:spPr>
            <a:xfrm>
              <a:off x="591489" y="4935676"/>
              <a:ext cx="1398432" cy="550527"/>
            </a:xfrm>
            <a:prstGeom prst="wedgeRectCallout">
              <a:avLst>
                <a:gd name="adj1" fmla="val -38659"/>
                <a:gd name="adj2" fmla="val 67881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55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0755B7FB-372A-4559-8ABA-5D27B5592B22}"/>
                </a:ext>
              </a:extLst>
            </p:cNvPr>
            <p:cNvSpPr txBox="1"/>
            <p:nvPr/>
          </p:nvSpPr>
          <p:spPr>
            <a:xfrm>
              <a:off x="3383524" y="4782067"/>
              <a:ext cx="1911075" cy="87863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b="1" dirty="0"/>
                <a:t>role: </a:t>
              </a:r>
              <a:r>
                <a:rPr lang="en-US" altLang="zh-TW" b="1" dirty="0">
                  <a:solidFill>
                    <a:srgbClr val="00B050"/>
                  </a:solidFill>
                </a:rPr>
                <a:t>assistant</a:t>
              </a:r>
            </a:p>
            <a:p>
              <a:pPr>
                <a:lnSpc>
                  <a:spcPct val="150000"/>
                </a:lnSpc>
              </a:pPr>
              <a:r>
                <a:rPr lang="en-US" altLang="zh-TW" dirty="0">
                  <a:ea typeface="微軟正黑體" panose="020B0604030504040204" pitchFamily="34" charset="-120"/>
                </a:rPr>
                <a:t>content: 55</a:t>
              </a:r>
              <a:endParaRPr lang="zh-TW" altLang="en-US" dirty="0">
                <a:ea typeface="微軟正黑體" panose="020B0604030504040204" pitchFamily="34" charset="-120"/>
              </a:endParaRPr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383E3300-2228-4493-AADD-EB58B4360164}"/>
                </a:ext>
              </a:extLst>
            </p:cNvPr>
            <p:cNvSpPr txBox="1"/>
            <p:nvPr/>
          </p:nvSpPr>
          <p:spPr>
            <a:xfrm>
              <a:off x="1068742" y="2167942"/>
              <a:ext cx="14894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/>
                <a:t>Chatroom</a:t>
              </a:r>
              <a:endParaRPr lang="zh-TW" altLang="en-US" b="1" dirty="0"/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7048F144-B6A5-4876-B1C6-D8D878ECCAC1}"/>
                </a:ext>
              </a:extLst>
            </p:cNvPr>
            <p:cNvSpPr txBox="1"/>
            <p:nvPr/>
          </p:nvSpPr>
          <p:spPr>
            <a:xfrm>
              <a:off x="3594343" y="2175905"/>
              <a:ext cx="14894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/>
                <a:t>Messages</a:t>
              </a:r>
              <a:endParaRPr lang="zh-TW" altLang="en-US" b="1" dirty="0"/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EC12D101-DBB4-4A65-9A34-3F7DE9CEFBB2}"/>
                </a:ext>
              </a:extLst>
            </p:cNvPr>
            <p:cNvSpPr txBox="1"/>
            <p:nvPr/>
          </p:nvSpPr>
          <p:spPr>
            <a:xfrm>
              <a:off x="5368502" y="4267718"/>
              <a:ext cx="145499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TW" altLang="en-US" b="1" dirty="0">
                  <a:solidFill>
                    <a:srgbClr val="0070C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使用者指令</a:t>
              </a:r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897D94A8-9109-44AF-B35B-5B53F39B1E69}"/>
                </a:ext>
              </a:extLst>
            </p:cNvPr>
            <p:cNvSpPr txBox="1"/>
            <p:nvPr/>
          </p:nvSpPr>
          <p:spPr>
            <a:xfrm>
              <a:off x="5368502" y="5079981"/>
              <a:ext cx="145499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b="1" dirty="0">
                  <a:solidFill>
                    <a:srgbClr val="00B05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LLM</a:t>
              </a:r>
              <a:r>
                <a:rPr lang="zh-TW" altLang="en-US" b="1" dirty="0">
                  <a:solidFill>
                    <a:srgbClr val="00B05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的回應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0638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12259C-4209-4489-9A68-90551833A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LLM</a:t>
            </a:r>
            <a:r>
              <a:rPr lang="zh-TW" altLang="en-US" dirty="0"/>
              <a:t> 可以理解的對話紀錄格式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0E91655-D761-4B17-B0DF-777D6B46200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A91BAFB2-98ED-4C14-AFA0-5334A6CB3F3F}"/>
              </a:ext>
            </a:extLst>
          </p:cNvPr>
          <p:cNvGrpSpPr/>
          <p:nvPr/>
        </p:nvGrpSpPr>
        <p:grpSpPr>
          <a:xfrm>
            <a:off x="5821433" y="1075783"/>
            <a:ext cx="3827282" cy="878638"/>
            <a:chOff x="970962" y="1372408"/>
            <a:chExt cx="3827282" cy="878638"/>
          </a:xfrm>
        </p:grpSpPr>
        <p:sp>
          <p:nvSpPr>
            <p:cNvPr id="4" name="語音泡泡: 矩形 3">
              <a:extLst>
                <a:ext uri="{FF2B5EF4-FFF2-40B4-BE49-F238E27FC236}">
                  <a16:creationId xmlns:a16="http://schemas.microsoft.com/office/drawing/2014/main" id="{A062622D-4250-46BD-A9B4-1C5C98D39B8C}"/>
                </a:ext>
              </a:extLst>
            </p:cNvPr>
            <p:cNvSpPr/>
            <p:nvPr/>
          </p:nvSpPr>
          <p:spPr>
            <a:xfrm>
              <a:off x="970962" y="1451727"/>
              <a:ext cx="1480007" cy="720000"/>
            </a:xfrm>
            <a:prstGeom prst="wedgeRectCallout">
              <a:avLst>
                <a:gd name="adj1" fmla="val -38659"/>
                <a:gd name="adj2" fmla="val 67881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message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8321C240-FDFC-42BD-A28E-10D304810DBB}"/>
                </a:ext>
              </a:extLst>
            </p:cNvPr>
            <p:cNvSpPr txBox="1"/>
            <p:nvPr/>
          </p:nvSpPr>
          <p:spPr>
            <a:xfrm>
              <a:off x="2887169" y="1372408"/>
              <a:ext cx="1911075" cy="878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b="1" dirty="0"/>
                <a:t>role: </a:t>
              </a:r>
              <a:r>
                <a:rPr lang="en-US" altLang="zh-TW" dirty="0"/>
                <a:t>user</a:t>
              </a:r>
            </a:p>
            <a:p>
              <a:pPr>
                <a:lnSpc>
                  <a:spcPct val="150000"/>
                </a:lnSpc>
              </a:pPr>
              <a:r>
                <a:rPr lang="en-US" altLang="zh-TW" b="1" dirty="0">
                  <a:ea typeface="微軟正黑體" panose="020B0604030504040204" pitchFamily="34" charset="-120"/>
                </a:rPr>
                <a:t>content: </a:t>
              </a:r>
              <a:r>
                <a:rPr lang="zh-TW" altLang="en-US" dirty="0">
                  <a:ea typeface="微軟正黑體" panose="020B0604030504040204" pitchFamily="34" charset="-120"/>
                </a:rPr>
                <a:t>你好嗎</a:t>
              </a:r>
            </a:p>
          </p:txBody>
        </p:sp>
        <p:sp>
          <p:nvSpPr>
            <p:cNvPr id="7" name="左大括弧 6">
              <a:extLst>
                <a:ext uri="{FF2B5EF4-FFF2-40B4-BE49-F238E27FC236}">
                  <a16:creationId xmlns:a16="http://schemas.microsoft.com/office/drawing/2014/main" id="{6580E97E-1C29-42DB-AC41-3A43AEAF4F53}"/>
                </a:ext>
              </a:extLst>
            </p:cNvPr>
            <p:cNvSpPr/>
            <p:nvPr/>
          </p:nvSpPr>
          <p:spPr>
            <a:xfrm>
              <a:off x="2541807" y="1372408"/>
              <a:ext cx="254524" cy="878638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73CA228E-3D25-4318-8E09-30BF37392EC3}"/>
              </a:ext>
            </a:extLst>
          </p:cNvPr>
          <p:cNvSpPr txBox="1"/>
          <p:nvPr/>
        </p:nvSpPr>
        <p:spPr>
          <a:xfrm>
            <a:off x="456000" y="1124665"/>
            <a:ext cx="4977353" cy="879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LLM </a:t>
            </a:r>
            <a:r>
              <a:rPr lang="zh-TW" altLang="en-US" dirty="0"/>
              <a:t>記錄對話是由多個 </a:t>
            </a:r>
            <a:r>
              <a:rPr lang="en-US" altLang="zh-TW" dirty="0"/>
              <a:t>message </a:t>
            </a:r>
            <a:r>
              <a:rPr lang="zh-TW" altLang="en-US" dirty="0"/>
              <a:t>組成的 </a:t>
            </a:r>
            <a:r>
              <a:rPr lang="en-US" altLang="zh-TW" dirty="0"/>
              <a:t>list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/>
              <a:t>每個 </a:t>
            </a:r>
            <a:r>
              <a:rPr lang="en-US" altLang="zh-TW" dirty="0"/>
              <a:t>message </a:t>
            </a:r>
            <a:r>
              <a:rPr lang="zh-TW" altLang="en-US" dirty="0"/>
              <a:t>都要有 </a:t>
            </a:r>
            <a:r>
              <a:rPr lang="en-US" altLang="zh-TW" dirty="0">
                <a:solidFill>
                  <a:srgbClr val="FF0000"/>
                </a:solidFill>
              </a:rPr>
              <a:t>role, content </a:t>
            </a:r>
            <a:r>
              <a:rPr lang="zh-TW" altLang="en-US" dirty="0"/>
              <a:t>這兩個部分</a:t>
            </a: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9921A369-FC8B-402A-8949-D71364AF6D9F}"/>
              </a:ext>
            </a:extLst>
          </p:cNvPr>
          <p:cNvGrpSpPr/>
          <p:nvPr/>
        </p:nvGrpSpPr>
        <p:grpSpPr>
          <a:xfrm>
            <a:off x="644063" y="2181889"/>
            <a:ext cx="9158302" cy="3968907"/>
            <a:chOff x="644063" y="2181889"/>
            <a:chExt cx="9158302" cy="3968907"/>
          </a:xfrm>
        </p:grpSpPr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152EC6A2-A64B-491F-987A-26F71ED888D8}"/>
                </a:ext>
              </a:extLst>
            </p:cNvPr>
            <p:cNvGrpSpPr/>
            <p:nvPr/>
          </p:nvGrpSpPr>
          <p:grpSpPr>
            <a:xfrm>
              <a:off x="644063" y="2181889"/>
              <a:ext cx="9158302" cy="3968907"/>
              <a:chOff x="456000" y="2085514"/>
              <a:chExt cx="9158302" cy="3968907"/>
            </a:xfrm>
          </p:grpSpPr>
          <p:grpSp>
            <p:nvGrpSpPr>
              <p:cNvPr id="28" name="群組 27">
                <a:extLst>
                  <a:ext uri="{FF2B5EF4-FFF2-40B4-BE49-F238E27FC236}">
                    <a16:creationId xmlns:a16="http://schemas.microsoft.com/office/drawing/2014/main" id="{E6F29566-F446-426B-8EF7-CC6674240239}"/>
                  </a:ext>
                </a:extLst>
              </p:cNvPr>
              <p:cNvGrpSpPr/>
              <p:nvPr/>
            </p:nvGrpSpPr>
            <p:grpSpPr>
              <a:xfrm>
                <a:off x="456000" y="2085514"/>
                <a:ext cx="2714920" cy="3968907"/>
                <a:chOff x="456000" y="2167942"/>
                <a:chExt cx="2714920" cy="3968907"/>
              </a:xfrm>
            </p:grpSpPr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C948E780-A8A4-4E29-8592-8E6DE6FB0B7C}"/>
                    </a:ext>
                  </a:extLst>
                </p:cNvPr>
                <p:cNvSpPr/>
                <p:nvPr/>
              </p:nvSpPr>
              <p:spPr>
                <a:xfrm>
                  <a:off x="456000" y="2545237"/>
                  <a:ext cx="2714920" cy="3591612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4" name="語音泡泡: 矩形 13">
                  <a:extLst>
                    <a:ext uri="{FF2B5EF4-FFF2-40B4-BE49-F238E27FC236}">
                      <a16:creationId xmlns:a16="http://schemas.microsoft.com/office/drawing/2014/main" id="{DB28B832-571D-4642-9B30-DAB8082EA570}"/>
                    </a:ext>
                  </a:extLst>
                </p:cNvPr>
                <p:cNvSpPr/>
                <p:nvPr/>
              </p:nvSpPr>
              <p:spPr>
                <a:xfrm>
                  <a:off x="1533304" y="3901857"/>
                  <a:ext cx="1480007" cy="550527"/>
                </a:xfrm>
                <a:prstGeom prst="wedgeRectCallout">
                  <a:avLst>
                    <a:gd name="adj1" fmla="val 44781"/>
                    <a:gd name="adj2" fmla="val 74427"/>
                  </a:avLst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tx1"/>
                      </a:solidFill>
                    </a:rPr>
                    <a:t>23+32=?</a:t>
                  </a:r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語音泡泡: 矩形 17">
                  <a:extLst>
                    <a:ext uri="{FF2B5EF4-FFF2-40B4-BE49-F238E27FC236}">
                      <a16:creationId xmlns:a16="http://schemas.microsoft.com/office/drawing/2014/main" id="{661E678D-79E3-44C2-A2FC-98790FE72532}"/>
                    </a:ext>
                  </a:extLst>
                </p:cNvPr>
                <p:cNvSpPr/>
                <p:nvPr/>
              </p:nvSpPr>
              <p:spPr>
                <a:xfrm>
                  <a:off x="591489" y="4935676"/>
                  <a:ext cx="1398432" cy="550527"/>
                </a:xfrm>
                <a:prstGeom prst="wedgeRectCallout">
                  <a:avLst>
                    <a:gd name="adj1" fmla="val -38659"/>
                    <a:gd name="adj2" fmla="val 67881"/>
                  </a:avLst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tx1"/>
                      </a:solidFill>
                    </a:rPr>
                    <a:t>55</a:t>
                  </a:r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383E3300-2228-4493-AADD-EB58B4360164}"/>
                    </a:ext>
                  </a:extLst>
                </p:cNvPr>
                <p:cNvSpPr txBox="1"/>
                <p:nvPr/>
              </p:nvSpPr>
              <p:spPr>
                <a:xfrm>
                  <a:off x="1068742" y="2167942"/>
                  <a:ext cx="14894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b="1" dirty="0"/>
                    <a:t>Chatroom</a:t>
                  </a:r>
                  <a:endParaRPr lang="zh-TW" altLang="en-US" b="1" dirty="0"/>
                </a:p>
              </p:txBody>
            </p:sp>
          </p:grp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0C73AADF-CD55-4058-AD70-8D47809B10C3}"/>
                  </a:ext>
                </a:extLst>
              </p:cNvPr>
              <p:cNvSpPr/>
              <p:nvPr/>
            </p:nvSpPr>
            <p:spPr>
              <a:xfrm>
                <a:off x="591489" y="2554664"/>
                <a:ext cx="2421822" cy="936141"/>
              </a:xfrm>
              <a:prstGeom prst="rect">
                <a:avLst/>
              </a:prstGeom>
              <a:solidFill>
                <a:srgbClr val="FFE7FF"/>
              </a:solidFill>
              <a:ln w="190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zh-TW" altLang="en-US" sz="16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你是由群聯開發的模型，</a:t>
                </a:r>
                <a:endParaRPr lang="en-US" altLang="zh-TW" sz="16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zh-TW" altLang="en-US" sz="16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用親切的語氣回應使用者</a:t>
                </a:r>
              </a:p>
            </p:txBody>
          </p:sp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FF11802-E0C7-47EA-B127-B09442419EA4}"/>
                  </a:ext>
                </a:extLst>
              </p:cNvPr>
              <p:cNvSpPr txBox="1"/>
              <p:nvPr/>
            </p:nvSpPr>
            <p:spPr>
              <a:xfrm>
                <a:off x="5368502" y="2664453"/>
                <a:ext cx="4245800" cy="107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1600" b="1" dirty="0">
                    <a:solidFill>
                      <a:srgbClr val="7030A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系統或開發者賦予 </a:t>
                </a:r>
                <a:r>
                  <a:rPr lang="en-US" altLang="zh-TW" sz="1600" b="1" dirty="0">
                    <a:solidFill>
                      <a:srgbClr val="7030A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LLM </a:t>
                </a:r>
                <a:r>
                  <a:rPr lang="zh-TW" altLang="en-US" sz="1600" b="1" dirty="0">
                    <a:solidFill>
                      <a:srgbClr val="7030A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的預設設定 </a:t>
                </a:r>
                <a:r>
                  <a:rPr lang="en-US" altLang="zh-TW" sz="1600" b="1" dirty="0">
                    <a:solidFill>
                      <a:srgbClr val="7030A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/ </a:t>
                </a:r>
                <a:r>
                  <a:rPr lang="zh-TW" altLang="en-US" sz="1600" b="1" dirty="0">
                    <a:solidFill>
                      <a:srgbClr val="7030A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指令</a:t>
                </a:r>
                <a:endParaRPr lang="en-US" altLang="zh-TW" sz="1600" b="1" dirty="0">
                  <a:solidFill>
                    <a:srgbClr val="7030A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6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角色扮演</a:t>
                </a:r>
                <a:endParaRPr lang="en-US" altLang="zh-TW" sz="16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6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行動準則</a:t>
                </a:r>
                <a:endParaRPr lang="en-US" altLang="zh-TW" sz="16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6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其他資訊 </a:t>
                </a:r>
                <a:r>
                  <a:rPr lang="en-US" altLang="zh-TW" sz="16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(e.g. </a:t>
                </a:r>
                <a:r>
                  <a:rPr lang="zh-TW" altLang="en-US" sz="16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現在時間、所在地區 </a:t>
                </a:r>
                <a:r>
                  <a:rPr lang="en-US" altLang="zh-TW" sz="16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…)</a:t>
                </a:r>
                <a:endParaRPr lang="zh-TW" alt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A114B352-7DF7-4B04-B816-97FBB0DFA2CF}"/>
                  </a:ext>
                </a:extLst>
              </p:cNvPr>
              <p:cNvSpPr txBox="1"/>
              <p:nvPr/>
            </p:nvSpPr>
            <p:spPr>
              <a:xfrm>
                <a:off x="3383525" y="2554664"/>
                <a:ext cx="1911074" cy="1287917"/>
              </a:xfrm>
              <a:prstGeom prst="rect">
                <a:avLst/>
              </a:prstGeom>
              <a:solidFill>
                <a:srgbClr val="FFE7FF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b="1" dirty="0"/>
                  <a:t>role: </a:t>
                </a:r>
                <a:r>
                  <a:rPr lang="en-US" altLang="zh-TW" b="1" dirty="0">
                    <a:solidFill>
                      <a:srgbClr val="7030A0"/>
                    </a:solidFill>
                  </a:rPr>
                  <a:t>system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TW" dirty="0">
                    <a:ea typeface="微軟正黑體" panose="020B0604030504040204" pitchFamily="34" charset="-120"/>
                  </a:rPr>
                  <a:t>content:</a:t>
                </a:r>
                <a:r>
                  <a:rPr lang="zh-TW" altLang="en-US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你是由群聯開發的模型</a:t>
                </a:r>
                <a:r>
                  <a:rPr lang="en-US" altLang="zh-TW" sz="18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…</a:t>
                </a:r>
              </a:p>
            </p:txBody>
          </p:sp>
        </p:grp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DB42B0E7-59E1-4763-B8C7-6E2766ACB60E}"/>
                </a:ext>
              </a:extLst>
            </p:cNvPr>
            <p:cNvSpPr txBox="1"/>
            <p:nvPr/>
          </p:nvSpPr>
          <p:spPr>
            <a:xfrm>
              <a:off x="3571587" y="3930613"/>
              <a:ext cx="1911075" cy="8786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b="1" dirty="0"/>
                <a:t>role: </a:t>
              </a:r>
              <a:r>
                <a:rPr lang="en-US" altLang="zh-TW" b="1" dirty="0">
                  <a:solidFill>
                    <a:srgbClr val="0070C0"/>
                  </a:solidFill>
                </a:rPr>
                <a:t>user</a:t>
              </a:r>
            </a:p>
            <a:p>
              <a:pPr>
                <a:lnSpc>
                  <a:spcPct val="150000"/>
                </a:lnSpc>
              </a:pPr>
              <a:r>
                <a:rPr lang="en-US" altLang="zh-TW" dirty="0">
                  <a:ea typeface="微軟正黑體" panose="020B0604030504040204" pitchFamily="34" charset="-120"/>
                </a:rPr>
                <a:t>content: 23+32=?</a:t>
              </a:r>
              <a:endParaRPr lang="zh-TW" altLang="en-US" dirty="0">
                <a:ea typeface="微軟正黑體" panose="020B0604030504040204" pitchFamily="34" charset="-120"/>
              </a:endParaRPr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C6B1F821-EB98-4F99-99C6-134D75D617C1}"/>
                </a:ext>
              </a:extLst>
            </p:cNvPr>
            <p:cNvSpPr txBox="1"/>
            <p:nvPr/>
          </p:nvSpPr>
          <p:spPr>
            <a:xfrm>
              <a:off x="3571587" y="4796014"/>
              <a:ext cx="1911075" cy="87863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b="1" dirty="0"/>
                <a:t>role: </a:t>
              </a:r>
              <a:r>
                <a:rPr lang="en-US" altLang="zh-TW" b="1" dirty="0">
                  <a:solidFill>
                    <a:srgbClr val="00B050"/>
                  </a:solidFill>
                </a:rPr>
                <a:t>assistant</a:t>
              </a:r>
            </a:p>
            <a:p>
              <a:pPr>
                <a:lnSpc>
                  <a:spcPct val="150000"/>
                </a:lnSpc>
              </a:pPr>
              <a:r>
                <a:rPr lang="en-US" altLang="zh-TW" dirty="0">
                  <a:ea typeface="微軟正黑體" panose="020B0604030504040204" pitchFamily="34" charset="-120"/>
                </a:rPr>
                <a:t>content: 55</a:t>
              </a:r>
              <a:endParaRPr lang="zh-TW" altLang="en-US" dirty="0">
                <a:ea typeface="微軟正黑體" panose="020B0604030504040204" pitchFamily="34" charset="-120"/>
              </a:endParaRPr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4DCE53CC-C752-4F32-8E40-FC0A3422E70E}"/>
                </a:ext>
              </a:extLst>
            </p:cNvPr>
            <p:cNvSpPr txBox="1"/>
            <p:nvPr/>
          </p:nvSpPr>
          <p:spPr>
            <a:xfrm>
              <a:off x="3782406" y="2189852"/>
              <a:ext cx="14894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/>
                <a:t>Messages</a:t>
              </a:r>
              <a:endParaRPr lang="zh-TW" altLang="en-US" b="1" dirty="0"/>
            </a:p>
          </p:txBody>
        </p: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BE580A31-C8D9-4F71-8A24-AA5C36C926BF}"/>
                </a:ext>
              </a:extLst>
            </p:cNvPr>
            <p:cNvSpPr txBox="1"/>
            <p:nvPr/>
          </p:nvSpPr>
          <p:spPr>
            <a:xfrm>
              <a:off x="5556565" y="4281665"/>
              <a:ext cx="145499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TW" altLang="en-US" b="1" dirty="0">
                  <a:solidFill>
                    <a:srgbClr val="0070C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使用者指令</a:t>
              </a:r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7C4F0F3F-3ECA-463F-9BB3-625B08B66D2D}"/>
                </a:ext>
              </a:extLst>
            </p:cNvPr>
            <p:cNvSpPr txBox="1"/>
            <p:nvPr/>
          </p:nvSpPr>
          <p:spPr>
            <a:xfrm>
              <a:off x="5556565" y="5093928"/>
              <a:ext cx="145499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b="1" dirty="0">
                  <a:solidFill>
                    <a:srgbClr val="00B05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LLM</a:t>
              </a:r>
              <a:r>
                <a:rPr lang="zh-TW" altLang="en-US" b="1" dirty="0">
                  <a:solidFill>
                    <a:srgbClr val="00B05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的回應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17460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20F986-44D9-4561-BF5C-30DBD559E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從 </a:t>
            </a:r>
            <a:r>
              <a:rPr lang="en-US" altLang="zh-TW" dirty="0"/>
              <a:t>LLM</a:t>
            </a:r>
            <a:r>
              <a:rPr lang="zh-TW" altLang="en-US" dirty="0"/>
              <a:t> 到呼叫工具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3278629-ABE3-4903-A209-6F203E49F94F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42C3EBB3-88FB-4073-AC07-A1F834929F2A}"/>
              </a:ext>
            </a:extLst>
          </p:cNvPr>
          <p:cNvGrpSpPr/>
          <p:nvPr/>
        </p:nvGrpSpPr>
        <p:grpSpPr>
          <a:xfrm>
            <a:off x="456000" y="1218133"/>
            <a:ext cx="2334335" cy="4615132"/>
            <a:chOff x="455999" y="1114438"/>
            <a:chExt cx="2334335" cy="4615132"/>
          </a:xfrm>
        </p:grpSpPr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DBBB85D8-E4F0-4A52-AC07-06EDB805B0BA}"/>
                </a:ext>
              </a:extLst>
            </p:cNvPr>
            <p:cNvSpPr txBox="1"/>
            <p:nvPr/>
          </p:nvSpPr>
          <p:spPr>
            <a:xfrm>
              <a:off x="455999" y="1473291"/>
              <a:ext cx="2334333" cy="2542363"/>
            </a:xfrm>
            <a:prstGeom prst="rect">
              <a:avLst/>
            </a:prstGeom>
            <a:solidFill>
              <a:srgbClr val="FFE7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b="1" dirty="0"/>
                <a:t>role: </a:t>
              </a:r>
              <a:r>
                <a:rPr lang="en-US" altLang="zh-TW" b="1" dirty="0">
                  <a:solidFill>
                    <a:srgbClr val="7030A0"/>
                  </a:solidFill>
                </a:rPr>
                <a:t>system</a:t>
              </a:r>
            </a:p>
            <a:p>
              <a:pPr>
                <a:lnSpc>
                  <a:spcPct val="150000"/>
                </a:lnSpc>
              </a:pPr>
              <a:r>
                <a:rPr lang="en-US" altLang="zh-TW" b="1" dirty="0">
                  <a:ea typeface="微軟正黑體" panose="020B0604030504040204" pitchFamily="34" charset="-120"/>
                </a:rPr>
                <a:t>content</a:t>
              </a:r>
              <a:r>
                <a:rPr lang="en-US" altLang="zh-TW" dirty="0">
                  <a:ea typeface="微軟正黑體" panose="020B0604030504040204" pitchFamily="34" charset="-120"/>
                </a:rPr>
                <a:t>: </a:t>
              </a: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zh-TW" altLang="en-US" dirty="0">
                  <a:ea typeface="微軟正黑體" panose="020B0604030504040204" pitchFamily="34" charset="-120"/>
                </a:rPr>
                <a:t>角色扮演</a:t>
              </a:r>
              <a:endParaRPr lang="en-US" altLang="zh-TW" dirty="0">
                <a:ea typeface="微軟正黑體" panose="020B0604030504040204" pitchFamily="34" charset="-120"/>
              </a:endParaRP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zh-TW" altLang="en-US" dirty="0">
                  <a:ea typeface="微軟正黑體" panose="020B0604030504040204" pitchFamily="34" charset="-120"/>
                </a:rPr>
                <a:t>行動準則</a:t>
              </a:r>
              <a:endParaRPr lang="en-US" altLang="zh-TW" dirty="0">
                <a:ea typeface="微軟正黑體" panose="020B0604030504040204" pitchFamily="34" charset="-120"/>
              </a:endParaRP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zh-TW" altLang="en-US" dirty="0">
                  <a:ea typeface="微軟正黑體" panose="020B0604030504040204" pitchFamily="34" charset="-120"/>
                </a:rPr>
                <a:t>其他資訊</a:t>
              </a:r>
              <a:endParaRPr lang="en-US" altLang="zh-TW" dirty="0">
                <a:ea typeface="微軟正黑體" panose="020B0604030504040204" pitchFamily="34" charset="-120"/>
              </a:endParaRP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zh-TW" altLang="en-US" dirty="0">
                  <a:solidFill>
                    <a:srgbClr val="FF0000"/>
                  </a:solidFill>
                  <a:ea typeface="微軟正黑體" panose="020B0604030504040204" pitchFamily="34" charset="-120"/>
                </a:rPr>
                <a:t>工具資訊</a:t>
              </a:r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3FEC50F1-38FD-4C04-91CB-968C33CD42B6}"/>
                </a:ext>
              </a:extLst>
            </p:cNvPr>
            <p:cNvSpPr txBox="1"/>
            <p:nvPr/>
          </p:nvSpPr>
          <p:spPr>
            <a:xfrm>
              <a:off x="456000" y="4019935"/>
              <a:ext cx="2334334" cy="17096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b="1" dirty="0"/>
                <a:t>role: </a:t>
              </a:r>
              <a:r>
                <a:rPr lang="en-US" altLang="zh-TW" b="1" dirty="0">
                  <a:solidFill>
                    <a:srgbClr val="3471A7"/>
                  </a:solidFill>
                </a:rPr>
                <a:t>user</a:t>
              </a:r>
            </a:p>
            <a:p>
              <a:pPr>
                <a:lnSpc>
                  <a:spcPct val="150000"/>
                </a:lnSpc>
              </a:pPr>
              <a:r>
                <a:rPr lang="en-US" altLang="zh-TW" b="1" dirty="0">
                  <a:ea typeface="微軟正黑體" panose="020B0604030504040204" pitchFamily="34" charset="-120"/>
                </a:rPr>
                <a:t>content</a:t>
              </a:r>
              <a:r>
                <a:rPr lang="en-US" altLang="zh-TW" dirty="0">
                  <a:ea typeface="微軟正黑體" panose="020B0604030504040204" pitchFamily="34" charset="-120"/>
                </a:rPr>
                <a:t>: </a:t>
              </a:r>
            </a:p>
            <a:p>
              <a:pPr>
                <a:lnSpc>
                  <a:spcPct val="150000"/>
                </a:lnSpc>
              </a:pPr>
              <a:r>
                <a:rPr lang="zh-TW" altLang="en-US" sz="1800" dirty="0">
                  <a:ea typeface="微軟正黑體" panose="020B0604030504040204" pitchFamily="34" charset="-120"/>
                </a:rPr>
                <a:t>查詢交大的交通資訊並做成 </a:t>
              </a:r>
              <a:r>
                <a:rPr lang="en-US" altLang="zh-TW" sz="1800" dirty="0">
                  <a:ea typeface="微軟正黑體" panose="020B0604030504040204" pitchFamily="34" charset="-120"/>
                </a:rPr>
                <a:t>PPT</a:t>
              </a:r>
              <a:endParaRPr lang="en-US" altLang="zh-TW" dirty="0">
                <a:ea typeface="微軟正黑體" panose="020B0604030504040204" pitchFamily="34" charset="-120"/>
              </a:endParaRPr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85A465D8-7EFD-4405-B6E3-FE942FF7B2C8}"/>
                </a:ext>
              </a:extLst>
            </p:cNvPr>
            <p:cNvSpPr txBox="1"/>
            <p:nvPr/>
          </p:nvSpPr>
          <p:spPr>
            <a:xfrm>
              <a:off x="1044936" y="1114438"/>
              <a:ext cx="11564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/>
                <a:t>messages</a:t>
              </a:r>
              <a:endParaRPr lang="zh-TW" altLang="en-US" b="1" dirty="0"/>
            </a:p>
          </p:txBody>
        </p:sp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C0514152-DC02-471C-ACE4-AC4D449B7BFA}"/>
              </a:ext>
            </a:extLst>
          </p:cNvPr>
          <p:cNvGrpSpPr/>
          <p:nvPr/>
        </p:nvGrpSpPr>
        <p:grpSpPr>
          <a:xfrm>
            <a:off x="3742481" y="2520677"/>
            <a:ext cx="1252524" cy="1598672"/>
            <a:chOff x="3412542" y="3028890"/>
            <a:chExt cx="1252524" cy="1598672"/>
          </a:xfrm>
        </p:grpSpPr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D997DC55-D683-4CA1-B2A9-826064A1A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5B9BD5">
                  <a:shade val="45000"/>
                  <a:satMod val="135000"/>
                </a:srgb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211" b="93421" l="7483" r="89796">
                          <a14:foregroundMark x1="7483" y1="47368" x2="7483" y2="47368"/>
                          <a14:foregroundMark x1="31973" y1="44079" x2="31973" y2="44079"/>
                          <a14:foregroundMark x1="62585" y1="51974" x2="62585" y2="51974"/>
                          <a14:foregroundMark x1="63265" y1="12500" x2="63265" y2="12500"/>
                          <a14:foregroundMark x1="42177" y1="90789" x2="42177" y2="90789"/>
                          <a14:foregroundMark x1="62585" y1="93421" x2="62585" y2="93421"/>
                          <a14:foregroundMark x1="42857" y1="89474" x2="42857" y2="8947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412542" y="3332435"/>
              <a:ext cx="1252524" cy="1295127"/>
            </a:xfrm>
            <a:prstGeom prst="rect">
              <a:avLst/>
            </a:prstGeom>
          </p:spPr>
        </p:pic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C2A50F97-4474-4637-9F25-001612547265}"/>
                </a:ext>
              </a:extLst>
            </p:cNvPr>
            <p:cNvSpPr txBox="1"/>
            <p:nvPr/>
          </p:nvSpPr>
          <p:spPr>
            <a:xfrm>
              <a:off x="3578174" y="3028890"/>
              <a:ext cx="9212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solidFill>
                    <a:srgbClr val="3471A7"/>
                  </a:solidFill>
                </a:rPr>
                <a:t>LLM</a:t>
              </a:r>
              <a:endParaRPr lang="zh-TW" altLang="en-US" sz="2000" b="1" dirty="0">
                <a:solidFill>
                  <a:srgbClr val="3471A7"/>
                </a:solidFill>
              </a:endParaRPr>
            </a:p>
          </p:txBody>
        </p:sp>
      </p:grp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3D97B3BC-9AA5-43E5-966E-7E4B4FDC7E72}"/>
              </a:ext>
            </a:extLst>
          </p:cNvPr>
          <p:cNvSpPr/>
          <p:nvPr/>
        </p:nvSpPr>
        <p:spPr>
          <a:xfrm>
            <a:off x="5894936" y="2964524"/>
            <a:ext cx="2089567" cy="1014522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>
                <a:solidFill>
                  <a:schemeClr val="tx1"/>
                </a:solidFill>
                <a:ea typeface="微軟正黑體" panose="020B0604030504040204" pitchFamily="34" charset="-120"/>
              </a:rPr>
              <a:t>工具名稱</a:t>
            </a:r>
            <a:endParaRPr lang="en-US" altLang="zh-TW">
              <a:solidFill>
                <a:schemeClr val="tx1"/>
              </a:solidFill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>
                <a:solidFill>
                  <a:schemeClr val="tx1"/>
                </a:solidFill>
                <a:ea typeface="微軟正黑體" panose="020B0604030504040204" pitchFamily="34" charset="-120"/>
              </a:rPr>
              <a:t>工具所需參數</a:t>
            </a:r>
            <a:endParaRPr lang="zh-TW" altLang="en-US" dirty="0">
              <a:solidFill>
                <a:schemeClr val="tx1"/>
              </a:solidFill>
              <a:ea typeface="微軟正黑體" panose="020B0604030504040204" pitchFamily="34" charset="-120"/>
            </a:endParaRP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831F4C5A-688F-44BD-91A1-9241CB0AFFFB}"/>
              </a:ext>
            </a:extLst>
          </p:cNvPr>
          <p:cNvSpPr txBox="1"/>
          <p:nvPr/>
        </p:nvSpPr>
        <p:spPr>
          <a:xfrm>
            <a:off x="6152561" y="2457647"/>
            <a:ext cx="1574315" cy="463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b="1" dirty="0">
                <a:solidFill>
                  <a:srgbClr val="C00000"/>
                </a:solidFill>
                <a:ea typeface="微軟正黑體" panose="020B0604030504040204" pitchFamily="34" charset="-120"/>
              </a:rPr>
              <a:t>特定格式輸出</a:t>
            </a:r>
            <a:endParaRPr lang="en-US" altLang="zh-TW" b="1" dirty="0">
              <a:solidFill>
                <a:srgbClr val="C00000"/>
              </a:solidFill>
              <a:ea typeface="微軟正黑體" panose="020B0604030504040204" pitchFamily="34" charset="-120"/>
            </a:endParaRPr>
          </a:p>
        </p:txBody>
      </p:sp>
      <p:pic>
        <p:nvPicPr>
          <p:cNvPr id="50" name="圖片 49">
            <a:extLst>
              <a:ext uri="{FF2B5EF4-FFF2-40B4-BE49-F238E27FC236}">
                <a16:creationId xmlns:a16="http://schemas.microsoft.com/office/drawing/2014/main" id="{8A8AF038-2C15-4662-BA42-FF7ED77C949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471" b="96100" l="10000" r="90000">
                        <a14:foregroundMark x1="13889" y1="21170" x2="13889" y2="21170"/>
                        <a14:foregroundMark x1="24444" y1="24234" x2="24444" y2="24234"/>
                        <a14:foregroundMark x1="30000" y1="22006" x2="30000" y2="22006"/>
                        <a14:foregroundMark x1="39722" y1="81616" x2="39722" y2="81616"/>
                        <a14:foregroundMark x1="19444" y1="92201" x2="19444" y2="92201"/>
                        <a14:foregroundMark x1="28889" y1="96100" x2="28889" y2="96100"/>
                        <a14:foregroundMark x1="23056" y1="79666" x2="23056" y2="79666"/>
                        <a14:foregroundMark x1="75556" y1="10306" x2="75556" y2="10306"/>
                        <a14:foregroundMark x1="76667" y1="9749" x2="76667" y2="9749"/>
                        <a14:foregroundMark x1="23333" y1="9749" x2="23333" y2="97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42059" y="2854691"/>
            <a:ext cx="1237626" cy="1234188"/>
          </a:xfrm>
          <a:prstGeom prst="rect">
            <a:avLst/>
          </a:prstGeom>
        </p:spPr>
      </p:pic>
      <p:sp>
        <p:nvSpPr>
          <p:cNvPr id="51" name="文字方塊 50">
            <a:extLst>
              <a:ext uri="{FF2B5EF4-FFF2-40B4-BE49-F238E27FC236}">
                <a16:creationId xmlns:a16="http://schemas.microsoft.com/office/drawing/2014/main" id="{21E06D04-3D13-43D4-85E0-6A26B9E56DF1}"/>
              </a:ext>
            </a:extLst>
          </p:cNvPr>
          <p:cNvSpPr txBox="1"/>
          <p:nvPr/>
        </p:nvSpPr>
        <p:spPr>
          <a:xfrm>
            <a:off x="9300242" y="2520677"/>
            <a:ext cx="921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C35710"/>
                </a:solidFill>
              </a:rPr>
              <a:t>Tool</a:t>
            </a:r>
            <a:endParaRPr lang="zh-TW" altLang="en-US" sz="2000" b="1" dirty="0">
              <a:solidFill>
                <a:srgbClr val="C35710"/>
              </a:solidFill>
            </a:endParaRPr>
          </a:p>
        </p:txBody>
      </p: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B6E75696-EBC3-4F1F-BC75-C5A1EB612C17}"/>
              </a:ext>
            </a:extLst>
          </p:cNvPr>
          <p:cNvCxnSpPr>
            <a:endCxn id="44" idx="1"/>
          </p:cNvCxnSpPr>
          <p:nvPr/>
        </p:nvCxnSpPr>
        <p:spPr>
          <a:xfrm flipV="1">
            <a:off x="2790333" y="3471786"/>
            <a:ext cx="9521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>
            <a:extLst>
              <a:ext uri="{FF2B5EF4-FFF2-40B4-BE49-F238E27FC236}">
                <a16:creationId xmlns:a16="http://schemas.microsoft.com/office/drawing/2014/main" id="{63906774-621A-4693-ABB4-4042C2914E0A}"/>
              </a:ext>
            </a:extLst>
          </p:cNvPr>
          <p:cNvCxnSpPr>
            <a:cxnSpLocks/>
            <a:stCxn id="44" idx="3"/>
            <a:endCxn id="47" idx="1"/>
          </p:cNvCxnSpPr>
          <p:nvPr/>
        </p:nvCxnSpPr>
        <p:spPr>
          <a:xfrm flipV="1">
            <a:off x="4995005" y="3471785"/>
            <a:ext cx="899931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>
            <a:extLst>
              <a:ext uri="{FF2B5EF4-FFF2-40B4-BE49-F238E27FC236}">
                <a16:creationId xmlns:a16="http://schemas.microsoft.com/office/drawing/2014/main" id="{EBC28238-AB29-4E07-8B24-07396C6C0D8A}"/>
              </a:ext>
            </a:extLst>
          </p:cNvPr>
          <p:cNvCxnSpPr>
            <a:cxnSpLocks/>
            <a:stCxn id="47" idx="3"/>
            <a:endCxn id="50" idx="1"/>
          </p:cNvCxnSpPr>
          <p:nvPr/>
        </p:nvCxnSpPr>
        <p:spPr>
          <a:xfrm>
            <a:off x="7984503" y="3471785"/>
            <a:ext cx="115755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167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3B4804-20C6-4E50-B276-C09C20299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Agent</a:t>
            </a:r>
            <a:r>
              <a:rPr lang="zh-TW" altLang="en-US" dirty="0"/>
              <a:t> </a:t>
            </a:r>
            <a:r>
              <a:rPr lang="en-US" altLang="zh-TW" dirty="0"/>
              <a:t>Strategies - ReAct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33BC35F-7E17-4F5A-B0FE-B5F0628565E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6AFAFCD2-0204-4BB1-81CA-630B9A6E2827}"/>
              </a:ext>
            </a:extLst>
          </p:cNvPr>
          <p:cNvSpPr txBox="1"/>
          <p:nvPr/>
        </p:nvSpPr>
        <p:spPr>
          <a:xfrm>
            <a:off x="456000" y="1515567"/>
            <a:ext cx="6991175" cy="22685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核心機制：思維循環</a:t>
            </a:r>
          </a:p>
          <a:p>
            <a:pPr>
              <a:lnSpc>
                <a:spcPct val="150000"/>
              </a:lnSpc>
            </a:pPr>
            <a:r>
              <a:rPr lang="en-US" altLang="zh-TW" sz="1600" dirty="0">
                <a:ea typeface="微軟正黑體" panose="020B0604030504040204" pitchFamily="34" charset="-120"/>
              </a:rPr>
              <a:t>ReAct </a:t>
            </a:r>
            <a:r>
              <a:rPr lang="zh-TW" altLang="en-US" sz="1600" dirty="0">
                <a:ea typeface="微軟正黑體" panose="020B0604030504040204" pitchFamily="34" charset="-120"/>
              </a:rPr>
              <a:t>的運作流程通常遵循一個循環，直到問題被解決為止：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ea typeface="微軟正黑體" panose="020B0604030504040204" pitchFamily="34" charset="-120"/>
              </a:rPr>
              <a:t>Thought</a:t>
            </a:r>
            <a:r>
              <a:rPr lang="zh-TW" altLang="en-US" sz="1600" dirty="0">
                <a:ea typeface="微軟正黑體" panose="020B0604030504040204" pitchFamily="34" charset="-120"/>
              </a:rPr>
              <a:t> </a:t>
            </a:r>
            <a:r>
              <a:rPr lang="en-US" altLang="zh-TW" sz="1600" dirty="0">
                <a:ea typeface="微軟正黑體" panose="020B0604030504040204" pitchFamily="34" charset="-120"/>
              </a:rPr>
              <a:t>(</a:t>
            </a:r>
            <a:r>
              <a:rPr lang="zh-TW" altLang="en-US" sz="1600" dirty="0">
                <a:ea typeface="微軟正黑體" panose="020B0604030504040204" pitchFamily="34" charset="-120"/>
              </a:rPr>
              <a:t>思考</a:t>
            </a:r>
            <a:r>
              <a:rPr lang="en-US" altLang="zh-TW" sz="1600" dirty="0">
                <a:ea typeface="微軟正黑體" panose="020B0604030504040204" pitchFamily="34" charset="-120"/>
              </a:rPr>
              <a:t>)</a:t>
            </a:r>
            <a:r>
              <a:rPr lang="zh-TW" altLang="en-US" sz="1600" dirty="0">
                <a:ea typeface="微軟正黑體" panose="020B0604030504040204" pitchFamily="34" charset="-120"/>
              </a:rPr>
              <a:t>： 模型描述當前的情況，並決定下一步該做什麼。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ea typeface="微軟正黑體" panose="020B0604030504040204" pitchFamily="34" charset="-120"/>
              </a:rPr>
              <a:t>Action</a:t>
            </a:r>
            <a:r>
              <a:rPr lang="zh-TW" altLang="en-US" sz="1600" dirty="0">
                <a:ea typeface="微軟正黑體" panose="020B0604030504040204" pitchFamily="34" charset="-120"/>
              </a:rPr>
              <a:t> </a:t>
            </a:r>
            <a:r>
              <a:rPr lang="en-US" altLang="zh-TW" sz="1600" dirty="0">
                <a:ea typeface="微軟正黑體" panose="020B0604030504040204" pitchFamily="34" charset="-120"/>
              </a:rPr>
              <a:t>(</a:t>
            </a:r>
            <a:r>
              <a:rPr lang="zh-TW" altLang="en-US" sz="1600" dirty="0">
                <a:ea typeface="微軟正黑體" panose="020B0604030504040204" pitchFamily="34" charset="-120"/>
              </a:rPr>
              <a:t>行動</a:t>
            </a:r>
            <a:r>
              <a:rPr lang="en-US" altLang="zh-TW" sz="1600" dirty="0">
                <a:ea typeface="微軟正黑體" panose="020B0604030504040204" pitchFamily="34" charset="-120"/>
              </a:rPr>
              <a:t>)</a:t>
            </a:r>
            <a:r>
              <a:rPr lang="zh-TW" altLang="en-US" sz="1600" dirty="0">
                <a:ea typeface="微軟正黑體" panose="020B0604030504040204" pitchFamily="34" charset="-120"/>
              </a:rPr>
              <a:t>： 模型選擇一個可用的工具 </a:t>
            </a:r>
            <a:r>
              <a:rPr lang="en-US" altLang="zh-TW" sz="1600" dirty="0">
                <a:ea typeface="微軟正黑體" panose="020B0604030504040204" pitchFamily="34" charset="-120"/>
              </a:rPr>
              <a:t>(</a:t>
            </a:r>
            <a:r>
              <a:rPr lang="zh-TW" altLang="en-US" sz="1600" dirty="0">
                <a:ea typeface="微軟正黑體" panose="020B0604030504040204" pitchFamily="34" charset="-120"/>
              </a:rPr>
              <a:t>例如 </a:t>
            </a:r>
            <a:r>
              <a:rPr lang="en-US" altLang="zh-TW" sz="1600" dirty="0">
                <a:ea typeface="微軟正黑體" panose="020B0604030504040204" pitchFamily="34" charset="-120"/>
              </a:rPr>
              <a:t>Search </a:t>
            </a:r>
            <a:r>
              <a:rPr lang="zh-TW" altLang="en-US" sz="1600" dirty="0">
                <a:ea typeface="微軟正黑體" panose="020B0604030504040204" pitchFamily="34" charset="-120"/>
              </a:rPr>
              <a:t>或 </a:t>
            </a:r>
            <a:r>
              <a:rPr lang="en-US" altLang="zh-TW" sz="1600" dirty="0">
                <a:ea typeface="微軟正黑體" panose="020B0604030504040204" pitchFamily="34" charset="-120"/>
              </a:rPr>
              <a:t>Calculate)</a:t>
            </a:r>
            <a:r>
              <a:rPr lang="zh-TW" altLang="en-US" sz="1600" dirty="0">
                <a:ea typeface="微軟正黑體" panose="020B0604030504040204" pitchFamily="34" charset="-120"/>
              </a:rPr>
              <a:t> 並執行。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ea typeface="微軟正黑體" panose="020B0604030504040204" pitchFamily="34" charset="-120"/>
              </a:rPr>
              <a:t>Observation</a:t>
            </a:r>
            <a:r>
              <a:rPr lang="zh-TW" altLang="en-US" sz="1600" dirty="0">
                <a:ea typeface="微軟正黑體" panose="020B0604030504040204" pitchFamily="34" charset="-120"/>
              </a:rPr>
              <a:t> </a:t>
            </a:r>
            <a:r>
              <a:rPr lang="en-US" altLang="zh-TW" sz="1600" dirty="0">
                <a:ea typeface="微軟正黑體" panose="020B0604030504040204" pitchFamily="34" charset="-120"/>
              </a:rPr>
              <a:t>(</a:t>
            </a:r>
            <a:r>
              <a:rPr lang="zh-TW" altLang="en-US" sz="1600" dirty="0">
                <a:ea typeface="微軟正黑體" panose="020B0604030504040204" pitchFamily="34" charset="-120"/>
              </a:rPr>
              <a:t>觀察</a:t>
            </a:r>
            <a:r>
              <a:rPr lang="en-US" altLang="zh-TW" sz="1600" dirty="0">
                <a:ea typeface="微軟正黑體" panose="020B0604030504040204" pitchFamily="34" charset="-120"/>
              </a:rPr>
              <a:t>)</a:t>
            </a:r>
            <a:r>
              <a:rPr lang="zh-TW" altLang="en-US" sz="1600" dirty="0">
                <a:ea typeface="微軟正黑體" panose="020B0604030504040204" pitchFamily="34" charset="-120"/>
              </a:rPr>
              <a:t>： 模型讀取工具回傳的結果 </a:t>
            </a:r>
            <a:r>
              <a:rPr lang="en-US" altLang="zh-TW" sz="1600" dirty="0">
                <a:ea typeface="微軟正黑體" panose="020B0604030504040204" pitchFamily="34" charset="-120"/>
              </a:rPr>
              <a:t>(</a:t>
            </a:r>
            <a:r>
              <a:rPr lang="zh-TW" altLang="en-US" sz="1600" dirty="0">
                <a:ea typeface="微軟正黑體" panose="020B0604030504040204" pitchFamily="34" charset="-120"/>
              </a:rPr>
              <a:t>例如搜尋到的網頁內容</a:t>
            </a:r>
            <a:r>
              <a:rPr lang="en-US" altLang="zh-TW" sz="1600" dirty="0">
                <a:ea typeface="微軟正黑體" panose="020B0604030504040204" pitchFamily="34" charset="-120"/>
              </a:rPr>
              <a:t>)</a:t>
            </a:r>
            <a:r>
              <a:rPr lang="zh-TW" altLang="en-US" sz="1600" dirty="0">
                <a:ea typeface="微軟正黑體" panose="020B0604030504040204" pitchFamily="34" charset="-120"/>
              </a:rPr>
              <a:t>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ea typeface="微軟正黑體" panose="020B0604030504040204" pitchFamily="34" charset="-120"/>
              </a:rPr>
              <a:t>Repeat</a:t>
            </a:r>
            <a:r>
              <a:rPr lang="zh-TW" altLang="en-US" sz="1600" dirty="0">
                <a:ea typeface="微軟正黑體" panose="020B0604030504040204" pitchFamily="34" charset="-120"/>
              </a:rPr>
              <a:t> </a:t>
            </a:r>
            <a:r>
              <a:rPr lang="en-US" altLang="zh-TW" sz="1600" dirty="0">
                <a:ea typeface="微軟正黑體" panose="020B0604030504040204" pitchFamily="34" charset="-120"/>
              </a:rPr>
              <a:t>(</a:t>
            </a:r>
            <a:r>
              <a:rPr lang="zh-TW" altLang="en-US" sz="1600" dirty="0">
                <a:ea typeface="微軟正黑體" panose="020B0604030504040204" pitchFamily="34" charset="-120"/>
              </a:rPr>
              <a:t>重複</a:t>
            </a:r>
            <a:r>
              <a:rPr lang="en-US" altLang="zh-TW" sz="1600" dirty="0">
                <a:ea typeface="微軟正黑體" panose="020B0604030504040204" pitchFamily="34" charset="-120"/>
              </a:rPr>
              <a:t>)</a:t>
            </a:r>
            <a:r>
              <a:rPr lang="zh-TW" altLang="en-US" sz="1600" dirty="0">
                <a:ea typeface="微軟正黑體" panose="020B0604030504040204" pitchFamily="34" charset="-120"/>
              </a:rPr>
              <a:t>： 根據觀察到的新資訊，再次進入「思考」階段，更新判斷。</a:t>
            </a: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9D57D157-ACFB-4398-952B-0D572A1AE061}"/>
              </a:ext>
            </a:extLst>
          </p:cNvPr>
          <p:cNvGrpSpPr/>
          <p:nvPr/>
        </p:nvGrpSpPr>
        <p:grpSpPr>
          <a:xfrm>
            <a:off x="7597717" y="1977937"/>
            <a:ext cx="4594283" cy="3612399"/>
            <a:chOff x="539895" y="3793001"/>
            <a:chExt cx="4594283" cy="3612399"/>
          </a:xfrm>
        </p:grpSpPr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C85BE543-FC8A-4170-813A-68AD1685E4AD}"/>
                </a:ext>
              </a:extLst>
            </p:cNvPr>
            <p:cNvSpPr txBox="1"/>
            <p:nvPr/>
          </p:nvSpPr>
          <p:spPr>
            <a:xfrm>
              <a:off x="539895" y="3793001"/>
              <a:ext cx="4418604" cy="3612399"/>
            </a:xfrm>
            <a:prstGeom prst="rect">
              <a:avLst/>
            </a:prstGeom>
            <a:solidFill>
              <a:srgbClr val="FFE7FF"/>
            </a:soli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TW" altLang="zh-TW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ea typeface="微軟正黑體" panose="020B0604030504040204" pitchFamily="34" charset="-120"/>
                </a:rPr>
                <a:t>你是一個具備推理能力的 AI 助手。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TW" altLang="zh-TW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ea typeface="微軟正黑體" panose="020B0604030504040204" pitchFamily="34" charset="-120"/>
                </a:rPr>
                <a:t>你可以使用以下工具：</a:t>
              </a:r>
            </a:p>
            <a:p>
              <a:pPr marL="342900" marR="0" lvl="0" indent="-34290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/>
              </a:pPr>
              <a:r>
                <a:rPr kumimoji="0" lang="zh-TW" altLang="zh-TW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ea typeface="微軟正黑體" panose="020B0604030504040204" pitchFamily="34" charset="-120"/>
                </a:rPr>
                <a:t>Search(query): 搜尋網路資訊。</a:t>
              </a:r>
            </a:p>
            <a:p>
              <a:pPr marL="342900" marR="0" lvl="0" indent="-34290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/>
              </a:pPr>
              <a:r>
                <a:rPr kumimoji="0" lang="zh-TW" altLang="zh-TW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ea typeface="微軟正黑體" panose="020B0604030504040204" pitchFamily="34" charset="-120"/>
                </a:rPr>
                <a:t>Calculator(exp): 執行數學運算。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TW" altLang="zh-TW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ea typeface="微軟正黑體" panose="020B0604030504040204" pitchFamily="34" charset="-120"/>
                </a:rPr>
                <a:t>回答格式規範：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TW" altLang="zh-TW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ea typeface="微軟正黑體" panose="020B0604030504040204" pitchFamily="34" charset="-120"/>
                </a:rPr>
                <a:t>你必須嚴格按照以下順序思考：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zh-TW" altLang="zh-TW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ea typeface="微軟正黑體" panose="020B0604030504040204" pitchFamily="34" charset="-120"/>
                </a:rPr>
                <a:t>Thought: 我接下來要做什麼？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zh-TW" altLang="zh-TW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ea typeface="微軟正黑體" panose="020B0604030504040204" pitchFamily="34" charset="-120"/>
                </a:rPr>
                <a:t>Action: [工具名稱] (參數)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zh-TW" altLang="zh-TW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ea typeface="微軟正黑體" panose="020B0604030504040204" pitchFamily="34" charset="-120"/>
                </a:rPr>
                <a:t>Observation: (這部分我會提供工具回傳的結果)</a:t>
              </a:r>
              <a:br>
                <a:rPr kumimoji="0" lang="zh-TW" altLang="zh-TW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ea typeface="微軟正黑體" panose="020B0604030504040204" pitchFamily="34" charset="-120"/>
                </a:rPr>
              </a:br>
              <a:r>
                <a:rPr kumimoji="0" lang="zh-TW" altLang="zh-TW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ea typeface="微軟正黑體" panose="020B0604030504040204" pitchFamily="34" charset="-120"/>
                </a:rPr>
                <a:t>... (重複上述步驟直到獲得答案)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zh-TW" altLang="zh-TW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ea typeface="微軟正黑體" panose="020B0604030504040204" pitchFamily="34" charset="-120"/>
                </a:rPr>
                <a:t>Final Answer: 最終結果。</a:t>
              </a:r>
              <a:endParaRPr lang="en-US" altLang="zh-TW" sz="1400" dirty="0">
                <a:ea typeface="微軟正黑體" panose="020B0604030504040204" pitchFamily="34" charset="-12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04EDF5C4-37E4-4E82-9955-6D2F0EB6DA48}"/>
                </a:ext>
              </a:extLst>
            </p:cNvPr>
            <p:cNvSpPr/>
            <p:nvPr/>
          </p:nvSpPr>
          <p:spPr>
            <a:xfrm>
              <a:off x="567699" y="4200421"/>
              <a:ext cx="2912883" cy="95211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AA2173FB-0465-4FA3-90C0-9966106E1E7F}"/>
                </a:ext>
              </a:extLst>
            </p:cNvPr>
            <p:cNvSpPr txBox="1"/>
            <p:nvPr/>
          </p:nvSpPr>
          <p:spPr>
            <a:xfrm>
              <a:off x="3508386" y="4486103"/>
              <a:ext cx="932780" cy="3807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TW" altLang="en-US" sz="1400" b="1" dirty="0">
                  <a:solidFill>
                    <a:srgbClr val="FF0000"/>
                  </a:solidFill>
                  <a:ea typeface="微軟正黑體" panose="020B0604030504040204" pitchFamily="34" charset="-120"/>
                </a:rPr>
                <a:t>工具資訊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9496DFAB-EE4A-4A52-8B6B-2EADAF61ECE5}"/>
                </a:ext>
              </a:extLst>
            </p:cNvPr>
            <p:cNvSpPr/>
            <p:nvPr/>
          </p:nvSpPr>
          <p:spPr>
            <a:xfrm>
              <a:off x="567699" y="6090686"/>
              <a:ext cx="2309568" cy="380745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105AFC34-90F4-4DBF-B503-AA9FBDB85DDC}"/>
                </a:ext>
              </a:extLst>
            </p:cNvPr>
            <p:cNvSpPr txBox="1"/>
            <p:nvPr/>
          </p:nvSpPr>
          <p:spPr>
            <a:xfrm>
              <a:off x="2701589" y="6041062"/>
              <a:ext cx="2432589" cy="3807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TW" altLang="en-US" sz="1400" b="1" dirty="0">
                  <a:solidFill>
                    <a:srgbClr val="00B050"/>
                  </a:solidFill>
                  <a:ea typeface="微軟正黑體" panose="020B0604030504040204" pitchFamily="34" charset="-120"/>
                </a:rPr>
                <a:t>讓模型可以輸出特定格式</a:t>
              </a:r>
            </a:p>
          </p:txBody>
        </p:sp>
      </p:grpSp>
      <p:pic>
        <p:nvPicPr>
          <p:cNvPr id="2058" name="Picture 10" descr="ReAct Loop">
            <a:extLst>
              <a:ext uri="{FF2B5EF4-FFF2-40B4-BE49-F238E27FC236}">
                <a16:creationId xmlns:a16="http://schemas.microsoft.com/office/drawing/2014/main" id="{4955EBEC-DB10-45F6-B0D9-99CCD82FC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857" y="3954440"/>
            <a:ext cx="2727634" cy="242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文字方塊 32">
            <a:extLst>
              <a:ext uri="{FF2B5EF4-FFF2-40B4-BE49-F238E27FC236}">
                <a16:creationId xmlns:a16="http://schemas.microsoft.com/office/drawing/2014/main" id="{5513753B-81C1-41AA-A296-46D752B0049E}"/>
              </a:ext>
            </a:extLst>
          </p:cNvPr>
          <p:cNvSpPr txBox="1"/>
          <p:nvPr/>
        </p:nvSpPr>
        <p:spPr>
          <a:xfrm>
            <a:off x="456000" y="1070635"/>
            <a:ext cx="3770721" cy="421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ReAct = Reasoning + Action</a:t>
            </a:r>
            <a:r>
              <a:rPr lang="zh-TW" altLang="en-US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(</a:t>
            </a:r>
            <a:r>
              <a:rPr lang="zh-TW" altLang="en-US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思考 </a:t>
            </a:r>
            <a:r>
              <a:rPr lang="en-US" altLang="zh-TW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+ </a:t>
            </a:r>
            <a:r>
              <a:rPr lang="zh-TW" altLang="en-US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行動</a:t>
            </a:r>
            <a:r>
              <a:rPr lang="en-US" altLang="zh-TW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)</a:t>
            </a:r>
            <a:endParaRPr lang="en-US" altLang="zh-TW" sz="1600" b="1" dirty="0">
              <a:solidFill>
                <a:srgbClr val="002060"/>
              </a:solidFill>
              <a:ea typeface="微軟正黑體" panose="020B0604030504040204" pitchFamily="34" charset="-120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C80FE7D9-EE23-421D-B231-39670F04C454}"/>
              </a:ext>
            </a:extLst>
          </p:cNvPr>
          <p:cNvSpPr txBox="1"/>
          <p:nvPr/>
        </p:nvSpPr>
        <p:spPr>
          <a:xfrm>
            <a:off x="7447175" y="1490943"/>
            <a:ext cx="2621415" cy="423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Example of System Prompt </a:t>
            </a:r>
            <a:endParaRPr lang="zh-TW" altLang="en-US" sz="1600" b="1" dirty="0">
              <a:solidFill>
                <a:srgbClr val="002060"/>
              </a:solidFill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52955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5C78835-F232-4942-B514-9C2BE247EB0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2A15C98F-4153-433B-9F3A-F2133E8E7D23}"/>
              </a:ext>
            </a:extLst>
          </p:cNvPr>
          <p:cNvGrpSpPr/>
          <p:nvPr/>
        </p:nvGrpSpPr>
        <p:grpSpPr>
          <a:xfrm>
            <a:off x="446573" y="379724"/>
            <a:ext cx="4681611" cy="5902422"/>
            <a:chOff x="455999" y="855383"/>
            <a:chExt cx="4681611" cy="5902422"/>
          </a:xfrm>
        </p:grpSpPr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71E2018F-98D5-4C2E-8E41-3DA377DB2EDE}"/>
                </a:ext>
              </a:extLst>
            </p:cNvPr>
            <p:cNvSpPr txBox="1"/>
            <p:nvPr/>
          </p:nvSpPr>
          <p:spPr>
            <a:xfrm>
              <a:off x="456000" y="855383"/>
              <a:ext cx="4681610" cy="703911"/>
            </a:xfrm>
            <a:prstGeom prst="rect">
              <a:avLst/>
            </a:prstGeom>
            <a:solidFill>
              <a:srgbClr val="FFE7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sz="1400" b="1" dirty="0">
                  <a:ea typeface="微軟正黑體" panose="020B0604030504040204" pitchFamily="34" charset="-120"/>
                </a:rPr>
                <a:t>role: </a:t>
              </a:r>
              <a:r>
                <a:rPr lang="en-US" altLang="zh-TW" sz="1400" b="1" dirty="0">
                  <a:solidFill>
                    <a:srgbClr val="7030A0"/>
                  </a:solidFill>
                  <a:ea typeface="微軟正黑體" panose="020B0604030504040204" pitchFamily="34" charset="-120"/>
                </a:rPr>
                <a:t>system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1400" b="1" dirty="0">
                  <a:ea typeface="微軟正黑體" panose="020B0604030504040204" pitchFamily="34" charset="-120"/>
                </a:rPr>
                <a:t>content: </a:t>
              </a:r>
              <a:r>
                <a:rPr lang="en-US" altLang="zh-TW" sz="1400" dirty="0">
                  <a:ea typeface="微軟正黑體" panose="020B0604030504040204" pitchFamily="34" charset="-120"/>
                </a:rPr>
                <a:t>(</a:t>
              </a:r>
              <a:r>
                <a:rPr lang="zh-TW" altLang="en-US" sz="1400" dirty="0">
                  <a:ea typeface="微軟正黑體" panose="020B0604030504040204" pitchFamily="34" charset="-120"/>
                </a:rPr>
                <a:t>如上所述的 </a:t>
              </a:r>
              <a:r>
                <a:rPr lang="en-US" altLang="zh-TW" sz="1400" dirty="0">
                  <a:ea typeface="微軟正黑體" panose="020B0604030504040204" pitchFamily="34" charset="-120"/>
                </a:rPr>
                <a:t>ReAct </a:t>
              </a:r>
              <a:r>
                <a:rPr lang="zh-TW" altLang="en-US" sz="1400" dirty="0">
                  <a:ea typeface="微軟正黑體" panose="020B0604030504040204" pitchFamily="34" charset="-120"/>
                </a:rPr>
                <a:t>規則</a:t>
              </a:r>
              <a:r>
                <a:rPr lang="en-US" altLang="zh-TW" sz="1400" dirty="0">
                  <a:ea typeface="微軟正黑體" panose="020B0604030504040204" pitchFamily="34" charset="-120"/>
                </a:rPr>
                <a:t>) </a:t>
              </a:r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64C9C982-D74E-416C-8225-D933B67E1BFF}"/>
                </a:ext>
              </a:extLst>
            </p:cNvPr>
            <p:cNvSpPr txBox="1"/>
            <p:nvPr/>
          </p:nvSpPr>
          <p:spPr>
            <a:xfrm>
              <a:off x="455999" y="1562150"/>
              <a:ext cx="4681610" cy="70391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sz="1400" b="1" dirty="0">
                  <a:ea typeface="微軟正黑體" panose="020B0604030504040204" pitchFamily="34" charset="-120"/>
                </a:rPr>
                <a:t>role: </a:t>
              </a:r>
              <a:r>
                <a:rPr lang="en-US" altLang="zh-TW" sz="1400" b="1" dirty="0">
                  <a:solidFill>
                    <a:srgbClr val="0070C0"/>
                  </a:solidFill>
                  <a:ea typeface="微軟正黑體" panose="020B0604030504040204" pitchFamily="34" charset="-120"/>
                </a:rPr>
                <a:t>user</a:t>
              </a:r>
            </a:p>
            <a:p>
              <a:pPr>
                <a:lnSpc>
                  <a:spcPct val="150000"/>
                </a:lnSpc>
              </a:pPr>
              <a:r>
                <a:rPr lang="en-US" altLang="zh-TW" sz="1400" b="1" dirty="0">
                  <a:ea typeface="微軟正黑體" panose="020B0604030504040204" pitchFamily="34" charset="-120"/>
                </a:rPr>
                <a:t>content:</a:t>
              </a:r>
              <a:r>
                <a:rPr lang="en-US" altLang="zh-TW" sz="1400" dirty="0">
                  <a:ea typeface="微軟正黑體" panose="020B0604030504040204" pitchFamily="34" charset="-120"/>
                </a:rPr>
                <a:t> </a:t>
              </a:r>
              <a:r>
                <a:rPr lang="zh-TW" altLang="en-US" sz="1400" dirty="0">
                  <a:ea typeface="微軟正黑體" panose="020B0604030504040204" pitchFamily="34" charset="-120"/>
                </a:rPr>
                <a:t>現在東京的溫度比台北高嗎？</a:t>
              </a: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11E9BD1D-E0DB-4E6A-ABE0-59C0368F7B47}"/>
                </a:ext>
              </a:extLst>
            </p:cNvPr>
            <p:cNvSpPr txBox="1"/>
            <p:nvPr/>
          </p:nvSpPr>
          <p:spPr>
            <a:xfrm>
              <a:off x="455999" y="3294484"/>
              <a:ext cx="4681610" cy="70391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sz="1400" b="1" dirty="0">
                  <a:ea typeface="微軟正黑體" panose="020B0604030504040204" pitchFamily="34" charset="-120"/>
                </a:rPr>
                <a:t>role: </a:t>
              </a:r>
              <a:r>
                <a:rPr lang="en-US" altLang="zh-TW" sz="1400" b="1" dirty="0">
                  <a:solidFill>
                    <a:schemeClr val="accent2"/>
                  </a:solidFill>
                  <a:ea typeface="微軟正黑體" panose="020B0604030504040204" pitchFamily="34" charset="-120"/>
                </a:rPr>
                <a:t>user (tool)</a:t>
              </a:r>
            </a:p>
            <a:p>
              <a:pPr>
                <a:lnSpc>
                  <a:spcPct val="150000"/>
                </a:lnSpc>
              </a:pPr>
              <a:r>
                <a:rPr lang="en-US" altLang="zh-TW" sz="1400" b="1" dirty="0">
                  <a:ea typeface="微軟正黑體" panose="020B0604030504040204" pitchFamily="34" charset="-120"/>
                </a:rPr>
                <a:t>content:</a:t>
              </a:r>
              <a:r>
                <a:rPr lang="en-US" altLang="zh-TW" sz="1400" dirty="0">
                  <a:ea typeface="微軟正黑體" panose="020B0604030504040204" pitchFamily="34" charset="-120"/>
                </a:rPr>
                <a:t> </a:t>
              </a:r>
              <a:r>
                <a:rPr lang="en-US" altLang="zh-TW" sz="1400" dirty="0">
                  <a:solidFill>
                    <a:srgbClr val="FF0000"/>
                  </a:solidFill>
                  <a:ea typeface="微軟正黑體" panose="020B0604030504040204" pitchFamily="34" charset="-120"/>
                </a:rPr>
                <a:t>Observation:</a:t>
              </a:r>
              <a:r>
                <a:rPr lang="en-US" altLang="zh-TW" sz="1400" dirty="0">
                  <a:ea typeface="微軟正黑體" panose="020B0604030504040204" pitchFamily="34" charset="-120"/>
                </a:rPr>
                <a:t> </a:t>
              </a:r>
              <a:r>
                <a:rPr lang="zh-TW" altLang="en-US" sz="1400" dirty="0">
                  <a:ea typeface="微軟正黑體" panose="020B0604030504040204" pitchFamily="34" charset="-120"/>
                </a:rPr>
                <a:t>東京現在是 </a:t>
              </a:r>
              <a:r>
                <a:rPr lang="en-US" altLang="zh-TW" sz="1400" dirty="0">
                  <a:ea typeface="微軟正黑體" panose="020B0604030504040204" pitchFamily="34" charset="-120"/>
                </a:rPr>
                <a:t>15°C</a:t>
              </a:r>
              <a:r>
                <a:rPr lang="zh-TW" altLang="en-US" sz="1400" dirty="0">
                  <a:ea typeface="微軟正黑體" panose="020B0604030504040204" pitchFamily="34" charset="-120"/>
                </a:rPr>
                <a:t>。</a:t>
              </a:r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7EFB4391-A9F5-4D5F-BF42-04C479D55076}"/>
                </a:ext>
              </a:extLst>
            </p:cNvPr>
            <p:cNvSpPr txBox="1"/>
            <p:nvPr/>
          </p:nvSpPr>
          <p:spPr>
            <a:xfrm>
              <a:off x="455999" y="3998395"/>
              <a:ext cx="4681610" cy="102842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sz="1400" b="1" dirty="0">
                  <a:ea typeface="微軟正黑體" panose="020B0604030504040204" pitchFamily="34" charset="-120"/>
                </a:rPr>
                <a:t>role: </a:t>
              </a:r>
              <a:r>
                <a:rPr lang="en-US" altLang="zh-TW" sz="1400" b="1" dirty="0">
                  <a:solidFill>
                    <a:srgbClr val="00B050"/>
                  </a:solidFill>
                  <a:ea typeface="微軟正黑體" panose="020B0604030504040204" pitchFamily="34" charset="-120"/>
                </a:rPr>
                <a:t>assistant</a:t>
              </a:r>
            </a:p>
            <a:p>
              <a:pPr>
                <a:lnSpc>
                  <a:spcPct val="150000"/>
                </a:lnSpc>
              </a:pPr>
              <a:r>
                <a:rPr lang="en-US" altLang="zh-TW" sz="1400" b="1" dirty="0">
                  <a:ea typeface="微軟正黑體" panose="020B0604030504040204" pitchFamily="34" charset="-120"/>
                </a:rPr>
                <a:t>content:</a:t>
              </a:r>
              <a:r>
                <a:rPr lang="en-US" altLang="zh-TW" sz="1400" dirty="0">
                  <a:ea typeface="微軟正黑體" panose="020B0604030504040204" pitchFamily="34" charset="-120"/>
                </a:rPr>
                <a:t> </a:t>
              </a:r>
              <a:r>
                <a:rPr lang="en-US" altLang="zh-TW" sz="1400" dirty="0">
                  <a:solidFill>
                    <a:srgbClr val="FF0000"/>
                  </a:solidFill>
                  <a:ea typeface="微軟正黑體" panose="020B0604030504040204" pitchFamily="34" charset="-120"/>
                </a:rPr>
                <a:t>Thought:</a:t>
              </a:r>
              <a:r>
                <a:rPr lang="en-US" altLang="zh-TW" sz="1400" dirty="0">
                  <a:ea typeface="微軟正黑體" panose="020B0604030504040204" pitchFamily="34" charset="-120"/>
                </a:rPr>
                <a:t> </a:t>
              </a:r>
              <a:r>
                <a:rPr lang="zh-TW" altLang="en-US" sz="1400" dirty="0">
                  <a:ea typeface="微軟正黑體" panose="020B0604030504040204" pitchFamily="34" charset="-120"/>
                </a:rPr>
                <a:t>接著查台北的溫度。</a:t>
              </a:r>
              <a:endParaRPr lang="en-US" altLang="zh-TW" sz="1400" dirty="0">
                <a:ea typeface="微軟正黑體" panose="020B0604030504040204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TW" sz="1400" dirty="0">
                  <a:solidFill>
                    <a:srgbClr val="FF0000"/>
                  </a:solidFill>
                  <a:ea typeface="微軟正黑體" panose="020B0604030504040204" pitchFamily="34" charset="-120"/>
                </a:rPr>
                <a:t>Action:</a:t>
              </a:r>
              <a:r>
                <a:rPr lang="en-US" altLang="zh-TW" sz="1400" dirty="0">
                  <a:ea typeface="微軟正黑體" panose="020B0604030504040204" pitchFamily="34" charset="-120"/>
                </a:rPr>
                <a:t> </a:t>
              </a:r>
              <a:r>
                <a:rPr lang="en-US" altLang="zh-TW" sz="1400" dirty="0">
                  <a:effectLst/>
                  <a:ea typeface="微軟正黑體" panose="020B0604030504040204" pitchFamily="34" charset="-120"/>
                </a:rPr>
                <a:t>Search('Taipei current temperature')</a:t>
              </a:r>
              <a:endParaRPr lang="zh-TW" altLang="en-US" sz="1400" dirty="0">
                <a:ea typeface="微軟正黑體" panose="020B0604030504040204" pitchFamily="34" charset="-120"/>
              </a:endParaRPr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1AE6777B-9683-4A39-9E2A-F56EA02CA941}"/>
                </a:ext>
              </a:extLst>
            </p:cNvPr>
            <p:cNvSpPr txBox="1"/>
            <p:nvPr/>
          </p:nvSpPr>
          <p:spPr>
            <a:xfrm>
              <a:off x="455999" y="2268917"/>
              <a:ext cx="4681610" cy="102842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sz="1400" b="1" dirty="0">
                  <a:ea typeface="微軟正黑體" panose="020B0604030504040204" pitchFamily="34" charset="-120"/>
                </a:rPr>
                <a:t>role: </a:t>
              </a:r>
              <a:r>
                <a:rPr lang="en-US" altLang="zh-TW" sz="1400" b="1" dirty="0">
                  <a:solidFill>
                    <a:srgbClr val="00B050"/>
                  </a:solidFill>
                  <a:ea typeface="微軟正黑體" panose="020B0604030504040204" pitchFamily="34" charset="-120"/>
                </a:rPr>
                <a:t>assistant</a:t>
              </a:r>
            </a:p>
            <a:p>
              <a:pPr>
                <a:lnSpc>
                  <a:spcPct val="150000"/>
                </a:lnSpc>
              </a:pPr>
              <a:r>
                <a:rPr lang="en-US" altLang="zh-TW" sz="1400" b="1" dirty="0">
                  <a:ea typeface="微軟正黑體" panose="020B0604030504040204" pitchFamily="34" charset="-120"/>
                </a:rPr>
                <a:t>content: </a:t>
              </a:r>
              <a:r>
                <a:rPr lang="en-US" altLang="zh-TW" sz="1400" dirty="0">
                  <a:solidFill>
                    <a:srgbClr val="FF0000"/>
                  </a:solidFill>
                  <a:ea typeface="微軟正黑體" panose="020B0604030504040204" pitchFamily="34" charset="-120"/>
                </a:rPr>
                <a:t>Thought:</a:t>
              </a:r>
              <a:r>
                <a:rPr lang="en-US" altLang="zh-TW" sz="1400" dirty="0">
                  <a:ea typeface="微軟正黑體" panose="020B0604030504040204" pitchFamily="34" charset="-120"/>
                </a:rPr>
                <a:t> </a:t>
              </a:r>
              <a:r>
                <a:rPr lang="zh-TW" altLang="en-US" sz="1400" dirty="0">
                  <a:ea typeface="微軟正黑體" panose="020B0604030504040204" pitchFamily="34" charset="-120"/>
                </a:rPr>
                <a:t>我需要先查東京和台北現在的溫度</a:t>
              </a:r>
              <a:endParaRPr lang="en-US" altLang="zh-TW" sz="1400" dirty="0">
                <a:ea typeface="微軟正黑體" panose="020B0604030504040204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TW" sz="1400" dirty="0">
                  <a:solidFill>
                    <a:srgbClr val="FF0000"/>
                  </a:solidFill>
                  <a:ea typeface="微軟正黑體" panose="020B0604030504040204" pitchFamily="34" charset="-120"/>
                </a:rPr>
                <a:t>Action: </a:t>
              </a:r>
              <a:r>
                <a:rPr lang="en-US" altLang="zh-TW" sz="1400" dirty="0">
                  <a:effectLst/>
                  <a:ea typeface="微軟正黑體" panose="020B0604030504040204" pitchFamily="34" charset="-120"/>
                </a:rPr>
                <a:t>Search(‘Tokyo current temperature')</a:t>
              </a:r>
              <a:endParaRPr lang="zh-TW" altLang="en-US" sz="1400" dirty="0">
                <a:ea typeface="微軟正黑體" panose="020B0604030504040204" pitchFamily="34" charset="-12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FBA2DE37-5198-454D-885D-C73379C6CEC8}"/>
                </a:ext>
              </a:extLst>
            </p:cNvPr>
            <p:cNvSpPr txBox="1"/>
            <p:nvPr/>
          </p:nvSpPr>
          <p:spPr>
            <a:xfrm>
              <a:off x="456000" y="5026818"/>
              <a:ext cx="4681610" cy="70391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sz="1400" b="1" dirty="0">
                  <a:ea typeface="微軟正黑體" panose="020B0604030504040204" pitchFamily="34" charset="-120"/>
                </a:rPr>
                <a:t>role: </a:t>
              </a:r>
              <a:r>
                <a:rPr lang="en-US" altLang="zh-TW" sz="1400" b="1" dirty="0">
                  <a:solidFill>
                    <a:schemeClr val="accent2"/>
                  </a:solidFill>
                  <a:ea typeface="微軟正黑體" panose="020B0604030504040204" pitchFamily="34" charset="-120"/>
                </a:rPr>
                <a:t>user (tool)</a:t>
              </a:r>
            </a:p>
            <a:p>
              <a:pPr>
                <a:lnSpc>
                  <a:spcPct val="150000"/>
                </a:lnSpc>
              </a:pPr>
              <a:r>
                <a:rPr lang="en-US" altLang="zh-TW" sz="1400" b="1" dirty="0">
                  <a:ea typeface="微軟正黑體" panose="020B0604030504040204" pitchFamily="34" charset="-120"/>
                </a:rPr>
                <a:t>content:</a:t>
              </a:r>
              <a:r>
                <a:rPr lang="en-US" altLang="zh-TW" sz="1400" dirty="0">
                  <a:ea typeface="微軟正黑體" panose="020B0604030504040204" pitchFamily="34" charset="-120"/>
                </a:rPr>
                <a:t> </a:t>
              </a:r>
              <a:r>
                <a:rPr lang="en-US" altLang="zh-TW" sz="1400" dirty="0">
                  <a:solidFill>
                    <a:srgbClr val="FF0000"/>
                  </a:solidFill>
                  <a:ea typeface="微軟正黑體" panose="020B0604030504040204" pitchFamily="34" charset="-120"/>
                </a:rPr>
                <a:t>Observation:</a:t>
              </a:r>
              <a:r>
                <a:rPr lang="en-US" altLang="zh-TW" sz="1400" b="1" dirty="0">
                  <a:ea typeface="微軟正黑體" panose="020B0604030504040204" pitchFamily="34" charset="-120"/>
                </a:rPr>
                <a:t> </a:t>
              </a:r>
              <a:r>
                <a:rPr lang="zh-TW" altLang="en-US" sz="1400" dirty="0">
                  <a:ea typeface="微軟正黑體" panose="020B0604030504040204" pitchFamily="34" charset="-120"/>
                </a:rPr>
                <a:t>台北現在是 </a:t>
              </a:r>
              <a:r>
                <a:rPr lang="en-US" altLang="zh-TW" sz="1400" dirty="0">
                  <a:ea typeface="微軟正黑體" panose="020B0604030504040204" pitchFamily="34" charset="-120"/>
                </a:rPr>
                <a:t>22°C</a:t>
              </a:r>
              <a:r>
                <a:rPr lang="zh-TW" altLang="en-US" sz="1400" dirty="0">
                  <a:ea typeface="微軟正黑體" panose="020B0604030504040204" pitchFamily="34" charset="-120"/>
                </a:rPr>
                <a:t>。</a:t>
              </a: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B0B62088-6F3E-48DD-9FE4-2DDB6C146779}"/>
                </a:ext>
              </a:extLst>
            </p:cNvPr>
            <p:cNvSpPr txBox="1"/>
            <p:nvPr/>
          </p:nvSpPr>
          <p:spPr>
            <a:xfrm>
              <a:off x="455999" y="5730729"/>
              <a:ext cx="4681610" cy="102707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sz="1400" b="1" dirty="0">
                  <a:ea typeface="微軟正黑體" panose="020B0604030504040204" pitchFamily="34" charset="-120"/>
                </a:rPr>
                <a:t>role: </a:t>
              </a:r>
              <a:r>
                <a:rPr lang="en-US" altLang="zh-TW" sz="1400" b="1" dirty="0">
                  <a:solidFill>
                    <a:srgbClr val="00B050"/>
                  </a:solidFill>
                  <a:ea typeface="微軟正黑體" panose="020B0604030504040204" pitchFamily="34" charset="-120"/>
                </a:rPr>
                <a:t>assistant</a:t>
              </a:r>
            </a:p>
            <a:p>
              <a:pPr>
                <a:lnSpc>
                  <a:spcPct val="150000"/>
                </a:lnSpc>
              </a:pPr>
              <a:r>
                <a:rPr lang="en-US" altLang="zh-TW" sz="1400" b="1" dirty="0">
                  <a:ea typeface="微軟正黑體" panose="020B0604030504040204" pitchFamily="34" charset="-120"/>
                </a:rPr>
                <a:t>content:</a:t>
              </a:r>
              <a:r>
                <a:rPr lang="en-US" altLang="zh-TW" sz="1400" dirty="0">
                  <a:ea typeface="微軟正黑體" panose="020B0604030504040204" pitchFamily="34" charset="-120"/>
                </a:rPr>
                <a:t> </a:t>
              </a:r>
              <a:r>
                <a:rPr lang="en-US" altLang="zh-TW" sz="1400" dirty="0">
                  <a:solidFill>
                    <a:srgbClr val="FF0000"/>
                  </a:solidFill>
                  <a:ea typeface="微軟正黑體" panose="020B0604030504040204" pitchFamily="34" charset="-120"/>
                </a:rPr>
                <a:t>Thought:</a:t>
              </a:r>
              <a:r>
                <a:rPr lang="en-US" altLang="zh-TW" sz="1400" dirty="0">
                  <a:ea typeface="微軟正黑體" panose="020B0604030504040204" pitchFamily="34" charset="-120"/>
                </a:rPr>
                <a:t> </a:t>
              </a:r>
              <a:r>
                <a:rPr lang="zh-TW" altLang="en-US" sz="1400" dirty="0">
                  <a:ea typeface="微軟正黑體" panose="020B0604030504040204" pitchFamily="34" charset="-120"/>
                </a:rPr>
                <a:t>我已經有兩個城市的數據了。</a:t>
              </a:r>
              <a:r>
                <a:rPr lang="en-US" altLang="zh-TW" sz="1400" dirty="0">
                  <a:ea typeface="微軟正黑體" panose="020B0604030504040204" pitchFamily="34" charset="-120"/>
                </a:rPr>
                <a:t>22 &gt; 15</a:t>
              </a:r>
              <a:r>
                <a:rPr lang="zh-TW" altLang="en-US" sz="1400" dirty="0">
                  <a:ea typeface="微軟正黑體" panose="020B0604030504040204" pitchFamily="34" charset="-120"/>
                </a:rPr>
                <a:t>。</a:t>
              </a:r>
              <a:endParaRPr lang="en-US" altLang="zh-TW" sz="1400" dirty="0">
                <a:ea typeface="微軟正黑體" panose="020B0604030504040204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TW" sz="1400" dirty="0">
                  <a:solidFill>
                    <a:srgbClr val="FF0000"/>
                  </a:solidFill>
                  <a:ea typeface="微軟正黑體" panose="020B0604030504040204" pitchFamily="34" charset="-120"/>
                </a:rPr>
                <a:t>Final Answer:</a:t>
              </a:r>
              <a:r>
                <a:rPr lang="en-US" altLang="zh-TW" sz="1400" dirty="0">
                  <a:ea typeface="微軟正黑體" panose="020B0604030504040204" pitchFamily="34" charset="-120"/>
                </a:rPr>
                <a:t> </a:t>
              </a:r>
              <a:r>
                <a:rPr lang="zh-TW" altLang="en-US" sz="1400" dirty="0">
                  <a:ea typeface="微軟正黑體" panose="020B0604030504040204" pitchFamily="34" charset="-120"/>
                </a:rPr>
                <a:t>不，現在台北（</a:t>
              </a:r>
              <a:r>
                <a:rPr lang="en-US" altLang="zh-TW" sz="1400" dirty="0">
                  <a:ea typeface="微軟正黑體" panose="020B0604030504040204" pitchFamily="34" charset="-120"/>
                </a:rPr>
                <a:t>22°C</a:t>
              </a:r>
              <a:r>
                <a:rPr lang="zh-TW" altLang="en-US" sz="1400" dirty="0">
                  <a:ea typeface="微軟正黑體" panose="020B0604030504040204" pitchFamily="34" charset="-120"/>
                </a:rPr>
                <a:t>）比東京（</a:t>
              </a:r>
              <a:r>
                <a:rPr lang="en-US" altLang="zh-TW" sz="1400" dirty="0">
                  <a:ea typeface="微軟正黑體" panose="020B0604030504040204" pitchFamily="34" charset="-120"/>
                </a:rPr>
                <a:t>15°C</a:t>
              </a:r>
              <a:r>
                <a:rPr lang="zh-TW" altLang="en-US" sz="1400" dirty="0">
                  <a:ea typeface="微軟正黑體" panose="020B0604030504040204" pitchFamily="34" charset="-120"/>
                </a:rPr>
                <a:t>）暖和。</a:t>
              </a:r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D069BFA2-5C60-4830-AF49-5C836438627C}"/>
              </a:ext>
            </a:extLst>
          </p:cNvPr>
          <p:cNvSpPr/>
          <p:nvPr/>
        </p:nvSpPr>
        <p:spPr>
          <a:xfrm>
            <a:off x="6564095" y="389968"/>
            <a:ext cx="4540679" cy="589217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語音泡泡: 矩形 12">
            <a:extLst>
              <a:ext uri="{FF2B5EF4-FFF2-40B4-BE49-F238E27FC236}">
                <a16:creationId xmlns:a16="http://schemas.microsoft.com/office/drawing/2014/main" id="{C2FB2503-A48C-4133-91C1-76CB36ABECD8}"/>
              </a:ext>
            </a:extLst>
          </p:cNvPr>
          <p:cNvSpPr/>
          <p:nvPr/>
        </p:nvSpPr>
        <p:spPr>
          <a:xfrm>
            <a:off x="8135724" y="1083635"/>
            <a:ext cx="2786202" cy="550527"/>
          </a:xfrm>
          <a:prstGeom prst="wedgeRectCallout">
            <a:avLst>
              <a:gd name="adj1" fmla="val 44781"/>
              <a:gd name="adj2" fmla="val 74427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ea typeface="微軟正黑體" panose="020B0604030504040204" pitchFamily="34" charset="-120"/>
              </a:rPr>
              <a:t>現在東京的溫度比台北高嗎？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4" name="語音泡泡: 矩形 13">
            <a:extLst>
              <a:ext uri="{FF2B5EF4-FFF2-40B4-BE49-F238E27FC236}">
                <a16:creationId xmlns:a16="http://schemas.microsoft.com/office/drawing/2014/main" id="{4988F2B2-8C3D-42C5-B28E-BE8376E3ADC0}"/>
              </a:ext>
            </a:extLst>
          </p:cNvPr>
          <p:cNvSpPr/>
          <p:nvPr/>
        </p:nvSpPr>
        <p:spPr>
          <a:xfrm>
            <a:off x="6737292" y="5493344"/>
            <a:ext cx="4184634" cy="550527"/>
          </a:xfrm>
          <a:prstGeom prst="wedgeRectCallout">
            <a:avLst>
              <a:gd name="adj1" fmla="val -38659"/>
              <a:gd name="adj2" fmla="val 67881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ea typeface="微軟正黑體" panose="020B0604030504040204" pitchFamily="34" charset="-120"/>
              </a:rPr>
              <a:t>不，現在台北（</a:t>
            </a:r>
            <a:r>
              <a:rPr lang="en-US" altLang="zh-TW" sz="1600" dirty="0">
                <a:solidFill>
                  <a:schemeClr val="tx1"/>
                </a:solidFill>
                <a:ea typeface="微軟正黑體" panose="020B0604030504040204" pitchFamily="34" charset="-120"/>
              </a:rPr>
              <a:t>22°C</a:t>
            </a:r>
            <a:r>
              <a:rPr lang="zh-TW" altLang="en-US" sz="1600" dirty="0">
                <a:solidFill>
                  <a:schemeClr val="tx1"/>
                </a:solidFill>
                <a:ea typeface="微軟正黑體" panose="020B0604030504040204" pitchFamily="34" charset="-120"/>
              </a:rPr>
              <a:t>）比東京（</a:t>
            </a:r>
            <a:r>
              <a:rPr lang="en-US" altLang="zh-TW" sz="1600" dirty="0">
                <a:solidFill>
                  <a:schemeClr val="tx1"/>
                </a:solidFill>
                <a:ea typeface="微軟正黑體" panose="020B0604030504040204" pitchFamily="34" charset="-120"/>
              </a:rPr>
              <a:t>15°C</a:t>
            </a:r>
            <a:r>
              <a:rPr lang="zh-TW" altLang="en-US" sz="1600" dirty="0">
                <a:solidFill>
                  <a:schemeClr val="tx1"/>
                </a:solidFill>
                <a:ea typeface="微軟正黑體" panose="020B0604030504040204" pitchFamily="34" charset="-120"/>
              </a:rPr>
              <a:t>）暖和。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05F38E5-39D9-4772-B4CF-3B1810EFB02F}"/>
              </a:ext>
            </a:extLst>
          </p:cNvPr>
          <p:cNvSpPr txBox="1"/>
          <p:nvPr/>
        </p:nvSpPr>
        <p:spPr>
          <a:xfrm>
            <a:off x="8084891" y="20636"/>
            <a:ext cx="1489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/>
              <a:t>Chatroom</a:t>
            </a:r>
            <a:endParaRPr lang="zh-TW" altLang="en-US" b="1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C5BF502-0E79-4692-87E8-8D4FE0F0136F}"/>
              </a:ext>
            </a:extLst>
          </p:cNvPr>
          <p:cNvSpPr txBox="1"/>
          <p:nvPr/>
        </p:nvSpPr>
        <p:spPr>
          <a:xfrm>
            <a:off x="2042660" y="6915"/>
            <a:ext cx="1489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/>
              <a:t>messages</a:t>
            </a:r>
            <a:endParaRPr lang="zh-TW" altLang="en-US" b="1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845B74F-EC93-48C2-81F3-484E5A434BF1}"/>
              </a:ext>
            </a:extLst>
          </p:cNvPr>
          <p:cNvSpPr txBox="1"/>
          <p:nvPr/>
        </p:nvSpPr>
        <p:spPr>
          <a:xfrm>
            <a:off x="7532016" y="2592860"/>
            <a:ext cx="34747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ea typeface="微軟正黑體" panose="020B0604030504040204" pitchFamily="34" charset="-120"/>
              </a:rPr>
              <a:t>正在搜尋 </a:t>
            </a:r>
            <a:r>
              <a:rPr lang="en-US" altLang="zh-TW" sz="1600" dirty="0">
                <a:effectLst/>
                <a:ea typeface="微軟正黑體" panose="020B0604030504040204" pitchFamily="34" charset="-120"/>
              </a:rPr>
              <a:t>Tokyo current temperature</a:t>
            </a:r>
            <a:r>
              <a:rPr lang="zh-TW" altLang="en-US" sz="1600" dirty="0">
                <a:effectLst/>
                <a:ea typeface="微軟正黑體" panose="020B0604030504040204" pitchFamily="34" charset="-120"/>
              </a:rPr>
              <a:t> </a:t>
            </a:r>
            <a:r>
              <a:rPr lang="en-US" altLang="zh-TW" sz="1600" dirty="0">
                <a:effectLst/>
                <a:ea typeface="微軟正黑體" panose="020B0604030504040204" pitchFamily="34" charset="-120"/>
              </a:rPr>
              <a:t>…</a:t>
            </a:r>
            <a:endParaRPr lang="zh-TW" altLang="en-US" sz="1600" dirty="0">
              <a:ea typeface="微軟正黑體" panose="020B0604030504040204" pitchFamily="34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63428BA-55A2-460E-8C10-03E55F909F70}"/>
              </a:ext>
            </a:extLst>
          </p:cNvPr>
          <p:cNvSpPr txBox="1"/>
          <p:nvPr/>
        </p:nvSpPr>
        <p:spPr>
          <a:xfrm>
            <a:off x="7532015" y="4381882"/>
            <a:ext cx="34747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ea typeface="微軟正黑體" panose="020B0604030504040204" pitchFamily="34" charset="-120"/>
              </a:rPr>
              <a:t>正在搜尋 </a:t>
            </a:r>
            <a:r>
              <a:rPr lang="en-US" altLang="zh-TW" sz="1600" dirty="0">
                <a:effectLst/>
                <a:ea typeface="微軟正黑體" panose="020B0604030504040204" pitchFamily="34" charset="-120"/>
              </a:rPr>
              <a:t>Taipei current temperature</a:t>
            </a:r>
            <a:r>
              <a:rPr lang="zh-TW" altLang="en-US" sz="1600" dirty="0">
                <a:effectLst/>
                <a:ea typeface="微軟正黑體" panose="020B0604030504040204" pitchFamily="34" charset="-120"/>
              </a:rPr>
              <a:t> </a:t>
            </a:r>
            <a:r>
              <a:rPr lang="en-US" altLang="zh-TW" sz="1600" dirty="0">
                <a:effectLst/>
                <a:ea typeface="微軟正黑體" panose="020B0604030504040204" pitchFamily="34" charset="-120"/>
              </a:rPr>
              <a:t>…</a:t>
            </a:r>
            <a:endParaRPr lang="zh-TW" altLang="en-US" sz="1600" dirty="0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57701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3B4804-20C6-4E50-B276-C09C20299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Evolution – From ReAct to Function Calling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33BC35F-7E17-4F5A-B0FE-B5F0628565E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75A97C9-DDF6-4531-8FCA-5BB3DFC5FB8F}"/>
              </a:ext>
            </a:extLst>
          </p:cNvPr>
          <p:cNvSpPr txBox="1"/>
          <p:nvPr/>
        </p:nvSpPr>
        <p:spPr>
          <a:xfrm>
            <a:off x="456000" y="1263192"/>
            <a:ext cx="10780751" cy="4484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ReAct </a:t>
            </a: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的缺點：輸出不穩定、沒有標準化</a:t>
            </a:r>
            <a:endParaRPr lang="en-US" altLang="zh-TW" sz="1600" b="1" dirty="0">
              <a:solidFill>
                <a:srgbClr val="002060"/>
              </a:solidFill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ea typeface="微軟正黑體" panose="020B0604030504040204" pitchFamily="34" charset="-120"/>
              </a:rPr>
              <a:t>必須在 </a:t>
            </a:r>
            <a:r>
              <a:rPr lang="en-US" altLang="zh-TW" sz="1600" dirty="0">
                <a:ea typeface="微軟正黑體" panose="020B0604030504040204" pitchFamily="34" charset="-120"/>
              </a:rPr>
              <a:t>system message </a:t>
            </a:r>
            <a:r>
              <a:rPr lang="zh-TW" altLang="en-US" sz="1600" dirty="0">
                <a:ea typeface="微軟正黑體" panose="020B0604030504040204" pitchFamily="34" charset="-120"/>
              </a:rPr>
              <a:t>裡寫下一大堆文字來規定格式（例如：必須寫 </a:t>
            </a:r>
            <a:r>
              <a:rPr lang="en-US" altLang="zh-TW" sz="1600" dirty="0">
                <a:ea typeface="微軟正黑體" panose="020B0604030504040204" pitchFamily="34" charset="-120"/>
              </a:rPr>
              <a:t>Action: [</a:t>
            </a:r>
            <a:r>
              <a:rPr lang="zh-TW" altLang="en-US" sz="1600" dirty="0">
                <a:ea typeface="微軟正黑體" panose="020B0604030504040204" pitchFamily="34" charset="-120"/>
              </a:rPr>
              <a:t>工具名</a:t>
            </a:r>
            <a:r>
              <a:rPr lang="en-US" altLang="zh-TW" sz="1600" dirty="0">
                <a:ea typeface="微軟正黑體" panose="020B0604030504040204" pitchFamily="34" charset="-120"/>
              </a:rPr>
              <a:t>]</a:t>
            </a:r>
            <a:r>
              <a:rPr lang="zh-TW" altLang="en-US" sz="1600" dirty="0">
                <a:ea typeface="微軟正黑體" panose="020B0604030504040204" pitchFamily="34" charset="-120"/>
              </a:rPr>
              <a:t>）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ea typeface="微軟正黑體" panose="020B0604030504040204" pitchFamily="34" charset="-120"/>
              </a:rPr>
              <a:t>容易因為模型「不聽話」或格式寫錯（多了一個空格或標點）而導致程式解析失敗。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ea typeface="微軟正黑體" panose="020B0604030504040204" pitchFamily="34" charset="-120"/>
              </a:rPr>
              <a:t>如果想要修改格式，須連解析方式一起修改。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TW" sz="1600" dirty="0"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Function Calling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ea typeface="微軟正黑體" panose="020B0604030504040204" pitchFamily="34" charset="-120"/>
              </a:rPr>
              <a:t>OpenAI </a:t>
            </a:r>
            <a:r>
              <a:rPr lang="zh-TW" altLang="en-US" sz="1600" dirty="0">
                <a:ea typeface="微軟正黑體" panose="020B0604030504040204" pitchFamily="34" charset="-120"/>
              </a:rPr>
              <a:t>推廣的一種硬性通訊協議，它將「工具的使用」從純文字對話中獨立出來。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altLang="zh-TW" sz="1600" dirty="0"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核心差異：從「文字模擬」到「結構化數據」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ea typeface="微軟正黑體" panose="020B0604030504040204" pitchFamily="34" charset="-120"/>
              </a:rPr>
              <a:t>ReAct</a:t>
            </a:r>
            <a:r>
              <a:rPr lang="zh-TW" altLang="en-US" sz="1600" dirty="0">
                <a:ea typeface="微軟正黑體" panose="020B0604030504040204" pitchFamily="34" charset="-120"/>
              </a:rPr>
              <a:t>： 模型在 </a:t>
            </a:r>
            <a:r>
              <a:rPr lang="en-US" altLang="zh-TW" sz="1600" dirty="0">
                <a:ea typeface="微軟正黑體" panose="020B0604030504040204" pitchFamily="34" charset="-120"/>
              </a:rPr>
              <a:t>Assistant Message </a:t>
            </a:r>
            <a:r>
              <a:rPr lang="zh-TW" altLang="en-US" sz="1600" dirty="0">
                <a:ea typeface="微軟正黑體" panose="020B0604030504040204" pitchFamily="34" charset="-120"/>
              </a:rPr>
              <a:t>裡寫一段話，程式碼去「猜」模型想用什麼工具。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ea typeface="微軟正黑體" panose="020B0604030504040204" pitchFamily="34" charset="-120"/>
              </a:rPr>
              <a:t>Function Calling</a:t>
            </a:r>
            <a:r>
              <a:rPr lang="zh-TW" altLang="en-US" sz="1600" dirty="0">
                <a:ea typeface="微軟正黑體" panose="020B0604030504040204" pitchFamily="34" charset="-120"/>
              </a:rPr>
              <a:t>： </a:t>
            </a:r>
            <a:r>
              <a:rPr lang="en-US" altLang="zh-TW" sz="1600" dirty="0">
                <a:ea typeface="微軟正黑體" panose="020B0604030504040204" pitchFamily="34" charset="-120"/>
              </a:rPr>
              <a:t>API </a:t>
            </a:r>
            <a:r>
              <a:rPr lang="zh-TW" altLang="en-US" sz="1600" dirty="0">
                <a:ea typeface="微軟正黑體" panose="020B0604030504040204" pitchFamily="34" charset="-120"/>
              </a:rPr>
              <a:t>額外提供一個 </a:t>
            </a:r>
            <a:r>
              <a:rPr lang="en-US" altLang="zh-TW" sz="1600" dirty="0">
                <a:ea typeface="微軟正黑體" panose="020B0604030504040204" pitchFamily="34" charset="-120"/>
              </a:rPr>
              <a:t>tools </a:t>
            </a:r>
            <a:r>
              <a:rPr lang="zh-TW" altLang="en-US" sz="1600" dirty="0">
                <a:ea typeface="微軟正黑體" panose="020B0604030504040204" pitchFamily="34" charset="-120"/>
              </a:rPr>
              <a:t>參數。模型會回傳一個 </a:t>
            </a:r>
            <a:r>
              <a:rPr lang="en-US" altLang="zh-TW" sz="1600" dirty="0">
                <a:ea typeface="微軟正黑體" panose="020B0604030504040204" pitchFamily="34" charset="-120"/>
              </a:rPr>
              <a:t>JSON </a:t>
            </a:r>
            <a:r>
              <a:rPr lang="zh-TW" altLang="en-US" sz="1600" dirty="0">
                <a:ea typeface="微軟正黑體" panose="020B0604030504040204" pitchFamily="34" charset="-120"/>
              </a:rPr>
              <a:t>格式 的指令，明確告訴程式：「我要執行 </a:t>
            </a:r>
            <a:r>
              <a:rPr lang="en-US" altLang="zh-TW" sz="1600" dirty="0">
                <a:ea typeface="微軟正黑體" panose="020B0604030504040204" pitchFamily="34" charset="-120"/>
              </a:rPr>
              <a:t>Function A</a:t>
            </a:r>
            <a:r>
              <a:rPr lang="zh-TW" altLang="en-US" sz="1600" dirty="0">
                <a:ea typeface="微軟正黑體" panose="020B0604030504040204" pitchFamily="34" charset="-120"/>
              </a:rPr>
              <a:t>，參數是 </a:t>
            </a:r>
            <a:r>
              <a:rPr lang="en-US" altLang="zh-TW" sz="1600" dirty="0">
                <a:ea typeface="微軟正黑體" panose="020B0604030504040204" pitchFamily="34" charset="-120"/>
              </a:rPr>
              <a:t>X</a:t>
            </a:r>
            <a:r>
              <a:rPr lang="zh-TW" altLang="en-US" sz="1600" dirty="0">
                <a:ea typeface="微軟正黑體" panose="020B0604030504040204" pitchFamily="34" charset="-120"/>
              </a:rPr>
              <a:t>」。</a:t>
            </a:r>
          </a:p>
        </p:txBody>
      </p:sp>
    </p:spTree>
    <p:extLst>
      <p:ext uri="{BB962C8B-B14F-4D97-AF65-F5344CB8AC3E}">
        <p14:creationId xmlns:p14="http://schemas.microsoft.com/office/powerpoint/2010/main" val="1856639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558BA8-CE1F-43C5-B339-0DF21BB12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Agent</a:t>
            </a:r>
            <a:r>
              <a:rPr lang="zh-TW" altLang="en-US" dirty="0"/>
              <a:t> </a:t>
            </a:r>
            <a:r>
              <a:rPr lang="en-US" altLang="zh-TW" dirty="0"/>
              <a:t>Strategies – Function Calling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49F7E2F-0CAC-4987-9614-17FC6AF9332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362D730-403A-41CD-88AB-1C9818F9A91D}"/>
              </a:ext>
            </a:extLst>
          </p:cNvPr>
          <p:cNvSpPr txBox="1"/>
          <p:nvPr/>
        </p:nvSpPr>
        <p:spPr>
          <a:xfrm>
            <a:off x="456000" y="1370616"/>
            <a:ext cx="11736000" cy="4484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訓練模型學會 </a:t>
            </a:r>
            <a:endParaRPr lang="en-US" altLang="zh-TW" sz="1600" b="1" dirty="0">
              <a:solidFill>
                <a:srgbClr val="002060"/>
              </a:solidFill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ea typeface="微軟正黑體" panose="020B0604030504040204" pitchFamily="34" charset="-120"/>
              </a:rPr>
              <a:t>輸入：特定格式工具列表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ea typeface="微軟正黑體" panose="020B0604030504040204" pitchFamily="34" charset="-120"/>
              </a:rPr>
              <a:t>輸出：特定格式工具調用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→  限制：只有訓練過 </a:t>
            </a:r>
            <a:r>
              <a:rPr lang="en-US" altLang="zh-TW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function calling</a:t>
            </a:r>
            <a:r>
              <a:rPr lang="zh-TW" altLang="en-US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 的模型才能使用</a:t>
            </a:r>
          </a:p>
          <a:p>
            <a:pPr>
              <a:lnSpc>
                <a:spcPct val="150000"/>
              </a:lnSpc>
            </a:pPr>
            <a:endParaRPr lang="en-US" altLang="zh-TW" sz="1600" dirty="0"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運作流程</a:t>
            </a:r>
            <a:endParaRPr lang="en-US" altLang="zh-TW" sz="1600" b="1" dirty="0">
              <a:solidFill>
                <a:srgbClr val="002060"/>
              </a:solidFill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1600" dirty="0">
                <a:ea typeface="微軟正黑體" panose="020B0604030504040204" pitchFamily="34" charset="-120"/>
              </a:rPr>
              <a:t>1.</a:t>
            </a:r>
            <a:r>
              <a:rPr lang="zh-TW" altLang="en-US" sz="1600" dirty="0">
                <a:ea typeface="微軟正黑體" panose="020B0604030504040204" pitchFamily="34" charset="-120"/>
              </a:rPr>
              <a:t> 發送請求給 </a:t>
            </a:r>
            <a:r>
              <a:rPr lang="en-US" altLang="zh-TW" sz="1600" dirty="0">
                <a:ea typeface="微軟正黑體" panose="020B0604030504040204" pitchFamily="34" charset="-120"/>
              </a:rPr>
              <a:t>LLM </a:t>
            </a:r>
            <a:r>
              <a:rPr lang="zh-TW" altLang="en-US" sz="1600" dirty="0">
                <a:ea typeface="微軟正黑體" panose="020B0604030504040204" pitchFamily="34" charset="-120"/>
              </a:rPr>
              <a:t>時，除了提供 </a:t>
            </a:r>
            <a:r>
              <a:rPr lang="en-US" altLang="zh-TW" sz="1600" dirty="0">
                <a:ea typeface="微軟正黑體" panose="020B0604030504040204" pitchFamily="34" charset="-120"/>
              </a:rPr>
              <a:t>messages</a:t>
            </a:r>
            <a:r>
              <a:rPr lang="zh-TW" altLang="en-US" sz="1600" dirty="0">
                <a:ea typeface="微軟正黑體" panose="020B0604030504040204" pitchFamily="34" charset="-120"/>
              </a:rPr>
              <a:t>，還要提供一份</a:t>
            </a:r>
            <a:r>
              <a:rPr lang="zh-TW" altLang="en-US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遵守特定格式的工具列表</a:t>
            </a:r>
            <a:r>
              <a:rPr lang="zh-TW" altLang="en-US" sz="1600" dirty="0">
                <a:ea typeface="微軟正黑體" panose="020B0604030504040204" pitchFamily="34" charset="-120"/>
              </a:rPr>
              <a:t>，裡面定義了每個工具的名稱以及所需的參數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1600" dirty="0">
                <a:ea typeface="微軟正黑體" panose="020B0604030504040204" pitchFamily="34" charset="-120"/>
              </a:rPr>
              <a:t>2.</a:t>
            </a:r>
            <a:r>
              <a:rPr lang="zh-TW" altLang="en-US" sz="1600" dirty="0">
                <a:ea typeface="微軟正黑體" panose="020B0604030504040204" pitchFamily="34" charset="-120"/>
              </a:rPr>
              <a:t> 模型收到工具列表後，會根據 </a:t>
            </a:r>
            <a:r>
              <a:rPr lang="en-US" altLang="zh-TW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chat template </a:t>
            </a:r>
            <a:r>
              <a:rPr lang="en-US" altLang="zh-TW" sz="1600" dirty="0">
                <a:ea typeface="微軟正黑體" panose="020B0604030504040204" pitchFamily="34" charset="-120"/>
              </a:rPr>
              <a:t>(</a:t>
            </a:r>
            <a:r>
              <a:rPr lang="zh-TW" altLang="en-US" sz="1600" dirty="0">
                <a:ea typeface="微軟正黑體" panose="020B0604030504040204" pitchFamily="34" charset="-120"/>
              </a:rPr>
              <a:t>對話模板</a:t>
            </a:r>
            <a:r>
              <a:rPr lang="en-US" altLang="zh-TW" sz="1600" dirty="0">
                <a:ea typeface="微軟正黑體" panose="020B0604030504040204" pitchFamily="34" charset="-120"/>
              </a:rPr>
              <a:t>) </a:t>
            </a:r>
            <a:r>
              <a:rPr lang="zh-TW" altLang="en-US" sz="1600" dirty="0">
                <a:ea typeface="微軟正黑體" panose="020B0604030504040204" pitchFamily="34" charset="-120"/>
              </a:rPr>
              <a:t>將工具列表塞進 </a:t>
            </a:r>
            <a:r>
              <a:rPr lang="en-US" altLang="zh-TW" sz="1600" dirty="0">
                <a:ea typeface="微軟正黑體" panose="020B0604030504040204" pitchFamily="34" charset="-120"/>
              </a:rPr>
              <a:t>messages (</a:t>
            </a:r>
            <a:r>
              <a:rPr lang="zh-TW" altLang="en-US" sz="1600" dirty="0">
                <a:ea typeface="微軟正黑體" panose="020B0604030504040204" pitchFamily="34" charset="-120"/>
              </a:rPr>
              <a:t>通常是塞進 </a:t>
            </a:r>
            <a:r>
              <a:rPr lang="en-US" altLang="zh-TW" sz="1600" dirty="0">
                <a:ea typeface="微軟正黑體" panose="020B0604030504040204" pitchFamily="34" charset="-120"/>
              </a:rPr>
              <a:t>system message)</a:t>
            </a:r>
          </a:p>
          <a:p>
            <a:pPr>
              <a:lnSpc>
                <a:spcPct val="150000"/>
              </a:lnSpc>
            </a:pPr>
            <a:r>
              <a:rPr lang="en-US" altLang="zh-TW" sz="1600" dirty="0">
                <a:ea typeface="微軟正黑體" panose="020B0604030504040204" pitchFamily="34" charset="-120"/>
              </a:rPr>
              <a:t>3.</a:t>
            </a:r>
            <a:r>
              <a:rPr lang="zh-TW" altLang="en-US" sz="1600" dirty="0">
                <a:ea typeface="微軟正黑體" panose="020B0604030504040204" pitchFamily="34" charset="-120"/>
              </a:rPr>
              <a:t> 模型若決定調用工具，他不會直接回話，而是回傳一個 </a:t>
            </a:r>
            <a:r>
              <a:rPr lang="en-US" altLang="zh-TW" sz="1600" dirty="0" err="1">
                <a:solidFill>
                  <a:srgbClr val="FF0000"/>
                </a:solidFill>
                <a:ea typeface="微軟正黑體" panose="020B0604030504040204" pitchFamily="34" charset="-120"/>
              </a:rPr>
              <a:t>tool_calls</a:t>
            </a:r>
            <a:r>
              <a:rPr lang="en-US" altLang="zh-TW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 </a:t>
            </a:r>
            <a:r>
              <a:rPr lang="zh-TW" altLang="en-US" sz="1600" dirty="0">
                <a:ea typeface="微軟正黑體" panose="020B0604030504040204" pitchFamily="34" charset="-120"/>
              </a:rPr>
              <a:t>物件 </a:t>
            </a:r>
            <a:r>
              <a:rPr lang="en-US" altLang="zh-TW" sz="1600" dirty="0">
                <a:ea typeface="微軟正黑體" panose="020B0604030504040204" pitchFamily="34" charset="-120"/>
              </a:rPr>
              <a:t>(JSON</a:t>
            </a:r>
            <a:r>
              <a:rPr lang="zh-TW" altLang="en-US" sz="1600" dirty="0">
                <a:ea typeface="微軟正黑體" panose="020B0604030504040204" pitchFamily="34" charset="-120"/>
              </a:rPr>
              <a:t> 格式</a:t>
            </a:r>
            <a:r>
              <a:rPr lang="en-US" altLang="zh-TW" sz="1600" dirty="0">
                <a:ea typeface="微軟正黑體" panose="020B0604030504040204" pitchFamily="34" charset="-12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TW" sz="1600" dirty="0">
                <a:ea typeface="微軟正黑體" panose="020B0604030504040204" pitchFamily="34" charset="-120"/>
              </a:rPr>
              <a:t>4.</a:t>
            </a:r>
            <a:r>
              <a:rPr lang="zh-TW" altLang="en-US" sz="1600" dirty="0">
                <a:ea typeface="微軟正黑體" panose="020B0604030504040204" pitchFamily="34" charset="-120"/>
              </a:rPr>
              <a:t> 後端程式解析 </a:t>
            </a:r>
            <a:r>
              <a:rPr lang="en-US" altLang="zh-TW" sz="1600" dirty="0" err="1">
                <a:ea typeface="微軟正黑體" panose="020B0604030504040204" pitchFamily="34" charset="-120"/>
              </a:rPr>
              <a:t>tool_calls</a:t>
            </a:r>
            <a:r>
              <a:rPr lang="en-US" altLang="zh-TW" sz="1600" dirty="0">
                <a:ea typeface="微軟正黑體" panose="020B0604030504040204" pitchFamily="34" charset="-120"/>
              </a:rPr>
              <a:t> </a:t>
            </a:r>
            <a:r>
              <a:rPr lang="zh-TW" altLang="en-US" sz="1600" dirty="0">
                <a:ea typeface="微軟正黑體" panose="020B0604030504040204" pitchFamily="34" charset="-120"/>
              </a:rPr>
              <a:t>物件後呼叫工具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1600" dirty="0">
                <a:ea typeface="微軟正黑體" panose="020B0604030504040204" pitchFamily="34" charset="-120"/>
              </a:rPr>
              <a:t>5.</a:t>
            </a:r>
            <a:r>
              <a:rPr lang="zh-TW" altLang="en-US" sz="1600" dirty="0">
                <a:ea typeface="微軟正黑體" panose="020B0604030504040204" pitchFamily="34" charset="-120"/>
              </a:rPr>
              <a:t> 工具回傳的內容放進</a:t>
            </a:r>
            <a:r>
              <a:rPr lang="zh-TW" altLang="en-US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角色為 </a:t>
            </a:r>
            <a:r>
              <a:rPr lang="en-US" altLang="zh-TW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tool </a:t>
            </a:r>
            <a:r>
              <a:rPr lang="zh-TW" altLang="en-US" sz="1600" dirty="0">
                <a:ea typeface="微軟正黑體" panose="020B0604030504040204" pitchFamily="34" charset="-120"/>
              </a:rPr>
              <a:t>的 </a:t>
            </a:r>
            <a:r>
              <a:rPr lang="en-US" altLang="zh-TW" sz="1600" dirty="0">
                <a:ea typeface="微軟正黑體" panose="020B0604030504040204" pitchFamily="34" charset="-120"/>
              </a:rPr>
              <a:t>message</a:t>
            </a:r>
          </a:p>
          <a:p>
            <a:pPr>
              <a:lnSpc>
                <a:spcPct val="150000"/>
              </a:lnSpc>
            </a:pPr>
            <a:r>
              <a:rPr lang="en-US" altLang="zh-TW" sz="1600" dirty="0">
                <a:ea typeface="微軟正黑體" panose="020B0604030504040204" pitchFamily="34" charset="-120"/>
              </a:rPr>
              <a:t>6.</a:t>
            </a:r>
            <a:r>
              <a:rPr lang="zh-TW" altLang="en-US" sz="1600" dirty="0">
                <a:ea typeface="微軟正黑體" panose="020B0604030504040204" pitchFamily="34" charset="-120"/>
              </a:rPr>
              <a:t> 模型若判斷不須調用工具就會直接回覆</a:t>
            </a:r>
          </a:p>
        </p:txBody>
      </p:sp>
    </p:spTree>
    <p:extLst>
      <p:ext uri="{BB962C8B-B14F-4D97-AF65-F5344CB8AC3E}">
        <p14:creationId xmlns:p14="http://schemas.microsoft.com/office/powerpoint/2010/main" val="1828420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B800305-7C3A-47B7-92BC-4993EFE84D90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4A824C78-BA3D-456A-BB85-12EC480861B1}"/>
              </a:ext>
            </a:extLst>
          </p:cNvPr>
          <p:cNvGrpSpPr/>
          <p:nvPr/>
        </p:nvGrpSpPr>
        <p:grpSpPr>
          <a:xfrm>
            <a:off x="503134" y="502861"/>
            <a:ext cx="6868627" cy="5575903"/>
            <a:chOff x="455998" y="858239"/>
            <a:chExt cx="6868627" cy="5575903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A02A77FC-F309-436E-8B3E-FFA6559905FD}"/>
                </a:ext>
              </a:extLst>
            </p:cNvPr>
            <p:cNvSpPr txBox="1"/>
            <p:nvPr/>
          </p:nvSpPr>
          <p:spPr>
            <a:xfrm>
              <a:off x="455999" y="858239"/>
              <a:ext cx="6868626" cy="703911"/>
            </a:xfrm>
            <a:prstGeom prst="rect">
              <a:avLst/>
            </a:prstGeom>
            <a:solidFill>
              <a:srgbClr val="FFE7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sz="1400" b="1" dirty="0">
                  <a:ea typeface="微軟正黑體" panose="020B0604030504040204" pitchFamily="34" charset="-120"/>
                </a:rPr>
                <a:t>role: </a:t>
              </a:r>
              <a:r>
                <a:rPr lang="en-US" altLang="zh-TW" sz="1400" b="1" dirty="0">
                  <a:solidFill>
                    <a:srgbClr val="7030A0"/>
                  </a:solidFill>
                  <a:ea typeface="微軟正黑體" panose="020B0604030504040204" pitchFamily="34" charset="-120"/>
                </a:rPr>
                <a:t>system</a:t>
              </a:r>
            </a:p>
            <a:p>
              <a:pPr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400" b="1" dirty="0">
                  <a:ea typeface="微軟正黑體" panose="020B0604030504040204" pitchFamily="34" charset="-120"/>
                </a:rPr>
                <a:t>content: </a:t>
              </a:r>
              <a:r>
                <a:rPr kumimoji="0" lang="en-US" altLang="zh-TW" sz="140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ea typeface="微軟正黑體" panose="020B0604030504040204" pitchFamily="34" charset="-120"/>
                </a:rPr>
                <a:t>(</a:t>
              </a:r>
              <a:r>
                <a:rPr kumimoji="0" lang="zh-TW" altLang="en-US" sz="140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ea typeface="微軟正黑體" panose="020B0604030504040204" pitchFamily="34" charset="-120"/>
                </a:rPr>
                <a:t>根據 </a:t>
              </a:r>
              <a:r>
                <a:rPr kumimoji="0" lang="en-US" altLang="zh-TW" sz="140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ea typeface="微軟正黑體" panose="020B0604030504040204" pitchFamily="34" charset="-120"/>
                </a:rPr>
                <a:t>chat template </a:t>
              </a:r>
              <a:r>
                <a:rPr kumimoji="0" lang="zh-TW" altLang="en-US" sz="140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ea typeface="微軟正黑體" panose="020B0604030504040204" pitchFamily="34" charset="-120"/>
                </a:rPr>
                <a:t>自動塞入的工具資訊</a:t>
              </a:r>
              <a:r>
                <a:rPr kumimoji="0" lang="en-US" altLang="zh-TW" sz="140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ea typeface="微軟正黑體" panose="020B0604030504040204" pitchFamily="34" charset="-120"/>
                </a:rPr>
                <a:t>)</a:t>
              </a:r>
              <a:endParaRPr kumimoji="0" lang="zh-TW" altLang="zh-TW" sz="14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ea typeface="微軟正黑體" panose="020B0604030504040204" pitchFamily="34" charset="-120"/>
              </a:endParaRP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03B2933E-A5A0-4B08-AAA3-EE7D0A012F61}"/>
                </a:ext>
              </a:extLst>
            </p:cNvPr>
            <p:cNvSpPr txBox="1"/>
            <p:nvPr/>
          </p:nvSpPr>
          <p:spPr>
            <a:xfrm>
              <a:off x="455998" y="1562150"/>
              <a:ext cx="6868625" cy="70391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sz="1400" b="1" dirty="0">
                  <a:ea typeface="微軟正黑體" panose="020B0604030504040204" pitchFamily="34" charset="-120"/>
                </a:rPr>
                <a:t>role: </a:t>
              </a:r>
              <a:r>
                <a:rPr lang="en-US" altLang="zh-TW" sz="1400" b="1" dirty="0">
                  <a:solidFill>
                    <a:srgbClr val="0070C0"/>
                  </a:solidFill>
                  <a:ea typeface="微軟正黑體" panose="020B0604030504040204" pitchFamily="34" charset="-120"/>
                </a:rPr>
                <a:t>user</a:t>
              </a:r>
            </a:p>
            <a:p>
              <a:pPr>
                <a:lnSpc>
                  <a:spcPct val="150000"/>
                </a:lnSpc>
              </a:pPr>
              <a:r>
                <a:rPr lang="en-US" altLang="zh-TW" sz="1400" b="1" dirty="0">
                  <a:ea typeface="微軟正黑體" panose="020B0604030504040204" pitchFamily="34" charset="-120"/>
                </a:rPr>
                <a:t>content:</a:t>
              </a:r>
              <a:r>
                <a:rPr lang="en-US" altLang="zh-TW" sz="1400" dirty="0">
                  <a:ea typeface="微軟正黑體" panose="020B0604030504040204" pitchFamily="34" charset="-120"/>
                </a:rPr>
                <a:t> </a:t>
              </a:r>
              <a:r>
                <a:rPr lang="zh-TW" altLang="en-US" sz="1400" dirty="0">
                  <a:ea typeface="微軟正黑體" panose="020B0604030504040204" pitchFamily="34" charset="-120"/>
                </a:rPr>
                <a:t>現在東京的溫度比台北高嗎？</a:t>
              </a:r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C903E7FE-B645-416E-ADDD-115886B0B735}"/>
                </a:ext>
              </a:extLst>
            </p:cNvPr>
            <p:cNvSpPr txBox="1"/>
            <p:nvPr/>
          </p:nvSpPr>
          <p:spPr>
            <a:xfrm>
              <a:off x="455999" y="2973420"/>
              <a:ext cx="6868624" cy="10270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sz="1400" b="1" dirty="0">
                  <a:ea typeface="微軟正黑體" panose="020B0604030504040204" pitchFamily="34" charset="-120"/>
                </a:rPr>
                <a:t>role: </a:t>
              </a:r>
              <a:r>
                <a:rPr lang="en-US" altLang="zh-TW" sz="1400" b="1" dirty="0">
                  <a:solidFill>
                    <a:schemeClr val="accent2"/>
                  </a:solidFill>
                  <a:ea typeface="微軟正黑體" panose="020B0604030504040204" pitchFamily="34" charset="-120"/>
                </a:rPr>
                <a:t>tool</a:t>
              </a:r>
            </a:p>
            <a:p>
              <a:pPr>
                <a:lnSpc>
                  <a:spcPct val="150000"/>
                </a:lnSpc>
              </a:pPr>
              <a:r>
                <a:rPr lang="en-US" altLang="zh-TW" sz="1400" b="1" dirty="0" err="1">
                  <a:ea typeface="微軟正黑體" panose="020B0604030504040204" pitchFamily="34" charset="-120"/>
                </a:rPr>
                <a:t>tool_name</a:t>
              </a:r>
              <a:r>
                <a:rPr lang="en-US" altLang="zh-TW" sz="1400" b="1" dirty="0">
                  <a:ea typeface="微軟正黑體" panose="020B0604030504040204" pitchFamily="34" charset="-120"/>
                </a:rPr>
                <a:t>: Search</a:t>
              </a:r>
            </a:p>
            <a:p>
              <a:pPr>
                <a:lnSpc>
                  <a:spcPct val="150000"/>
                </a:lnSpc>
              </a:pPr>
              <a:r>
                <a:rPr lang="en-US" altLang="zh-TW" sz="1400" b="1" dirty="0">
                  <a:ea typeface="微軟正黑體" panose="020B0604030504040204" pitchFamily="34" charset="-120"/>
                </a:rPr>
                <a:t>content:</a:t>
              </a:r>
              <a:r>
                <a:rPr lang="en-US" altLang="zh-TW" sz="1400" dirty="0">
                  <a:ea typeface="微軟正黑體" panose="020B0604030504040204" pitchFamily="34" charset="-120"/>
                </a:rPr>
                <a:t> </a:t>
              </a:r>
              <a:r>
                <a:rPr lang="zh-TW" altLang="en-US" sz="1400" dirty="0">
                  <a:ea typeface="微軟正黑體" panose="020B0604030504040204" pitchFamily="34" charset="-120"/>
                </a:rPr>
                <a:t>東京現在是 </a:t>
              </a:r>
              <a:r>
                <a:rPr lang="en-US" altLang="zh-TW" sz="1400" dirty="0">
                  <a:ea typeface="微軟正黑體" panose="020B0604030504040204" pitchFamily="34" charset="-120"/>
                </a:rPr>
                <a:t>15°C</a:t>
              </a:r>
              <a:r>
                <a:rPr lang="zh-TW" altLang="en-US" sz="1400" dirty="0">
                  <a:ea typeface="微軟正黑體" panose="020B0604030504040204" pitchFamily="34" charset="-120"/>
                </a:rPr>
                <a:t>。</a:t>
              </a:r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58B35743-F375-4651-A68B-415365EC6AAD}"/>
                </a:ext>
              </a:extLst>
            </p:cNvPr>
            <p:cNvSpPr txBox="1"/>
            <p:nvPr/>
          </p:nvSpPr>
          <p:spPr>
            <a:xfrm>
              <a:off x="455999" y="3998523"/>
              <a:ext cx="6868626" cy="70525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sz="1400" b="1" dirty="0">
                  <a:ea typeface="微軟正黑體" panose="020B0604030504040204" pitchFamily="34" charset="-120"/>
                </a:rPr>
                <a:t>role: </a:t>
              </a:r>
              <a:r>
                <a:rPr lang="en-US" altLang="zh-TW" sz="1400" b="1" dirty="0">
                  <a:solidFill>
                    <a:srgbClr val="00B050"/>
                  </a:solidFill>
                  <a:ea typeface="微軟正黑體" panose="020B0604030504040204" pitchFamily="34" charset="-120"/>
                </a:rPr>
                <a:t>assistant</a:t>
              </a:r>
            </a:p>
            <a:p>
              <a:pPr>
                <a:lnSpc>
                  <a:spcPct val="150000"/>
                </a:lnSpc>
              </a:pPr>
              <a:r>
                <a:rPr lang="en-US" altLang="zh-TW" sz="1400" b="1" dirty="0" err="1">
                  <a:solidFill>
                    <a:srgbClr val="FF0000"/>
                  </a:solidFill>
                  <a:ea typeface="微軟正黑體" panose="020B0604030504040204" pitchFamily="34" charset="-120"/>
                </a:rPr>
                <a:t>tool_calls</a:t>
              </a:r>
              <a:r>
                <a:rPr lang="en-US" altLang="zh-TW" sz="1400" b="1" dirty="0">
                  <a:ea typeface="微軟正黑體" panose="020B0604030504040204" pitchFamily="34" charset="-120"/>
                </a:rPr>
                <a:t>: </a:t>
              </a:r>
              <a:r>
                <a:rPr lang="en-US" altLang="zh-TW" sz="1400" b="0" dirty="0">
                  <a:effectLst/>
                </a:rPr>
                <a:t>[{</a:t>
              </a:r>
              <a:r>
                <a:rPr lang="en-US" altLang="zh-TW" sz="1400" b="0" dirty="0">
                  <a:solidFill>
                    <a:srgbClr val="FF0000"/>
                  </a:solidFill>
                  <a:effectLst/>
                </a:rPr>
                <a:t>"name"</a:t>
              </a:r>
              <a:r>
                <a:rPr lang="en-US" altLang="zh-TW" sz="1400" b="0" dirty="0">
                  <a:effectLst/>
                </a:rPr>
                <a:t>: "Search", </a:t>
              </a:r>
              <a:r>
                <a:rPr lang="en-US" altLang="zh-TW" sz="1400" b="0" dirty="0">
                  <a:solidFill>
                    <a:srgbClr val="FF0000"/>
                  </a:solidFill>
                  <a:effectLst/>
                </a:rPr>
                <a:t>"arguments"</a:t>
              </a:r>
              <a:r>
                <a:rPr lang="en-US" altLang="zh-TW" sz="1400" b="0" dirty="0">
                  <a:effectLst/>
                </a:rPr>
                <a:t>: "{\"query\": \"Taipei current temperature\"}"}]</a:t>
              </a:r>
              <a:endParaRPr lang="en-US" altLang="zh-TW" sz="1400" b="1" dirty="0">
                <a:ea typeface="微軟正黑體" panose="020B0604030504040204" pitchFamily="34" charset="-12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756D3903-A9A8-4729-B83B-194705D48B06}"/>
                </a:ext>
              </a:extLst>
            </p:cNvPr>
            <p:cNvSpPr txBox="1"/>
            <p:nvPr/>
          </p:nvSpPr>
          <p:spPr>
            <a:xfrm>
              <a:off x="455999" y="2268917"/>
              <a:ext cx="6868626" cy="70525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sz="1400" b="1" dirty="0">
                  <a:ea typeface="微軟正黑體" panose="020B0604030504040204" pitchFamily="34" charset="-120"/>
                </a:rPr>
                <a:t>role: </a:t>
              </a:r>
              <a:r>
                <a:rPr lang="en-US" altLang="zh-TW" sz="1400" b="1" dirty="0">
                  <a:solidFill>
                    <a:srgbClr val="00B050"/>
                  </a:solidFill>
                  <a:ea typeface="微軟正黑體" panose="020B0604030504040204" pitchFamily="34" charset="-120"/>
                </a:rPr>
                <a:t>assistant</a:t>
              </a:r>
            </a:p>
            <a:p>
              <a:pPr>
                <a:lnSpc>
                  <a:spcPct val="150000"/>
                </a:lnSpc>
              </a:pPr>
              <a:r>
                <a:rPr lang="en-US" altLang="zh-TW" sz="1400" b="1" dirty="0" err="1">
                  <a:solidFill>
                    <a:srgbClr val="FF0000"/>
                  </a:solidFill>
                  <a:ea typeface="微軟正黑體" panose="020B0604030504040204" pitchFamily="34" charset="-120"/>
                </a:rPr>
                <a:t>tool_calls</a:t>
              </a:r>
              <a:r>
                <a:rPr lang="en-US" altLang="zh-TW" sz="1400" b="1" dirty="0">
                  <a:ea typeface="微軟正黑體" panose="020B0604030504040204" pitchFamily="34" charset="-120"/>
                </a:rPr>
                <a:t>: </a:t>
              </a:r>
              <a:r>
                <a:rPr lang="en-US" altLang="zh-TW" sz="1400" b="0" dirty="0">
                  <a:effectLst/>
                </a:rPr>
                <a:t>[{</a:t>
              </a:r>
              <a:r>
                <a:rPr lang="en-US" altLang="zh-TW" sz="1400" b="0" dirty="0">
                  <a:solidFill>
                    <a:srgbClr val="FF0000"/>
                  </a:solidFill>
                  <a:effectLst/>
                </a:rPr>
                <a:t>"name"</a:t>
              </a:r>
              <a:r>
                <a:rPr lang="en-US" altLang="zh-TW" sz="1400" b="0" dirty="0">
                  <a:effectLst/>
                </a:rPr>
                <a:t>: "Search", </a:t>
              </a:r>
              <a:r>
                <a:rPr lang="en-US" altLang="zh-TW" sz="1400" b="0" dirty="0">
                  <a:solidFill>
                    <a:srgbClr val="FF0000"/>
                  </a:solidFill>
                  <a:effectLst/>
                </a:rPr>
                <a:t>"arguments"</a:t>
              </a:r>
              <a:r>
                <a:rPr lang="en-US" altLang="zh-TW" sz="1400" b="0" dirty="0">
                  <a:effectLst/>
                </a:rPr>
                <a:t>: "{\"query\": \"Tokyo current temperature\"}"}]</a:t>
              </a:r>
              <a:endParaRPr lang="en-US" altLang="zh-TW" sz="1400" b="1" dirty="0">
                <a:ea typeface="微軟正黑體" panose="020B0604030504040204" pitchFamily="34" charset="-120"/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704307CF-A8E9-4F26-9446-B41C9F5C4150}"/>
                </a:ext>
              </a:extLst>
            </p:cNvPr>
            <p:cNvSpPr txBox="1"/>
            <p:nvPr/>
          </p:nvSpPr>
          <p:spPr>
            <a:xfrm>
              <a:off x="455999" y="4703781"/>
              <a:ext cx="6868624" cy="10270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sz="1400" b="1" dirty="0">
                  <a:ea typeface="微軟正黑體" panose="020B0604030504040204" pitchFamily="34" charset="-120"/>
                </a:rPr>
                <a:t>role: </a:t>
              </a:r>
              <a:r>
                <a:rPr lang="en-US" altLang="zh-TW" sz="1400" b="1" dirty="0">
                  <a:solidFill>
                    <a:schemeClr val="accent2"/>
                  </a:solidFill>
                  <a:ea typeface="微軟正黑體" panose="020B0604030504040204" pitchFamily="34" charset="-120"/>
                </a:rPr>
                <a:t>tool</a:t>
              </a:r>
            </a:p>
            <a:p>
              <a:pPr>
                <a:lnSpc>
                  <a:spcPct val="150000"/>
                </a:lnSpc>
              </a:pPr>
              <a:r>
                <a:rPr lang="en-US" altLang="zh-TW" sz="1400" b="1" dirty="0" err="1">
                  <a:ea typeface="微軟正黑體" panose="020B0604030504040204" pitchFamily="34" charset="-120"/>
                </a:rPr>
                <a:t>tool_name</a:t>
              </a:r>
              <a:r>
                <a:rPr lang="en-US" altLang="zh-TW" sz="1400" b="1" dirty="0">
                  <a:ea typeface="微軟正黑體" panose="020B0604030504040204" pitchFamily="34" charset="-120"/>
                </a:rPr>
                <a:t>: Search</a:t>
              </a:r>
              <a:endParaRPr lang="en-US" altLang="zh-TW" sz="1400" b="1" dirty="0">
                <a:solidFill>
                  <a:schemeClr val="accent2"/>
                </a:solidFill>
                <a:ea typeface="微軟正黑體" panose="020B0604030504040204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TW" sz="1400" b="1" dirty="0">
                  <a:ea typeface="微軟正黑體" panose="020B0604030504040204" pitchFamily="34" charset="-120"/>
                </a:rPr>
                <a:t>content:</a:t>
              </a:r>
              <a:r>
                <a:rPr lang="en-US" altLang="zh-TW" sz="1400" dirty="0">
                  <a:ea typeface="微軟正黑體" panose="020B0604030504040204" pitchFamily="34" charset="-120"/>
                </a:rPr>
                <a:t> </a:t>
              </a:r>
              <a:r>
                <a:rPr lang="zh-TW" altLang="en-US" sz="1400" dirty="0">
                  <a:ea typeface="微軟正黑體" panose="020B0604030504040204" pitchFamily="34" charset="-120"/>
                </a:rPr>
                <a:t>台北現在是 </a:t>
              </a:r>
              <a:r>
                <a:rPr lang="en-US" altLang="zh-TW" sz="1400" dirty="0">
                  <a:ea typeface="微軟正黑體" panose="020B0604030504040204" pitchFamily="34" charset="-120"/>
                </a:rPr>
                <a:t>22°C</a:t>
              </a:r>
              <a:r>
                <a:rPr lang="zh-TW" altLang="en-US" sz="1400" dirty="0">
                  <a:ea typeface="微軟正黑體" panose="020B0604030504040204" pitchFamily="34" charset="-120"/>
                </a:rPr>
                <a:t>。</a:t>
              </a: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5528167C-9AFE-4B36-8C3B-31991C1A9C58}"/>
                </a:ext>
              </a:extLst>
            </p:cNvPr>
            <p:cNvSpPr txBox="1"/>
            <p:nvPr/>
          </p:nvSpPr>
          <p:spPr>
            <a:xfrm>
              <a:off x="455999" y="5730231"/>
              <a:ext cx="6868624" cy="70391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sz="1400" b="1" dirty="0">
                  <a:ea typeface="微軟正黑體" panose="020B0604030504040204" pitchFamily="34" charset="-120"/>
                </a:rPr>
                <a:t>role: </a:t>
              </a:r>
              <a:r>
                <a:rPr lang="en-US" altLang="zh-TW" sz="1400" b="1" dirty="0">
                  <a:solidFill>
                    <a:srgbClr val="00B050"/>
                  </a:solidFill>
                  <a:ea typeface="微軟正黑體" panose="020B0604030504040204" pitchFamily="34" charset="-120"/>
                </a:rPr>
                <a:t>assistant</a:t>
              </a:r>
            </a:p>
            <a:p>
              <a:pPr>
                <a:lnSpc>
                  <a:spcPct val="150000"/>
                </a:lnSpc>
              </a:pPr>
              <a:r>
                <a:rPr lang="en-US" altLang="zh-TW" sz="1400" b="1" dirty="0">
                  <a:ea typeface="微軟正黑體" panose="020B0604030504040204" pitchFamily="34" charset="-120"/>
                </a:rPr>
                <a:t>content:</a:t>
              </a:r>
              <a:r>
                <a:rPr lang="en-US" altLang="zh-TW" sz="1400" dirty="0">
                  <a:ea typeface="微軟正黑體" panose="020B0604030504040204" pitchFamily="34" charset="-120"/>
                </a:rPr>
                <a:t> </a:t>
              </a:r>
              <a:r>
                <a:rPr lang="zh-TW" altLang="en-US" sz="1400" dirty="0">
                  <a:ea typeface="微軟正黑體" panose="020B0604030504040204" pitchFamily="34" charset="-120"/>
                </a:rPr>
                <a:t>不，現在台北（</a:t>
              </a:r>
              <a:r>
                <a:rPr lang="en-US" altLang="zh-TW" sz="1400" dirty="0">
                  <a:ea typeface="微軟正黑體" panose="020B0604030504040204" pitchFamily="34" charset="-120"/>
                </a:rPr>
                <a:t>22°C</a:t>
              </a:r>
              <a:r>
                <a:rPr lang="zh-TW" altLang="en-US" sz="1400" dirty="0">
                  <a:ea typeface="微軟正黑體" panose="020B0604030504040204" pitchFamily="34" charset="-120"/>
                </a:rPr>
                <a:t>）比東京（</a:t>
              </a:r>
              <a:r>
                <a:rPr lang="en-US" altLang="zh-TW" sz="1400" dirty="0">
                  <a:ea typeface="微軟正黑體" panose="020B0604030504040204" pitchFamily="34" charset="-120"/>
                </a:rPr>
                <a:t>15°C</a:t>
              </a:r>
              <a:r>
                <a:rPr lang="zh-TW" altLang="en-US" sz="1400" dirty="0">
                  <a:ea typeface="微軟正黑體" panose="020B0604030504040204" pitchFamily="34" charset="-120"/>
                </a:rPr>
                <a:t>）暖和。</a:t>
              </a:r>
            </a:p>
          </p:txBody>
        </p:sp>
      </p:grp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E622F7E-9C90-49BB-8E72-D4934917EFA2}"/>
              </a:ext>
            </a:extLst>
          </p:cNvPr>
          <p:cNvSpPr txBox="1"/>
          <p:nvPr/>
        </p:nvSpPr>
        <p:spPr>
          <a:xfrm>
            <a:off x="3151119" y="120711"/>
            <a:ext cx="1489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/>
              <a:t>messages</a:t>
            </a:r>
            <a:endParaRPr lang="zh-TW" altLang="en-US" b="1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A7F15B3-0A8A-45D8-9EC0-FA873F60315F}"/>
              </a:ext>
            </a:extLst>
          </p:cNvPr>
          <p:cNvSpPr txBox="1"/>
          <p:nvPr/>
        </p:nvSpPr>
        <p:spPr>
          <a:xfrm>
            <a:off x="7510390" y="999382"/>
            <a:ext cx="4537066" cy="4484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Function Calling </a:t>
            </a: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的優點</a:t>
            </a:r>
            <a:endParaRPr lang="en-US" altLang="zh-TW" sz="1600" b="1" dirty="0">
              <a:solidFill>
                <a:srgbClr val="002060"/>
              </a:solidFill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1600" b="1" dirty="0">
                <a:ea typeface="微軟正黑體" panose="020B0604030504040204" pitchFamily="34" charset="-120"/>
              </a:rPr>
              <a:t>穩定性：</a:t>
            </a:r>
            <a:r>
              <a:rPr lang="zh-TW" altLang="en-US" sz="1600" dirty="0">
                <a:ea typeface="微軟正黑體" panose="020B0604030504040204" pitchFamily="34" charset="-120"/>
              </a:rPr>
              <a:t>因模型有特別訓練過輸出特定格式，因此輸出正確格式的機率非常高，若模型有其他想講的話也會出現在 </a:t>
            </a:r>
            <a:r>
              <a:rPr lang="en-US" altLang="zh-TW" sz="1600" dirty="0">
                <a:ea typeface="微軟正黑體" panose="020B0604030504040204" pitchFamily="34" charset="-120"/>
              </a:rPr>
              <a:t>content </a:t>
            </a:r>
            <a:r>
              <a:rPr lang="zh-TW" altLang="en-US" sz="1600" dirty="0">
                <a:ea typeface="微軟正黑體" panose="020B0604030504040204" pitchFamily="34" charset="-120"/>
              </a:rPr>
              <a:t>，不會影響到 </a:t>
            </a:r>
            <a:r>
              <a:rPr lang="en-US" altLang="zh-TW" sz="1600" dirty="0" err="1">
                <a:ea typeface="微軟正黑體" panose="020B0604030504040204" pitchFamily="34" charset="-120"/>
              </a:rPr>
              <a:t>tool_calls</a:t>
            </a:r>
            <a:r>
              <a:rPr lang="zh-TW" altLang="en-US" sz="1600" dirty="0">
                <a:ea typeface="微軟正黑體" panose="020B0604030504040204" pitchFamily="34" charset="-120"/>
              </a:rPr>
              <a:t> 。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1600" b="1" dirty="0">
                <a:ea typeface="微軟正黑體" panose="020B0604030504040204" pitchFamily="34" charset="-120"/>
              </a:rPr>
              <a:t>標準化：</a:t>
            </a:r>
            <a:r>
              <a:rPr lang="zh-TW" altLang="en-US" sz="1600" dirty="0">
                <a:ea typeface="微軟正黑體" panose="020B0604030504040204" pitchFamily="34" charset="-120"/>
              </a:rPr>
              <a:t>工具資訊、工具調用、工具回傳訊息皆遵循統一標準，後端程式只要照著標準設計即可。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1600" b="1" dirty="0">
                <a:ea typeface="微軟正黑體" panose="020B0604030504040204" pitchFamily="34" charset="-120"/>
              </a:rPr>
              <a:t>多重調用： </a:t>
            </a:r>
            <a:r>
              <a:rPr lang="zh-TW" altLang="en-US" sz="1600" dirty="0">
                <a:ea typeface="微軟正黑體" panose="020B0604030504040204" pitchFamily="34" charset="-120"/>
              </a:rPr>
              <a:t>先進的模型（如 </a:t>
            </a:r>
            <a:r>
              <a:rPr lang="en-US" altLang="zh-TW" sz="1600" dirty="0">
                <a:ea typeface="微軟正黑體" panose="020B0604030504040204" pitchFamily="34" charset="-120"/>
              </a:rPr>
              <a:t>Gemini </a:t>
            </a:r>
            <a:r>
              <a:rPr lang="zh-TW" altLang="en-US" sz="1600" dirty="0">
                <a:ea typeface="微軟正黑體" panose="020B0604030504040204" pitchFamily="34" charset="-120"/>
              </a:rPr>
              <a:t>或 </a:t>
            </a:r>
            <a:r>
              <a:rPr lang="en-US" altLang="zh-TW" sz="1600" dirty="0">
                <a:ea typeface="微軟正黑體" panose="020B0604030504040204" pitchFamily="34" charset="-120"/>
              </a:rPr>
              <a:t>GPT-4</a:t>
            </a:r>
            <a:r>
              <a:rPr lang="zh-TW" altLang="en-US" sz="1600" dirty="0">
                <a:ea typeface="微軟正黑體" panose="020B0604030504040204" pitchFamily="34" charset="-120"/>
              </a:rPr>
              <a:t>）可以一次發出多個 </a:t>
            </a:r>
            <a:r>
              <a:rPr lang="en-US" altLang="zh-TW" sz="1600" dirty="0" err="1">
                <a:ea typeface="微軟正黑體" panose="020B0604030504040204" pitchFamily="34" charset="-120"/>
              </a:rPr>
              <a:t>tool_calls</a:t>
            </a:r>
            <a:r>
              <a:rPr lang="zh-TW" altLang="en-US" sz="1600" dirty="0">
                <a:ea typeface="微軟正黑體" panose="020B0604030504040204" pitchFamily="34" charset="-120"/>
              </a:rPr>
              <a:t>。例如問「東京跟台北的溫差」，可以一次叫兩次 </a:t>
            </a:r>
            <a:r>
              <a:rPr lang="en-US" altLang="zh-TW" sz="1600" dirty="0">
                <a:ea typeface="微軟正黑體" panose="020B0604030504040204" pitchFamily="34" charset="-120"/>
              </a:rPr>
              <a:t>Search function</a:t>
            </a:r>
            <a:r>
              <a:rPr lang="zh-TW" altLang="en-US" sz="1600" dirty="0">
                <a:ea typeface="微軟正黑體" panose="020B0604030504040204" pitchFamily="34" charset="-120"/>
              </a:rPr>
              <a:t>，效率更高。</a:t>
            </a:r>
            <a:endParaRPr lang="en-US" altLang="zh-TW" sz="1600" dirty="0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90450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98C794-871F-4751-9E2F-F609837DB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Tool Information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5888011-4840-40F7-8BB5-AA584AE171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62651247-C61E-4DC9-B09F-A7C17376D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001" y="1085125"/>
            <a:ext cx="6039068" cy="5226825"/>
          </a:xfrm>
          <a:prstGeom prst="rect">
            <a:avLst/>
          </a:prstGeom>
        </p:spPr>
      </p:pic>
      <p:sp>
        <p:nvSpPr>
          <p:cNvPr id="25" name="文字方塊 24">
            <a:extLst>
              <a:ext uri="{FF2B5EF4-FFF2-40B4-BE49-F238E27FC236}">
                <a16:creationId xmlns:a16="http://schemas.microsoft.com/office/drawing/2014/main" id="{56F0B7DF-3C51-4CF5-88CF-03578BD52C23}"/>
              </a:ext>
            </a:extLst>
          </p:cNvPr>
          <p:cNvSpPr txBox="1"/>
          <p:nvPr/>
        </p:nvSpPr>
        <p:spPr>
          <a:xfrm>
            <a:off x="6649039" y="1646415"/>
            <a:ext cx="5542961" cy="3376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工具資訊欄位介紹</a:t>
            </a:r>
            <a:endParaRPr lang="en-US" altLang="zh-TW" sz="1600" b="1" dirty="0">
              <a:solidFill>
                <a:srgbClr val="002060"/>
              </a:solidFill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name: </a:t>
            </a:r>
            <a:r>
              <a:rPr lang="zh-TW" altLang="en-US" sz="1600" dirty="0">
                <a:solidFill>
                  <a:schemeClr val="accent2"/>
                </a:solidFill>
                <a:ea typeface="微軟正黑體" panose="020B0604030504040204" pitchFamily="34" charset="-120"/>
              </a:rPr>
              <a:t>工具名稱</a:t>
            </a:r>
            <a:endParaRPr lang="en-US" altLang="zh-TW" sz="1600" dirty="0">
              <a:solidFill>
                <a:schemeClr val="accent2"/>
              </a:solidFill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1600" b="1" dirty="0">
                <a:ea typeface="微軟正黑體" panose="020B0604030504040204" pitchFamily="34" charset="-120"/>
              </a:rPr>
              <a:t>description:</a:t>
            </a:r>
            <a:r>
              <a:rPr lang="zh-TW" altLang="en-US" sz="1600" b="1" dirty="0">
                <a:ea typeface="微軟正黑體" panose="020B0604030504040204" pitchFamily="34" charset="-120"/>
              </a:rPr>
              <a:t> </a:t>
            </a:r>
            <a:r>
              <a:rPr lang="zh-TW" altLang="en-US" sz="1600" dirty="0">
                <a:ea typeface="微軟正黑體" panose="020B0604030504040204" pitchFamily="34" charset="-120"/>
              </a:rPr>
              <a:t>工具描述，可描述工具的功能、使用情境等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1600" b="1" dirty="0">
                <a:ea typeface="微軟正黑體" panose="020B0604030504040204" pitchFamily="34" charset="-120"/>
              </a:rPr>
              <a:t>parameters:</a:t>
            </a:r>
            <a:r>
              <a:rPr lang="zh-TW" altLang="en-US" sz="1600" dirty="0">
                <a:ea typeface="微軟正黑體" panose="020B0604030504040204" pitchFamily="34" charset="-120"/>
              </a:rPr>
              <a:t> 工具所需的參數，格式：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zh-TW" altLang="en-US" sz="1600" dirty="0">
                <a:ea typeface="微軟正黑體" panose="020B0604030504040204" pitchFamily="34" charset="-120"/>
              </a:rPr>
              <a:t>參數名稱：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lvl="2">
              <a:lnSpc>
                <a:spcPct val="150000"/>
              </a:lnSpc>
            </a:pPr>
            <a:r>
              <a:rPr lang="en-US" altLang="zh-TW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type: </a:t>
            </a:r>
            <a:r>
              <a:rPr lang="zh-TW" altLang="en-US" sz="1600" dirty="0">
                <a:solidFill>
                  <a:schemeClr val="accent2"/>
                </a:solidFill>
                <a:ea typeface="微軟正黑體" panose="020B0604030504040204" pitchFamily="34" charset="-120"/>
              </a:rPr>
              <a:t>參數型別 。</a:t>
            </a:r>
            <a:r>
              <a:rPr lang="en-US" altLang="zh-TW" sz="1600" dirty="0">
                <a:ea typeface="微軟正黑體" panose="020B0604030504040204" pitchFamily="34" charset="-120"/>
              </a:rPr>
              <a:t>e.g. string (</a:t>
            </a:r>
            <a:r>
              <a:rPr lang="zh-TW" altLang="en-US" sz="1600" dirty="0">
                <a:ea typeface="微軟正黑體" panose="020B0604030504040204" pitchFamily="34" charset="-120"/>
              </a:rPr>
              <a:t>字串</a:t>
            </a:r>
            <a:r>
              <a:rPr lang="en-US" altLang="zh-TW" sz="1600" dirty="0">
                <a:ea typeface="微軟正黑體" panose="020B0604030504040204" pitchFamily="34" charset="-120"/>
              </a:rPr>
              <a:t>), integer (</a:t>
            </a:r>
            <a:r>
              <a:rPr lang="zh-TW" altLang="en-US" sz="1600" dirty="0">
                <a:ea typeface="微軟正黑體" panose="020B0604030504040204" pitchFamily="34" charset="-120"/>
              </a:rPr>
              <a:t>數字</a:t>
            </a:r>
            <a:r>
              <a:rPr lang="en-US" altLang="zh-TW" sz="1600" dirty="0">
                <a:ea typeface="微軟正黑體" panose="020B0604030504040204" pitchFamily="34" charset="-120"/>
              </a:rPr>
              <a:t>), …</a:t>
            </a:r>
          </a:p>
          <a:p>
            <a:pPr lvl="2">
              <a:lnSpc>
                <a:spcPct val="150000"/>
              </a:lnSpc>
            </a:pPr>
            <a:r>
              <a:rPr lang="en-US" altLang="zh-TW" sz="1600" b="1" dirty="0">
                <a:ea typeface="微軟正黑體" panose="020B0604030504040204" pitchFamily="34" charset="-120"/>
              </a:rPr>
              <a:t>description: </a:t>
            </a:r>
            <a:r>
              <a:rPr lang="zh-TW" altLang="en-US" sz="1600" dirty="0">
                <a:ea typeface="微軟正黑體" panose="020B0604030504040204" pitchFamily="34" charset="-120"/>
              </a:rPr>
              <a:t>參數描述，可描述參數的作用等等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lvl="2">
              <a:lnSpc>
                <a:spcPct val="150000"/>
              </a:lnSpc>
            </a:pPr>
            <a:r>
              <a:rPr lang="en-US" altLang="zh-TW" sz="1600" b="1" dirty="0" err="1">
                <a:ea typeface="微軟正黑體" panose="020B0604030504040204" pitchFamily="34" charset="-120"/>
              </a:rPr>
              <a:t>enum</a:t>
            </a:r>
            <a:r>
              <a:rPr lang="en-US" altLang="zh-TW" sz="1600" b="1" dirty="0">
                <a:ea typeface="微軟正黑體" panose="020B0604030504040204" pitchFamily="34" charset="-120"/>
              </a:rPr>
              <a:t>: </a:t>
            </a:r>
            <a:r>
              <a:rPr lang="zh-TW" altLang="en-US" sz="1600" dirty="0">
                <a:ea typeface="微軟正黑體" panose="020B0604030504040204" pitchFamily="34" charset="-120"/>
              </a:rPr>
              <a:t>若參數有限制內容，要在這裡設定選項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zh-TW" sz="1600" b="1" dirty="0">
                <a:ea typeface="微軟正黑體" panose="020B0604030504040204" pitchFamily="34" charset="-120"/>
              </a:rPr>
              <a:t>required:</a:t>
            </a:r>
            <a:r>
              <a:rPr lang="en-US" altLang="zh-TW" sz="1600" dirty="0">
                <a:ea typeface="微軟正黑體" panose="020B0604030504040204" pitchFamily="34" charset="-120"/>
              </a:rPr>
              <a:t> </a:t>
            </a:r>
            <a:r>
              <a:rPr lang="zh-TW" altLang="en-US" sz="1600" dirty="0">
                <a:ea typeface="微軟正黑體" panose="020B0604030504040204" pitchFamily="34" charset="-120"/>
              </a:rPr>
              <a:t>設定必填參數</a:t>
            </a:r>
            <a:endParaRPr lang="en-US" altLang="zh-TW" sz="1600" dirty="0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406357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A77ED3-3A10-4C24-B7C1-BB49CF056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Chat Template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9DA4088-1840-4A3A-BD72-E414E97C835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95" name="群組 94">
            <a:extLst>
              <a:ext uri="{FF2B5EF4-FFF2-40B4-BE49-F238E27FC236}">
                <a16:creationId xmlns:a16="http://schemas.microsoft.com/office/drawing/2014/main" id="{F7808E48-538B-4E57-A07D-E00EE8CDB4B3}"/>
              </a:ext>
            </a:extLst>
          </p:cNvPr>
          <p:cNvGrpSpPr/>
          <p:nvPr/>
        </p:nvGrpSpPr>
        <p:grpSpPr>
          <a:xfrm>
            <a:off x="3853785" y="945616"/>
            <a:ext cx="8246541" cy="5319832"/>
            <a:chOff x="4014041" y="870202"/>
            <a:chExt cx="8246541" cy="5319832"/>
          </a:xfrm>
        </p:grpSpPr>
        <p:grpSp>
          <p:nvGrpSpPr>
            <p:cNvPr id="44" name="群組 43">
              <a:extLst>
                <a:ext uri="{FF2B5EF4-FFF2-40B4-BE49-F238E27FC236}">
                  <a16:creationId xmlns:a16="http://schemas.microsoft.com/office/drawing/2014/main" id="{EC79781A-6C50-4F6B-A881-ABAC28717BF6}"/>
                </a:ext>
              </a:extLst>
            </p:cNvPr>
            <p:cNvGrpSpPr/>
            <p:nvPr/>
          </p:nvGrpSpPr>
          <p:grpSpPr>
            <a:xfrm>
              <a:off x="4014041" y="872591"/>
              <a:ext cx="8246541" cy="5317443"/>
              <a:chOff x="4014041" y="872591"/>
              <a:chExt cx="8246541" cy="5317443"/>
            </a:xfrm>
          </p:grpSpPr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DEDA6B12-409C-446B-BC97-53E72CF9FAEE}"/>
                  </a:ext>
                </a:extLst>
              </p:cNvPr>
              <p:cNvSpPr txBox="1"/>
              <p:nvPr/>
            </p:nvSpPr>
            <p:spPr>
              <a:xfrm>
                <a:off x="4099487" y="1491543"/>
                <a:ext cx="1911074" cy="1155060"/>
              </a:xfrm>
              <a:prstGeom prst="rect">
                <a:avLst/>
              </a:prstGeom>
              <a:solidFill>
                <a:srgbClr val="FFE7FF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sz="1600" b="1" dirty="0"/>
                  <a:t>role: </a:t>
                </a:r>
                <a:r>
                  <a:rPr lang="en-US" altLang="zh-TW" sz="1600" b="1" dirty="0">
                    <a:solidFill>
                      <a:srgbClr val="7030A0"/>
                    </a:solidFill>
                  </a:rPr>
                  <a:t>system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TW" sz="1600" dirty="0">
                    <a:ea typeface="微軟正黑體" panose="020B0604030504040204" pitchFamily="34" charset="-120"/>
                  </a:rPr>
                  <a:t>content: </a:t>
                </a:r>
                <a:r>
                  <a:rPr lang="zh-TW" altLang="en-US" sz="16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你是群聯的模</a:t>
                </a:r>
                <a:r>
                  <a:rPr lang="zh-TW" altLang="en-US" sz="16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型</a:t>
                </a:r>
                <a:endParaRPr lang="en-US" altLang="zh-TW" sz="16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4A078C7-7227-4FF3-8BD1-C5702882FEC6}"/>
                  </a:ext>
                </a:extLst>
              </p:cNvPr>
              <p:cNvSpPr txBox="1"/>
              <p:nvPr/>
            </p:nvSpPr>
            <p:spPr>
              <a:xfrm>
                <a:off x="4099485" y="2646603"/>
                <a:ext cx="1911075" cy="79278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sz="1600" b="1" dirty="0"/>
                  <a:t>role: </a:t>
                </a:r>
                <a:r>
                  <a:rPr lang="en-US" altLang="zh-TW" sz="1600" b="1" dirty="0">
                    <a:solidFill>
                      <a:srgbClr val="0070C0"/>
                    </a:solidFill>
                  </a:rPr>
                  <a:t>user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TW" sz="1600" dirty="0">
                    <a:ea typeface="微軟正黑體" panose="020B0604030504040204" pitchFamily="34" charset="-120"/>
                  </a:rPr>
                  <a:t>content: 23+32=?</a:t>
                </a:r>
                <a:endParaRPr lang="zh-TW" altLang="en-US" sz="1600" dirty="0">
                  <a:ea typeface="微軟正黑體" panose="020B0604030504040204" pitchFamily="34" charset="-120"/>
                </a:endParaRPr>
              </a:p>
            </p:txBody>
          </p:sp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C52EEDB-6AFA-4535-95C4-F8BB380F8753}"/>
                  </a:ext>
                </a:extLst>
              </p:cNvPr>
              <p:cNvSpPr txBox="1"/>
              <p:nvPr/>
            </p:nvSpPr>
            <p:spPr>
              <a:xfrm>
                <a:off x="4099484" y="3439384"/>
                <a:ext cx="1911075" cy="79278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sz="1600" b="1" dirty="0"/>
                  <a:t>role: </a:t>
                </a:r>
                <a:r>
                  <a:rPr lang="en-US" altLang="zh-TW" sz="1600" b="1" dirty="0">
                    <a:solidFill>
                      <a:srgbClr val="00B050"/>
                    </a:solidFill>
                  </a:rPr>
                  <a:t>assistant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TW" sz="1600" dirty="0">
                    <a:ea typeface="微軟正黑體" panose="020B0604030504040204" pitchFamily="34" charset="-120"/>
                  </a:rPr>
                  <a:t>content: 55</a:t>
                </a:r>
                <a:endParaRPr lang="zh-TW" altLang="en-US" sz="1600" dirty="0">
                  <a:ea typeface="微軟正黑體" panose="020B0604030504040204" pitchFamily="34" charset="-120"/>
                </a:endParaRPr>
              </a:p>
            </p:txBody>
          </p:sp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DF3EB68-7801-485A-9E12-2227E2960675}"/>
                  </a:ext>
                </a:extLst>
              </p:cNvPr>
              <p:cNvSpPr txBox="1"/>
              <p:nvPr/>
            </p:nvSpPr>
            <p:spPr>
              <a:xfrm>
                <a:off x="4099484" y="4233704"/>
                <a:ext cx="1911075" cy="79124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sz="1600" b="1" dirty="0"/>
                  <a:t>role: </a:t>
                </a:r>
                <a:r>
                  <a:rPr lang="en-US" altLang="zh-TW" sz="1600" b="1" dirty="0">
                    <a:solidFill>
                      <a:srgbClr val="0070C0"/>
                    </a:solidFill>
                  </a:rPr>
                  <a:t>user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TW" sz="1600" dirty="0">
                    <a:ea typeface="微軟正黑體" panose="020B0604030504040204" pitchFamily="34" charset="-120"/>
                  </a:rPr>
                  <a:t>content: </a:t>
                </a:r>
                <a:r>
                  <a:rPr lang="zh-TW" altLang="en-US" sz="1600" dirty="0">
                    <a:ea typeface="微軟正黑體" panose="020B0604030504040204" pitchFamily="34" charset="-120"/>
                  </a:rPr>
                  <a:t>再加 </a:t>
                </a:r>
                <a:r>
                  <a:rPr lang="en-US" altLang="zh-TW" sz="1600" dirty="0">
                    <a:ea typeface="微軟正黑體" panose="020B0604030504040204" pitchFamily="34" charset="-120"/>
                  </a:rPr>
                  <a:t>11</a:t>
                </a:r>
                <a:r>
                  <a:rPr lang="zh-TW" altLang="en-US" sz="1600" dirty="0">
                    <a:ea typeface="微軟正黑體" panose="020B0604030504040204" pitchFamily="34" charset="-120"/>
                  </a:rPr>
                  <a:t> 呢</a:t>
                </a:r>
              </a:p>
            </p:txBody>
          </p:sp>
          <p:grpSp>
            <p:nvGrpSpPr>
              <p:cNvPr id="8" name="群組 7">
                <a:extLst>
                  <a:ext uri="{FF2B5EF4-FFF2-40B4-BE49-F238E27FC236}">
                    <a16:creationId xmlns:a16="http://schemas.microsoft.com/office/drawing/2014/main" id="{0D9B4673-E26E-403A-AAD6-EAF8F8FE8409}"/>
                  </a:ext>
                </a:extLst>
              </p:cNvPr>
              <p:cNvGrpSpPr/>
              <p:nvPr/>
            </p:nvGrpSpPr>
            <p:grpSpPr>
              <a:xfrm>
                <a:off x="10724073" y="3594433"/>
                <a:ext cx="1252524" cy="1633681"/>
                <a:chOff x="3230710" y="4554250"/>
                <a:chExt cx="1252524" cy="1633681"/>
              </a:xfrm>
            </p:grpSpPr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1CD9931A-45F2-49D6-88A3-CC311A63A1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duotone>
                    <a:srgbClr val="5B9BD5">
                      <a:shade val="45000"/>
                      <a:satMod val="135000"/>
                    </a:srgb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9211" b="93421" l="7483" r="89796">
                              <a14:foregroundMark x1="7483" y1="47368" x2="7483" y2="47368"/>
                              <a14:foregroundMark x1="31973" y1="44079" x2="31973" y2="44079"/>
                              <a14:foregroundMark x1="62585" y1="51974" x2="62585" y2="51974"/>
                              <a14:foregroundMark x1="63265" y1="12500" x2="63265" y2="12500"/>
                              <a14:foregroundMark x1="42177" y1="90789" x2="42177" y2="90789"/>
                              <a14:foregroundMark x1="62585" y1="93421" x2="62585" y2="93421"/>
                              <a14:foregroundMark x1="42857" y1="89474" x2="42857" y2="89474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230710" y="4892804"/>
                  <a:ext cx="1252524" cy="1295127"/>
                </a:xfrm>
                <a:prstGeom prst="rect">
                  <a:avLst/>
                </a:prstGeom>
              </p:spPr>
            </p:pic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722269ED-E421-42DD-9F17-CD4A5E2C9A41}"/>
                    </a:ext>
                  </a:extLst>
                </p:cNvPr>
                <p:cNvSpPr txBox="1"/>
                <p:nvPr/>
              </p:nvSpPr>
              <p:spPr>
                <a:xfrm>
                  <a:off x="3399806" y="4554250"/>
                  <a:ext cx="92126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000" b="1" dirty="0">
                      <a:solidFill>
                        <a:srgbClr val="3471A7"/>
                      </a:solidFill>
                    </a:rPr>
                    <a:t>LLM</a:t>
                  </a:r>
                  <a:endParaRPr lang="zh-TW" altLang="en-US" sz="2000" b="1" dirty="0">
                    <a:solidFill>
                      <a:srgbClr val="3471A7"/>
                    </a:solidFill>
                  </a:endParaRPr>
                </a:p>
              </p:txBody>
            </p:sp>
          </p:grpSp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E360B0D2-5665-45D3-AF1C-9F56619926F6}"/>
                  </a:ext>
                </a:extLst>
              </p:cNvPr>
              <p:cNvSpPr txBox="1"/>
              <p:nvPr/>
            </p:nvSpPr>
            <p:spPr>
              <a:xfrm>
                <a:off x="6887116" y="1638033"/>
                <a:ext cx="2920515" cy="280076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600" dirty="0">
                    <a:ea typeface="微軟正黑體" panose="020B0604030504040204" pitchFamily="34" charset="-120"/>
                  </a:rPr>
                  <a:t>&lt;|</a:t>
                </a:r>
                <a:r>
                  <a:rPr lang="en-US" altLang="zh-TW" sz="1600" dirty="0" err="1">
                    <a:ea typeface="微軟正黑體" panose="020B0604030504040204" pitchFamily="34" charset="-120"/>
                  </a:rPr>
                  <a:t>im_start</a:t>
                </a:r>
                <a:r>
                  <a:rPr lang="en-US" altLang="zh-TW" sz="1600" dirty="0">
                    <a:ea typeface="微軟正黑體" panose="020B0604030504040204" pitchFamily="34" charset="-120"/>
                  </a:rPr>
                  <a:t>|&gt;</a:t>
                </a:r>
                <a:r>
                  <a:rPr lang="en-US" altLang="zh-TW" sz="1600" dirty="0">
                    <a:solidFill>
                      <a:srgbClr val="7030A0"/>
                    </a:solidFill>
                    <a:ea typeface="微軟正黑體" panose="020B0604030504040204" pitchFamily="34" charset="-120"/>
                  </a:rPr>
                  <a:t>system</a:t>
                </a:r>
              </a:p>
              <a:p>
                <a:r>
                  <a:rPr lang="zh-TW" altLang="en-US" sz="1600" dirty="0">
                    <a:solidFill>
                      <a:schemeClr val="tx1"/>
                    </a:solidFill>
                    <a:ea typeface="微軟正黑體" panose="020B0604030504040204" pitchFamily="34" charset="-120"/>
                  </a:rPr>
                  <a:t>你是群聯的模</a:t>
                </a:r>
                <a:r>
                  <a:rPr lang="zh-TW" altLang="en-US" sz="1600" dirty="0">
                    <a:ea typeface="微軟正黑體" panose="020B0604030504040204" pitchFamily="34" charset="-120"/>
                  </a:rPr>
                  <a:t>型</a:t>
                </a:r>
                <a:r>
                  <a:rPr lang="en-US" altLang="zh-TW" sz="1600" dirty="0">
                    <a:ea typeface="微軟正黑體" panose="020B0604030504040204" pitchFamily="34" charset="-120"/>
                  </a:rPr>
                  <a:t>&lt;|</a:t>
                </a:r>
                <a:r>
                  <a:rPr lang="en-US" altLang="zh-TW" sz="1600" dirty="0" err="1">
                    <a:ea typeface="微軟正黑體" panose="020B0604030504040204" pitchFamily="34" charset="-120"/>
                  </a:rPr>
                  <a:t>im_end</a:t>
                </a:r>
                <a:r>
                  <a:rPr lang="en-US" altLang="zh-TW" sz="1600" dirty="0">
                    <a:ea typeface="微軟正黑體" panose="020B0604030504040204" pitchFamily="34" charset="-120"/>
                  </a:rPr>
                  <a:t>|&gt;</a:t>
                </a:r>
              </a:p>
              <a:p>
                <a:endParaRPr lang="en-US" altLang="zh-TW" sz="1600" dirty="0">
                  <a:ea typeface="微軟正黑體" panose="020B0604030504040204" pitchFamily="34" charset="-120"/>
                </a:endParaRPr>
              </a:p>
              <a:p>
                <a:r>
                  <a:rPr lang="en-US" altLang="zh-TW" sz="1600" dirty="0">
                    <a:ea typeface="微軟正黑體" panose="020B0604030504040204" pitchFamily="34" charset="-120"/>
                  </a:rPr>
                  <a:t>&lt;| </a:t>
                </a:r>
                <a:r>
                  <a:rPr lang="en-US" altLang="zh-TW" sz="1600" dirty="0" err="1">
                    <a:ea typeface="微軟正黑體" panose="020B0604030504040204" pitchFamily="34" charset="-120"/>
                  </a:rPr>
                  <a:t>im_start</a:t>
                </a:r>
                <a:r>
                  <a:rPr lang="en-US" altLang="zh-TW" sz="1600" dirty="0">
                    <a:ea typeface="微軟正黑體" panose="020B0604030504040204" pitchFamily="34" charset="-120"/>
                  </a:rPr>
                  <a:t> |&gt;</a:t>
                </a:r>
                <a:r>
                  <a:rPr lang="en-US" altLang="zh-TW" sz="1600" dirty="0">
                    <a:solidFill>
                      <a:schemeClr val="accent1"/>
                    </a:solidFill>
                    <a:ea typeface="微軟正黑體" panose="020B0604030504040204" pitchFamily="34" charset="-120"/>
                  </a:rPr>
                  <a:t>user</a:t>
                </a:r>
                <a:endParaRPr lang="en-US" altLang="zh-TW" sz="1600" dirty="0">
                  <a:ea typeface="微軟正黑體" panose="020B0604030504040204" pitchFamily="34" charset="-120"/>
                </a:endParaRPr>
              </a:p>
              <a:p>
                <a:r>
                  <a:rPr lang="en-US" altLang="zh-TW" sz="1600" dirty="0">
                    <a:ea typeface="微軟正黑體" panose="020B0604030504040204" pitchFamily="34" charset="-120"/>
                  </a:rPr>
                  <a:t>23+32=? &lt;|</a:t>
                </a:r>
                <a:r>
                  <a:rPr lang="en-US" altLang="zh-TW" sz="1600" dirty="0" err="1">
                    <a:ea typeface="微軟正黑體" panose="020B0604030504040204" pitchFamily="34" charset="-120"/>
                  </a:rPr>
                  <a:t>im_end</a:t>
                </a:r>
                <a:r>
                  <a:rPr lang="en-US" altLang="zh-TW" sz="1600" dirty="0">
                    <a:ea typeface="微軟正黑體" panose="020B0604030504040204" pitchFamily="34" charset="-120"/>
                  </a:rPr>
                  <a:t>|&gt;</a:t>
                </a:r>
              </a:p>
              <a:p>
                <a:endParaRPr lang="en-US" altLang="zh-TW" sz="1600" dirty="0">
                  <a:ea typeface="微軟正黑體" panose="020B0604030504040204" pitchFamily="34" charset="-120"/>
                </a:endParaRPr>
              </a:p>
              <a:p>
                <a:r>
                  <a:rPr lang="en-US" altLang="zh-TW" sz="1600" dirty="0">
                    <a:ea typeface="微軟正黑體" panose="020B0604030504040204" pitchFamily="34" charset="-120"/>
                  </a:rPr>
                  <a:t>&lt;|</a:t>
                </a:r>
                <a:r>
                  <a:rPr lang="en-US" altLang="zh-TW" sz="1600" dirty="0" err="1">
                    <a:ea typeface="微軟正黑體" panose="020B0604030504040204" pitchFamily="34" charset="-120"/>
                  </a:rPr>
                  <a:t>im_start</a:t>
                </a:r>
                <a:r>
                  <a:rPr lang="en-US" altLang="zh-TW" sz="1600" dirty="0">
                    <a:ea typeface="微軟正黑體" panose="020B0604030504040204" pitchFamily="34" charset="-120"/>
                  </a:rPr>
                  <a:t>|&gt;</a:t>
                </a:r>
                <a:r>
                  <a:rPr lang="en-US" altLang="zh-TW" sz="1600" dirty="0">
                    <a:solidFill>
                      <a:srgbClr val="00B050"/>
                    </a:solidFill>
                    <a:ea typeface="微軟正黑體" panose="020B0604030504040204" pitchFamily="34" charset="-120"/>
                  </a:rPr>
                  <a:t>assistant</a:t>
                </a:r>
              </a:p>
              <a:p>
                <a:r>
                  <a:rPr lang="en-US" altLang="zh-TW" sz="1600" dirty="0">
                    <a:ea typeface="微軟正黑體" panose="020B0604030504040204" pitchFamily="34" charset="-120"/>
                  </a:rPr>
                  <a:t>55 &lt;|</a:t>
                </a:r>
                <a:r>
                  <a:rPr lang="en-US" altLang="zh-TW" sz="1600" dirty="0" err="1">
                    <a:ea typeface="微軟正黑體" panose="020B0604030504040204" pitchFamily="34" charset="-120"/>
                  </a:rPr>
                  <a:t>im_end</a:t>
                </a:r>
                <a:r>
                  <a:rPr lang="en-US" altLang="zh-TW" sz="1600" dirty="0">
                    <a:ea typeface="微軟正黑體" panose="020B0604030504040204" pitchFamily="34" charset="-120"/>
                  </a:rPr>
                  <a:t>|&gt;</a:t>
                </a:r>
              </a:p>
              <a:p>
                <a:endParaRPr lang="en-US" altLang="zh-TW" sz="1600" dirty="0">
                  <a:ea typeface="微軟正黑體" panose="020B0604030504040204" pitchFamily="34" charset="-120"/>
                </a:endParaRPr>
              </a:p>
              <a:p>
                <a:r>
                  <a:rPr lang="en-US" altLang="zh-TW" sz="1600" dirty="0">
                    <a:ea typeface="微軟正黑體" panose="020B0604030504040204" pitchFamily="34" charset="-120"/>
                  </a:rPr>
                  <a:t>&lt;| </a:t>
                </a:r>
                <a:r>
                  <a:rPr lang="en-US" altLang="zh-TW" sz="1600" dirty="0" err="1">
                    <a:ea typeface="微軟正黑體" panose="020B0604030504040204" pitchFamily="34" charset="-120"/>
                  </a:rPr>
                  <a:t>im_start</a:t>
                </a:r>
                <a:r>
                  <a:rPr lang="en-US" altLang="zh-TW" sz="1600" dirty="0">
                    <a:ea typeface="微軟正黑體" panose="020B0604030504040204" pitchFamily="34" charset="-120"/>
                  </a:rPr>
                  <a:t> |&gt; </a:t>
                </a:r>
                <a:r>
                  <a:rPr lang="en-US" altLang="zh-TW" sz="1600" dirty="0">
                    <a:solidFill>
                      <a:srgbClr val="0070C0"/>
                    </a:solidFill>
                    <a:ea typeface="微軟正黑體" panose="020B0604030504040204" pitchFamily="34" charset="-120"/>
                  </a:rPr>
                  <a:t>user</a:t>
                </a:r>
                <a:endParaRPr lang="en-US" altLang="zh-TW" sz="1600" dirty="0">
                  <a:ea typeface="微軟正黑體" panose="020B0604030504040204" pitchFamily="34" charset="-120"/>
                </a:endParaRPr>
              </a:p>
              <a:p>
                <a:r>
                  <a:rPr lang="zh-TW" altLang="en-US" sz="1600" dirty="0">
                    <a:ea typeface="微軟正黑體" panose="020B0604030504040204" pitchFamily="34" charset="-120"/>
                  </a:rPr>
                  <a:t>再加 </a:t>
                </a:r>
                <a:r>
                  <a:rPr lang="en-US" altLang="zh-TW" sz="1600" dirty="0">
                    <a:ea typeface="微軟正黑體" panose="020B0604030504040204" pitchFamily="34" charset="-120"/>
                  </a:rPr>
                  <a:t>11</a:t>
                </a:r>
                <a:r>
                  <a:rPr lang="zh-TW" altLang="en-US" sz="1600" dirty="0">
                    <a:ea typeface="微軟正黑體" panose="020B0604030504040204" pitchFamily="34" charset="-120"/>
                  </a:rPr>
                  <a:t> 呢</a:t>
                </a:r>
                <a:r>
                  <a:rPr lang="en-US" altLang="zh-TW" sz="1600" dirty="0">
                    <a:ea typeface="微軟正黑體" panose="020B0604030504040204" pitchFamily="34" charset="-120"/>
                  </a:rPr>
                  <a:t>&lt;|</a:t>
                </a:r>
                <a:r>
                  <a:rPr lang="en-US" altLang="zh-TW" sz="1600" dirty="0" err="1">
                    <a:ea typeface="微軟正黑體" panose="020B0604030504040204" pitchFamily="34" charset="-120"/>
                  </a:rPr>
                  <a:t>im_end</a:t>
                </a:r>
                <a:r>
                  <a:rPr lang="en-US" altLang="zh-TW" sz="1600" dirty="0">
                    <a:ea typeface="微軟正黑體" panose="020B0604030504040204" pitchFamily="34" charset="-120"/>
                  </a:rPr>
                  <a:t>|&gt;</a:t>
                </a:r>
                <a:endParaRPr lang="zh-TW" altLang="en-US" sz="1600" dirty="0"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A7D7F6E5-7044-4795-A1CD-06CD8E63A186}"/>
                  </a:ext>
                </a:extLst>
              </p:cNvPr>
              <p:cNvSpPr txBox="1"/>
              <p:nvPr/>
            </p:nvSpPr>
            <p:spPr>
              <a:xfrm>
                <a:off x="6886175" y="5503163"/>
                <a:ext cx="2946862" cy="58477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600" dirty="0">
                    <a:ea typeface="微軟正黑體" panose="020B0604030504040204" pitchFamily="34" charset="-120"/>
                  </a:rPr>
                  <a:t>&lt;| </a:t>
                </a:r>
                <a:r>
                  <a:rPr lang="en-US" altLang="zh-TW" sz="1600" dirty="0" err="1">
                    <a:ea typeface="微軟正黑體" panose="020B0604030504040204" pitchFamily="34" charset="-120"/>
                  </a:rPr>
                  <a:t>im_start</a:t>
                </a:r>
                <a:r>
                  <a:rPr lang="en-US" altLang="zh-TW" sz="1600" dirty="0">
                    <a:ea typeface="微軟正黑體" panose="020B0604030504040204" pitchFamily="34" charset="-120"/>
                  </a:rPr>
                  <a:t> |&gt; </a:t>
                </a:r>
                <a:r>
                  <a:rPr lang="en-US" altLang="zh-TW" sz="1600" dirty="0">
                    <a:solidFill>
                      <a:srgbClr val="00B050"/>
                    </a:solidFill>
                    <a:ea typeface="微軟正黑體" panose="020B0604030504040204" pitchFamily="34" charset="-120"/>
                  </a:rPr>
                  <a:t>assistant</a:t>
                </a:r>
              </a:p>
              <a:p>
                <a:r>
                  <a:rPr lang="en-US" altLang="zh-TW" sz="1600" dirty="0">
                    <a:ea typeface="微軟正黑體" panose="020B0604030504040204" pitchFamily="34" charset="-120"/>
                  </a:rPr>
                  <a:t>66 &lt;|</a:t>
                </a:r>
                <a:r>
                  <a:rPr lang="en-US" altLang="zh-TW" sz="1600" dirty="0" err="1">
                    <a:ea typeface="微軟正黑體" panose="020B0604030504040204" pitchFamily="34" charset="-120"/>
                  </a:rPr>
                  <a:t>im_end</a:t>
                </a:r>
                <a:r>
                  <a:rPr lang="en-US" altLang="zh-TW" sz="1600" dirty="0">
                    <a:ea typeface="微軟正黑體" panose="020B0604030504040204" pitchFamily="34" charset="-120"/>
                  </a:rPr>
                  <a:t>|&gt;</a:t>
                </a:r>
                <a:endParaRPr lang="zh-TW" altLang="en-US" sz="1600" dirty="0"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5D453BEB-948C-4ED9-878D-F1D198B29956}"/>
                  </a:ext>
                </a:extLst>
              </p:cNvPr>
              <p:cNvSpPr txBox="1"/>
              <p:nvPr/>
            </p:nvSpPr>
            <p:spPr>
              <a:xfrm>
                <a:off x="4099483" y="5397253"/>
                <a:ext cx="1911075" cy="79278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sz="1600" b="1" dirty="0"/>
                  <a:t>role: </a:t>
                </a:r>
                <a:r>
                  <a:rPr lang="en-US" altLang="zh-TW" sz="1600" b="1" dirty="0">
                    <a:solidFill>
                      <a:srgbClr val="00B050"/>
                    </a:solidFill>
                  </a:rPr>
                  <a:t>assistant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TW" sz="1600" dirty="0">
                    <a:ea typeface="微軟正黑體" panose="020B0604030504040204" pitchFamily="34" charset="-120"/>
                  </a:rPr>
                  <a:t>content: 66</a:t>
                </a:r>
                <a:endParaRPr lang="zh-TW" altLang="en-US" sz="1600" dirty="0">
                  <a:ea typeface="微軟正黑體" panose="020B0604030504040204" pitchFamily="34" charset="-120"/>
                </a:endParaRPr>
              </a:p>
            </p:txBody>
          </p:sp>
          <p:cxnSp>
            <p:nvCxnSpPr>
              <p:cNvPr id="15" name="直線單箭頭接點 14">
                <a:extLst>
                  <a:ext uri="{FF2B5EF4-FFF2-40B4-BE49-F238E27FC236}">
                    <a16:creationId xmlns:a16="http://schemas.microsoft.com/office/drawing/2014/main" id="{2901B6D9-201F-4872-883E-003F64A5A4AB}"/>
                  </a:ext>
                </a:extLst>
              </p:cNvPr>
              <p:cNvCxnSpPr>
                <a:cxnSpLocks/>
                <a:stCxn id="5" idx="3"/>
                <a:endCxn id="11" idx="1"/>
              </p:cNvCxnSpPr>
              <p:nvPr/>
            </p:nvCxnSpPr>
            <p:spPr>
              <a:xfrm flipV="1">
                <a:off x="6010560" y="3038417"/>
                <a:ext cx="876556" cy="4577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單箭頭接點 30">
                <a:extLst>
                  <a:ext uri="{FF2B5EF4-FFF2-40B4-BE49-F238E27FC236}">
                    <a16:creationId xmlns:a16="http://schemas.microsoft.com/office/drawing/2014/main" id="{A0737C23-0031-4A11-AB81-EFA56C60B00F}"/>
                  </a:ext>
                </a:extLst>
              </p:cNvPr>
              <p:cNvCxnSpPr>
                <a:stCxn id="12" idx="1"/>
                <a:endCxn id="13" idx="3"/>
              </p:cNvCxnSpPr>
              <p:nvPr/>
            </p:nvCxnSpPr>
            <p:spPr>
              <a:xfrm flipH="1" flipV="1">
                <a:off x="6010558" y="5793644"/>
                <a:ext cx="875617" cy="1907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32DC2D61-1F11-4A4C-8513-2C5F5DCAC97B}"/>
                  </a:ext>
                </a:extLst>
              </p:cNvPr>
              <p:cNvSpPr txBox="1"/>
              <p:nvPr/>
            </p:nvSpPr>
            <p:spPr>
              <a:xfrm>
                <a:off x="4014041" y="872593"/>
                <a:ext cx="208195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600" b="1" dirty="0">
                    <a:ea typeface="微軟正黑體" panose="020B0604030504040204" pitchFamily="34" charset="-120"/>
                  </a:rPr>
                  <a:t>messages </a:t>
                </a:r>
              </a:p>
              <a:p>
                <a:pPr algn="ctr"/>
                <a:r>
                  <a:rPr lang="en-US" altLang="zh-TW" sz="1600" b="1" dirty="0">
                    <a:ea typeface="微軟正黑體" panose="020B0604030504040204" pitchFamily="34" charset="-120"/>
                  </a:rPr>
                  <a:t>(</a:t>
                </a:r>
                <a:r>
                  <a:rPr lang="zh-TW" altLang="en-US" sz="1600" b="1" dirty="0">
                    <a:ea typeface="微軟正黑體" panose="020B0604030504040204" pitchFamily="34" charset="-120"/>
                  </a:rPr>
                  <a:t>人類看得懂的格式</a:t>
                </a:r>
                <a:r>
                  <a:rPr lang="en-US" altLang="zh-TW" sz="1600" b="1" dirty="0">
                    <a:ea typeface="微軟正黑體" panose="020B0604030504040204" pitchFamily="34" charset="-120"/>
                  </a:rPr>
                  <a:t>)</a:t>
                </a:r>
                <a:endParaRPr lang="zh-TW" altLang="en-US" sz="1600" b="1" dirty="0">
                  <a:ea typeface="微軟正黑體" panose="020B0604030504040204" pitchFamily="34" charset="-120"/>
                </a:endParaRPr>
              </a:p>
            </p:txBody>
          </p:sp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8C7DE649-E993-4EA6-B629-EAD98D9616CA}"/>
                  </a:ext>
                </a:extLst>
              </p:cNvPr>
              <p:cNvSpPr txBox="1"/>
              <p:nvPr/>
            </p:nvSpPr>
            <p:spPr>
              <a:xfrm>
                <a:off x="10178624" y="872591"/>
                <a:ext cx="208195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1600" b="1" dirty="0">
                    <a:ea typeface="微軟正黑體" panose="020B0604030504040204" pitchFamily="34" charset="-120"/>
                  </a:rPr>
                  <a:t>一串數字 </a:t>
                </a:r>
                <a:r>
                  <a:rPr lang="en-US" altLang="zh-TW" sz="1600" b="1" dirty="0">
                    <a:ea typeface="微軟正黑體" panose="020B0604030504040204" pitchFamily="34" charset="-120"/>
                  </a:rPr>
                  <a:t>(tokens) </a:t>
                </a:r>
              </a:p>
              <a:p>
                <a:pPr algn="ctr"/>
                <a:r>
                  <a:rPr lang="en-US" altLang="zh-TW" sz="1600" b="1" dirty="0">
                    <a:ea typeface="微軟正黑體" panose="020B0604030504040204" pitchFamily="34" charset="-120"/>
                  </a:rPr>
                  <a:t>(</a:t>
                </a:r>
                <a:r>
                  <a:rPr lang="zh-TW" altLang="en-US" sz="1600" b="1" dirty="0">
                    <a:ea typeface="微軟正黑體" panose="020B0604030504040204" pitchFamily="34" charset="-120"/>
                  </a:rPr>
                  <a:t>模型看得懂的格式</a:t>
                </a:r>
                <a:r>
                  <a:rPr lang="en-US" altLang="zh-TW" sz="1600" b="1" dirty="0">
                    <a:ea typeface="微軟正黑體" panose="020B0604030504040204" pitchFamily="34" charset="-120"/>
                  </a:rPr>
                  <a:t>)</a:t>
                </a:r>
                <a:endParaRPr lang="zh-TW" altLang="en-US" sz="1600" b="1" dirty="0"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B8CE08A1-9970-478C-AE7A-1516CC385007}"/>
                </a:ext>
              </a:extLst>
            </p:cNvPr>
            <p:cNvSpPr txBox="1"/>
            <p:nvPr/>
          </p:nvSpPr>
          <p:spPr>
            <a:xfrm>
              <a:off x="10663585" y="2869139"/>
              <a:ext cx="1380429" cy="33855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ea typeface="微軟正黑體" panose="020B0604030504040204" pitchFamily="34" charset="-120"/>
                </a:rPr>
                <a:t>0153642789…</a:t>
              </a:r>
              <a:endParaRPr lang="zh-TW" altLang="en-US" sz="1600" dirty="0">
                <a:ea typeface="微軟正黑體" panose="020B0604030504040204" pitchFamily="34" charset="-120"/>
              </a:endParaRPr>
            </a:p>
          </p:txBody>
        </p:sp>
        <p:cxnSp>
          <p:nvCxnSpPr>
            <p:cNvPr id="55" name="直線單箭頭接點 54">
              <a:extLst>
                <a:ext uri="{FF2B5EF4-FFF2-40B4-BE49-F238E27FC236}">
                  <a16:creationId xmlns:a16="http://schemas.microsoft.com/office/drawing/2014/main" id="{4D1BAAC5-9933-4F89-B572-51A971934EF1}"/>
                </a:ext>
              </a:extLst>
            </p:cNvPr>
            <p:cNvCxnSpPr>
              <a:cxnSpLocks/>
              <a:stCxn id="11" idx="3"/>
              <a:endCxn id="53" idx="1"/>
            </p:cNvCxnSpPr>
            <p:nvPr/>
          </p:nvCxnSpPr>
          <p:spPr>
            <a:xfrm flipV="1">
              <a:off x="9807631" y="3038416"/>
              <a:ext cx="855954" cy="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5AA68D87-EA7F-4454-B116-8FF616FAD7E3}"/>
                </a:ext>
              </a:extLst>
            </p:cNvPr>
            <p:cNvSpPr txBox="1"/>
            <p:nvPr/>
          </p:nvSpPr>
          <p:spPr>
            <a:xfrm>
              <a:off x="10663585" y="5624366"/>
              <a:ext cx="1380429" cy="33855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ea typeface="微軟正黑體" panose="020B0604030504040204" pitchFamily="34" charset="-120"/>
                </a:rPr>
                <a:t>0875364859…</a:t>
              </a:r>
              <a:endParaRPr lang="zh-TW" altLang="en-US" sz="1600" dirty="0">
                <a:ea typeface="微軟正黑體" panose="020B0604030504040204" pitchFamily="34" charset="-120"/>
              </a:endParaRPr>
            </a:p>
          </p:txBody>
        </p:sp>
        <p:cxnSp>
          <p:nvCxnSpPr>
            <p:cNvPr id="60" name="直線單箭頭接點 59">
              <a:extLst>
                <a:ext uri="{FF2B5EF4-FFF2-40B4-BE49-F238E27FC236}">
                  <a16:creationId xmlns:a16="http://schemas.microsoft.com/office/drawing/2014/main" id="{432C6112-D11D-4F72-97C9-6C31F8CED0B6}"/>
                </a:ext>
              </a:extLst>
            </p:cNvPr>
            <p:cNvCxnSpPr>
              <a:cxnSpLocks/>
              <a:stCxn id="59" idx="1"/>
              <a:endCxn id="12" idx="3"/>
            </p:cNvCxnSpPr>
            <p:nvPr/>
          </p:nvCxnSpPr>
          <p:spPr>
            <a:xfrm flipH="1">
              <a:off x="9833037" y="5793643"/>
              <a:ext cx="830548" cy="190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62">
              <a:extLst>
                <a:ext uri="{FF2B5EF4-FFF2-40B4-BE49-F238E27FC236}">
                  <a16:creationId xmlns:a16="http://schemas.microsoft.com/office/drawing/2014/main" id="{BAFC4F12-8B1F-4566-ABCF-DD3FF80FED2A}"/>
                </a:ext>
              </a:extLst>
            </p:cNvPr>
            <p:cNvCxnSpPr>
              <a:cxnSpLocks/>
              <a:stCxn id="53" idx="2"/>
              <a:endCxn id="10" idx="0"/>
            </p:cNvCxnSpPr>
            <p:nvPr/>
          </p:nvCxnSpPr>
          <p:spPr>
            <a:xfrm flipH="1">
              <a:off x="11353799" y="3207693"/>
              <a:ext cx="1" cy="38674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單箭頭接點 68">
              <a:extLst>
                <a:ext uri="{FF2B5EF4-FFF2-40B4-BE49-F238E27FC236}">
                  <a16:creationId xmlns:a16="http://schemas.microsoft.com/office/drawing/2014/main" id="{71D8507F-B04A-4EB4-A8F9-C4BD322A39D4}"/>
                </a:ext>
              </a:extLst>
            </p:cNvPr>
            <p:cNvCxnSpPr>
              <a:cxnSpLocks/>
              <a:stCxn id="9" idx="2"/>
              <a:endCxn id="59" idx="0"/>
            </p:cNvCxnSpPr>
            <p:nvPr/>
          </p:nvCxnSpPr>
          <p:spPr>
            <a:xfrm>
              <a:off x="11350335" y="5228114"/>
              <a:ext cx="3465" cy="39625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文字方塊 71">
              <a:extLst>
                <a:ext uri="{FF2B5EF4-FFF2-40B4-BE49-F238E27FC236}">
                  <a16:creationId xmlns:a16="http://schemas.microsoft.com/office/drawing/2014/main" id="{0935C5D3-AED0-4953-A3BF-9B5661D83D19}"/>
                </a:ext>
              </a:extLst>
            </p:cNvPr>
            <p:cNvSpPr txBox="1"/>
            <p:nvPr/>
          </p:nvSpPr>
          <p:spPr>
            <a:xfrm>
              <a:off x="7318627" y="870202"/>
              <a:ext cx="20819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b="1" dirty="0">
                  <a:ea typeface="微軟正黑體" panose="020B0604030504040204" pitchFamily="34" charset="-120"/>
                </a:rPr>
                <a:t>messages </a:t>
              </a:r>
            </a:p>
            <a:p>
              <a:pPr algn="ctr"/>
              <a:r>
                <a:rPr lang="en-US" altLang="zh-TW" sz="1600" b="1" dirty="0">
                  <a:ea typeface="微軟正黑體" panose="020B0604030504040204" pitchFamily="34" charset="-120"/>
                </a:rPr>
                <a:t>(</a:t>
              </a:r>
              <a:r>
                <a:rPr lang="zh-TW" altLang="en-US" sz="1600" b="1" dirty="0">
                  <a:ea typeface="微軟正黑體" panose="020B0604030504040204" pitchFamily="34" charset="-120"/>
                </a:rPr>
                <a:t>使用特殊標記的格式</a:t>
              </a:r>
              <a:r>
                <a:rPr lang="en-US" altLang="zh-TW" sz="1600" b="1" dirty="0">
                  <a:ea typeface="微軟正黑體" panose="020B0604030504040204" pitchFamily="34" charset="-120"/>
                </a:rPr>
                <a:t>)</a:t>
              </a:r>
              <a:endParaRPr lang="zh-TW" altLang="en-US" sz="1600" b="1" dirty="0">
                <a:ea typeface="微軟正黑體" panose="020B0604030504040204" pitchFamily="34" charset="-120"/>
              </a:endParaRPr>
            </a:p>
          </p:txBody>
        </p:sp>
        <p:sp>
          <p:nvSpPr>
            <p:cNvPr id="73" name="文字方塊 72">
              <a:extLst>
                <a:ext uri="{FF2B5EF4-FFF2-40B4-BE49-F238E27FC236}">
                  <a16:creationId xmlns:a16="http://schemas.microsoft.com/office/drawing/2014/main" id="{4E32BB68-E179-4D4A-888A-E1AA27F758F5}"/>
                </a:ext>
              </a:extLst>
            </p:cNvPr>
            <p:cNvSpPr txBox="1"/>
            <p:nvPr/>
          </p:nvSpPr>
          <p:spPr>
            <a:xfrm>
              <a:off x="9807631" y="2703860"/>
              <a:ext cx="8121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b="1" dirty="0">
                  <a:solidFill>
                    <a:srgbClr val="FF0000"/>
                  </a:solidFill>
                  <a:ea typeface="微軟正黑體" panose="020B0604030504040204" pitchFamily="34" charset="-120"/>
                </a:rPr>
                <a:t>encode</a:t>
              </a:r>
              <a:endParaRPr lang="zh-TW" altLang="en-US" sz="1400" b="1" dirty="0">
                <a:solidFill>
                  <a:srgbClr val="FF0000"/>
                </a:solidFill>
                <a:ea typeface="微軟正黑體" panose="020B0604030504040204" pitchFamily="34" charset="-120"/>
              </a:endParaRPr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6C90E637-039E-4034-A81B-6F7EFAD188A1}"/>
                </a:ext>
              </a:extLst>
            </p:cNvPr>
            <p:cNvSpPr txBox="1"/>
            <p:nvPr/>
          </p:nvSpPr>
          <p:spPr>
            <a:xfrm>
              <a:off x="9840885" y="5470477"/>
              <a:ext cx="8121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b="1" dirty="0">
                  <a:solidFill>
                    <a:srgbClr val="FF0000"/>
                  </a:solidFill>
                  <a:ea typeface="微軟正黑體" panose="020B0604030504040204" pitchFamily="34" charset="-120"/>
                </a:rPr>
                <a:t>decode</a:t>
              </a:r>
              <a:endParaRPr lang="zh-TW" altLang="en-US" sz="1400" b="1" dirty="0">
                <a:solidFill>
                  <a:srgbClr val="FF0000"/>
                </a:solidFill>
                <a:ea typeface="微軟正黑體" panose="020B0604030504040204" pitchFamily="34" charset="-120"/>
              </a:endParaRPr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FFBEF1D1-80E1-439C-9AE7-405E1150BAB5}"/>
                </a:ext>
              </a:extLst>
            </p:cNvPr>
            <p:cNvSpPr txBox="1"/>
            <p:nvPr/>
          </p:nvSpPr>
          <p:spPr>
            <a:xfrm>
              <a:off x="5944300" y="2519594"/>
              <a:ext cx="10081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b="1" dirty="0">
                  <a:solidFill>
                    <a:srgbClr val="FF0000"/>
                  </a:solidFill>
                  <a:ea typeface="微軟正黑體" panose="020B0604030504040204" pitchFamily="34" charset="-120"/>
                </a:rPr>
                <a:t>apply chat</a:t>
              </a:r>
            </a:p>
            <a:p>
              <a:pPr algn="ctr"/>
              <a:r>
                <a:rPr lang="en-US" altLang="zh-TW" sz="1400" b="1" dirty="0">
                  <a:solidFill>
                    <a:srgbClr val="FF0000"/>
                  </a:solidFill>
                  <a:ea typeface="微軟正黑體" panose="020B0604030504040204" pitchFamily="34" charset="-120"/>
                </a:rPr>
                <a:t>template</a:t>
              </a:r>
              <a:endParaRPr lang="zh-TW" altLang="en-US" sz="1400" b="1" dirty="0">
                <a:solidFill>
                  <a:srgbClr val="FF0000"/>
                </a:solidFill>
                <a:ea typeface="微軟正黑體" panose="020B0604030504040204" pitchFamily="34" charset="-120"/>
              </a:endParaRPr>
            </a:p>
          </p:txBody>
        </p:sp>
        <p:sp>
          <p:nvSpPr>
            <p:cNvPr id="80" name="文字方塊 79">
              <a:extLst>
                <a:ext uri="{FF2B5EF4-FFF2-40B4-BE49-F238E27FC236}">
                  <a16:creationId xmlns:a16="http://schemas.microsoft.com/office/drawing/2014/main" id="{1B5D3C1A-71DC-4F89-9703-B0C904DCB590}"/>
                </a:ext>
              </a:extLst>
            </p:cNvPr>
            <p:cNvSpPr txBox="1"/>
            <p:nvPr/>
          </p:nvSpPr>
          <p:spPr>
            <a:xfrm>
              <a:off x="6012626" y="5486903"/>
              <a:ext cx="8121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b="1" dirty="0">
                  <a:solidFill>
                    <a:srgbClr val="FF0000"/>
                  </a:solidFill>
                  <a:ea typeface="微軟正黑體" panose="020B0604030504040204" pitchFamily="34" charset="-120"/>
                </a:rPr>
                <a:t>decode</a:t>
              </a:r>
              <a:endParaRPr lang="zh-TW" altLang="en-US" sz="1400" b="1" dirty="0">
                <a:solidFill>
                  <a:srgbClr val="FF0000"/>
                </a:solidFill>
                <a:ea typeface="微軟正黑體" panose="020B0604030504040204" pitchFamily="34" charset="-120"/>
              </a:endParaRPr>
            </a:p>
          </p:txBody>
        </p:sp>
      </p:grpSp>
      <p:sp>
        <p:nvSpPr>
          <p:cNvPr id="96" name="文字方塊 95">
            <a:extLst>
              <a:ext uri="{FF2B5EF4-FFF2-40B4-BE49-F238E27FC236}">
                <a16:creationId xmlns:a16="http://schemas.microsoft.com/office/drawing/2014/main" id="{1E1762D1-5EC4-4B7B-B18A-2C9579F3E818}"/>
              </a:ext>
            </a:extLst>
          </p:cNvPr>
          <p:cNvSpPr txBox="1"/>
          <p:nvPr/>
        </p:nvSpPr>
        <p:spPr>
          <a:xfrm>
            <a:off x="456000" y="1813397"/>
            <a:ext cx="3345158" cy="3007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每個模型都有被訓練過的輸入 </a:t>
            </a:r>
            <a:r>
              <a:rPr lang="en-US" altLang="zh-TW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&amp;</a:t>
            </a:r>
            <a:r>
              <a:rPr lang="zh-TW" altLang="en-US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 輸出格式</a:t>
            </a:r>
            <a:endParaRPr lang="en-US" altLang="zh-TW" sz="1600" b="1" dirty="0">
              <a:solidFill>
                <a:schemeClr val="accent2"/>
              </a:solidFill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ea typeface="微軟正黑體" panose="020B0604030504040204" pitchFamily="34" charset="-120"/>
              </a:rPr>
              <a:t>Chat template </a:t>
            </a:r>
            <a:r>
              <a:rPr lang="zh-TW" altLang="en-US" sz="1600" dirty="0">
                <a:ea typeface="微軟正黑體" panose="020B0604030504040204" pitchFamily="34" charset="-120"/>
              </a:rPr>
              <a:t>就是把 </a:t>
            </a:r>
            <a:r>
              <a:rPr lang="en-US" altLang="zh-TW" sz="1600" dirty="0">
                <a:ea typeface="微軟正黑體" panose="020B0604030504040204" pitchFamily="34" charset="-120"/>
              </a:rPr>
              <a:t>messages </a:t>
            </a:r>
            <a:r>
              <a:rPr lang="zh-TW" altLang="en-US" sz="1600" dirty="0">
                <a:ea typeface="微軟正黑體" panose="020B0604030504040204" pitchFamily="34" charset="-120"/>
              </a:rPr>
              <a:t>套用成模型訓練過的輸入格式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ea typeface="微軟正黑體" panose="020B0604030504040204" pitchFamily="34" charset="-120"/>
              </a:rPr>
              <a:t>輸入到 </a:t>
            </a:r>
            <a:r>
              <a:rPr lang="en-US" altLang="zh-TW" sz="1600" dirty="0">
                <a:ea typeface="微軟正黑體" panose="020B0604030504040204" pitchFamily="34" charset="-120"/>
              </a:rPr>
              <a:t>LLM</a:t>
            </a:r>
            <a:r>
              <a:rPr lang="zh-TW" altLang="en-US" sz="1600" dirty="0">
                <a:ea typeface="微軟正黑體" panose="020B0604030504040204" pitchFamily="34" charset="-120"/>
              </a:rPr>
              <a:t> 前的 </a:t>
            </a:r>
            <a:r>
              <a:rPr lang="en-US" altLang="zh-TW" sz="1600" dirty="0">
                <a:ea typeface="微軟正黑體" panose="020B0604030504040204" pitchFamily="34" charset="-120"/>
              </a:rPr>
              <a:t>Apply chat template</a:t>
            </a:r>
            <a:r>
              <a:rPr lang="zh-TW" altLang="en-US" sz="1600" dirty="0">
                <a:ea typeface="微軟正黑體" panose="020B0604030504040204" pitchFamily="34" charset="-120"/>
              </a:rPr>
              <a:t>、編碼成 </a:t>
            </a:r>
            <a:r>
              <a:rPr lang="en-US" altLang="zh-TW" sz="1600" dirty="0">
                <a:ea typeface="微軟正黑體" panose="020B0604030504040204" pitchFamily="34" charset="-120"/>
              </a:rPr>
              <a:t>tokens</a:t>
            </a:r>
            <a:r>
              <a:rPr lang="zh-TW" altLang="en-US" sz="1600" dirty="0">
                <a:ea typeface="微軟正黑體" panose="020B0604030504040204" pitchFamily="34" charset="-120"/>
              </a:rPr>
              <a:t>，以及 </a:t>
            </a:r>
            <a:r>
              <a:rPr lang="en-US" altLang="zh-TW" sz="1600" dirty="0">
                <a:ea typeface="微軟正黑體" panose="020B0604030504040204" pitchFamily="34" charset="-120"/>
              </a:rPr>
              <a:t>LLM</a:t>
            </a:r>
            <a:r>
              <a:rPr lang="zh-TW" altLang="en-US" sz="1600" dirty="0">
                <a:ea typeface="微軟正黑體" panose="020B0604030504040204" pitchFamily="34" charset="-120"/>
              </a:rPr>
              <a:t> 生成輸出後的解碼，全都由 </a:t>
            </a:r>
            <a:r>
              <a:rPr lang="en-US" altLang="zh-TW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tokenizer</a:t>
            </a:r>
            <a:r>
              <a:rPr lang="en-US" altLang="zh-TW" sz="1600" dirty="0">
                <a:ea typeface="微軟正黑體" panose="020B0604030504040204" pitchFamily="34" charset="-120"/>
              </a:rPr>
              <a:t> </a:t>
            </a:r>
            <a:r>
              <a:rPr lang="zh-TW" altLang="en-US" sz="1600" dirty="0">
                <a:ea typeface="微軟正黑體" panose="020B0604030504040204" pitchFamily="34" charset="-120"/>
              </a:rPr>
              <a:t>所完成</a:t>
            </a:r>
            <a:endParaRPr lang="en-US" altLang="zh-TW" sz="1600" dirty="0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8771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BEE928B-7AED-4E43-AD77-FA7053A8A87F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122" name="群組 121">
            <a:extLst>
              <a:ext uri="{FF2B5EF4-FFF2-40B4-BE49-F238E27FC236}">
                <a16:creationId xmlns:a16="http://schemas.microsoft.com/office/drawing/2014/main" id="{D91AF57F-7860-4048-8540-48B07CF2F503}"/>
              </a:ext>
            </a:extLst>
          </p:cNvPr>
          <p:cNvGrpSpPr/>
          <p:nvPr/>
        </p:nvGrpSpPr>
        <p:grpSpPr>
          <a:xfrm>
            <a:off x="3077977" y="844410"/>
            <a:ext cx="9042234" cy="5414087"/>
            <a:chOff x="2738611" y="948829"/>
            <a:chExt cx="9042234" cy="5414087"/>
          </a:xfrm>
        </p:grpSpPr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8B5F210E-F3AC-4059-ACA5-F6E9BC9FE6A7}"/>
                </a:ext>
              </a:extLst>
            </p:cNvPr>
            <p:cNvSpPr txBox="1"/>
            <p:nvPr/>
          </p:nvSpPr>
          <p:spPr>
            <a:xfrm>
              <a:off x="3565225" y="3183113"/>
              <a:ext cx="2166408" cy="3820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TW" sz="1400" b="1" dirty="0"/>
                <a:t>Tool List</a:t>
              </a:r>
              <a:endParaRPr lang="zh-TW" altLang="en-US" sz="1400" dirty="0">
                <a:ea typeface="微軟正黑體" panose="020B0604030504040204" pitchFamily="34" charset="-120"/>
              </a:endParaRPr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58824B2B-F0A4-47DB-9FD2-6B53E359BFCF}"/>
                </a:ext>
              </a:extLst>
            </p:cNvPr>
            <p:cNvSpPr txBox="1"/>
            <p:nvPr/>
          </p:nvSpPr>
          <p:spPr>
            <a:xfrm>
              <a:off x="4237699" y="2927052"/>
              <a:ext cx="71643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400" b="1" dirty="0">
                  <a:ea typeface="微軟正黑體" panose="020B0604030504040204" pitchFamily="34" charset="-120"/>
                </a:rPr>
                <a:t>tools</a:t>
              </a:r>
            </a:p>
          </p:txBody>
        </p:sp>
        <p:grpSp>
          <p:nvGrpSpPr>
            <p:cNvPr id="41" name="群組 40">
              <a:extLst>
                <a:ext uri="{FF2B5EF4-FFF2-40B4-BE49-F238E27FC236}">
                  <a16:creationId xmlns:a16="http://schemas.microsoft.com/office/drawing/2014/main" id="{54D8A193-EAE2-4891-B2B1-265A985E66CF}"/>
                </a:ext>
              </a:extLst>
            </p:cNvPr>
            <p:cNvGrpSpPr/>
            <p:nvPr/>
          </p:nvGrpSpPr>
          <p:grpSpPr>
            <a:xfrm>
              <a:off x="2738611" y="948829"/>
              <a:ext cx="9042234" cy="5414087"/>
              <a:chOff x="3001780" y="1126649"/>
              <a:chExt cx="9042234" cy="5414087"/>
            </a:xfrm>
          </p:grpSpPr>
          <p:grpSp>
            <p:nvGrpSpPr>
              <p:cNvPr id="42" name="群組 41">
                <a:extLst>
                  <a:ext uri="{FF2B5EF4-FFF2-40B4-BE49-F238E27FC236}">
                    <a16:creationId xmlns:a16="http://schemas.microsoft.com/office/drawing/2014/main" id="{196FF83D-D356-4066-B9EE-DE88A149D81B}"/>
                  </a:ext>
                </a:extLst>
              </p:cNvPr>
              <p:cNvGrpSpPr/>
              <p:nvPr/>
            </p:nvGrpSpPr>
            <p:grpSpPr>
              <a:xfrm>
                <a:off x="3001780" y="1126649"/>
                <a:ext cx="8974817" cy="5414087"/>
                <a:chOff x="3001780" y="1126649"/>
                <a:chExt cx="8974817" cy="5414087"/>
              </a:xfrm>
            </p:grpSpPr>
            <p:sp>
              <p:nvSpPr>
                <p:cNvPr id="54" name="文字方塊 53">
                  <a:extLst>
                    <a:ext uri="{FF2B5EF4-FFF2-40B4-BE49-F238E27FC236}">
                      <a16:creationId xmlns:a16="http://schemas.microsoft.com/office/drawing/2014/main" id="{1EACC97C-30D5-49D0-A09F-EA6D76BE183C}"/>
                    </a:ext>
                  </a:extLst>
                </p:cNvPr>
                <p:cNvSpPr txBox="1"/>
                <p:nvPr/>
              </p:nvSpPr>
              <p:spPr>
                <a:xfrm>
                  <a:off x="3828393" y="1482117"/>
                  <a:ext cx="2172741" cy="703911"/>
                </a:xfrm>
                <a:prstGeom prst="rect">
                  <a:avLst/>
                </a:prstGeom>
                <a:solidFill>
                  <a:srgbClr val="FFE7FF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zh-TW" sz="1400" b="1" dirty="0"/>
                    <a:t>role: </a:t>
                  </a:r>
                  <a:r>
                    <a:rPr lang="en-US" altLang="zh-TW" sz="1400" b="1" dirty="0">
                      <a:solidFill>
                        <a:srgbClr val="7030A0"/>
                      </a:solidFill>
                    </a:rPr>
                    <a:t>system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TW" sz="1400" dirty="0">
                      <a:ea typeface="微軟正黑體" panose="020B0604030504040204" pitchFamily="34" charset="-120"/>
                    </a:rPr>
                    <a:t>content: </a:t>
                  </a:r>
                  <a:r>
                    <a:rPr lang="zh-TW" altLang="en-US" sz="1400" dirty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你是群聯的模</a:t>
                  </a:r>
                  <a:r>
                    <a:rPr lang="zh-TW" altLang="en-US" sz="1400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型</a:t>
                  </a:r>
                  <a:endParaRPr lang="en-US" altLang="zh-TW" sz="1400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55" name="文字方塊 54">
                  <a:extLst>
                    <a:ext uri="{FF2B5EF4-FFF2-40B4-BE49-F238E27FC236}">
                      <a16:creationId xmlns:a16="http://schemas.microsoft.com/office/drawing/2014/main" id="{B8A8E77D-5785-4A1D-9FE8-F2055A90AAE8}"/>
                    </a:ext>
                  </a:extLst>
                </p:cNvPr>
                <p:cNvSpPr txBox="1"/>
                <p:nvPr/>
              </p:nvSpPr>
              <p:spPr>
                <a:xfrm>
                  <a:off x="3828393" y="2186028"/>
                  <a:ext cx="2172737" cy="703911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zh-TW" sz="1400" b="1" dirty="0"/>
                    <a:t>role: </a:t>
                  </a:r>
                  <a:r>
                    <a:rPr lang="en-US" altLang="zh-TW" sz="1400" b="1" dirty="0">
                      <a:solidFill>
                        <a:srgbClr val="0070C0"/>
                      </a:solidFill>
                    </a:rPr>
                    <a:t>user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TW" sz="1400" dirty="0">
                      <a:ea typeface="微軟正黑體" panose="020B0604030504040204" pitchFamily="34" charset="-120"/>
                    </a:rPr>
                    <a:t>content: </a:t>
                  </a:r>
                  <a:r>
                    <a:rPr lang="zh-TW" altLang="en-US" sz="1400" dirty="0">
                      <a:ea typeface="微軟正黑體" panose="020B0604030504040204" pitchFamily="34" charset="-120"/>
                    </a:rPr>
                    <a:t>今天天氣？</a:t>
                  </a:r>
                </a:p>
              </p:txBody>
            </p:sp>
            <p:grpSp>
              <p:nvGrpSpPr>
                <p:cNvPr id="58" name="群組 57">
                  <a:extLst>
                    <a:ext uri="{FF2B5EF4-FFF2-40B4-BE49-F238E27FC236}">
                      <a16:creationId xmlns:a16="http://schemas.microsoft.com/office/drawing/2014/main" id="{99BDD8BE-3B53-4EC4-902C-4B333BC069CC}"/>
                    </a:ext>
                  </a:extLst>
                </p:cNvPr>
                <p:cNvGrpSpPr/>
                <p:nvPr/>
              </p:nvGrpSpPr>
              <p:grpSpPr>
                <a:xfrm>
                  <a:off x="10724073" y="3594433"/>
                  <a:ext cx="1252524" cy="1633681"/>
                  <a:chOff x="3230710" y="4554250"/>
                  <a:chExt cx="1252524" cy="1633681"/>
                </a:xfrm>
              </p:grpSpPr>
              <p:pic>
                <p:nvPicPr>
                  <p:cNvPr id="66" name="圖片 65">
                    <a:extLst>
                      <a:ext uri="{FF2B5EF4-FFF2-40B4-BE49-F238E27FC236}">
                        <a16:creationId xmlns:a16="http://schemas.microsoft.com/office/drawing/2014/main" id="{6700EBA2-288C-48AD-A723-11DF665EC6C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duotone>
                      <a:srgbClr val="5B9BD5">
                        <a:shade val="45000"/>
                        <a:satMod val="135000"/>
                      </a:srgbClr>
                      <a:prstClr val="white"/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211" b="93421" l="7483" r="89796">
                                <a14:foregroundMark x1="7483" y1="47368" x2="7483" y2="47368"/>
                                <a14:foregroundMark x1="31973" y1="44079" x2="31973" y2="44079"/>
                                <a14:foregroundMark x1="62585" y1="51974" x2="62585" y2="51974"/>
                                <a14:foregroundMark x1="63265" y1="12500" x2="63265" y2="12500"/>
                                <a14:foregroundMark x1="42177" y1="90789" x2="42177" y2="90789"/>
                                <a14:foregroundMark x1="62585" y1="93421" x2="62585" y2="93421"/>
                                <a14:foregroundMark x1="42857" y1="89474" x2="42857" y2="89474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230710" y="4892804"/>
                    <a:ext cx="1252524" cy="1295127"/>
                  </a:xfrm>
                  <a:prstGeom prst="rect">
                    <a:avLst/>
                  </a:prstGeom>
                </p:spPr>
              </p:pic>
              <p:sp>
                <p:nvSpPr>
                  <p:cNvPr id="67" name="文字方塊 66">
                    <a:extLst>
                      <a:ext uri="{FF2B5EF4-FFF2-40B4-BE49-F238E27FC236}">
                        <a16:creationId xmlns:a16="http://schemas.microsoft.com/office/drawing/2014/main" id="{F5F3427B-C4B1-45B5-892E-F20FDC50A5A0}"/>
                      </a:ext>
                    </a:extLst>
                  </p:cNvPr>
                  <p:cNvSpPr txBox="1"/>
                  <p:nvPr/>
                </p:nvSpPr>
                <p:spPr>
                  <a:xfrm>
                    <a:off x="3399806" y="4554250"/>
                    <a:ext cx="92126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TW" sz="2000" b="1" dirty="0">
                        <a:solidFill>
                          <a:srgbClr val="3471A7"/>
                        </a:solidFill>
                      </a:rPr>
                      <a:t>LLM</a:t>
                    </a:r>
                    <a:endParaRPr lang="zh-TW" altLang="en-US" sz="2000" b="1" dirty="0">
                      <a:solidFill>
                        <a:srgbClr val="3471A7"/>
                      </a:solidFill>
                    </a:endParaRPr>
                  </a:p>
                </p:txBody>
              </p:sp>
            </p:grpSp>
            <p:sp>
              <p:nvSpPr>
                <p:cNvPr id="59" name="文字方塊 58">
                  <a:extLst>
                    <a:ext uri="{FF2B5EF4-FFF2-40B4-BE49-F238E27FC236}">
                      <a16:creationId xmlns:a16="http://schemas.microsoft.com/office/drawing/2014/main" id="{07541841-B543-431D-8CD4-6830702FDADE}"/>
                    </a:ext>
                  </a:extLst>
                </p:cNvPr>
                <p:cNvSpPr txBox="1"/>
                <p:nvPr/>
              </p:nvSpPr>
              <p:spPr>
                <a:xfrm>
                  <a:off x="6899180" y="1126649"/>
                  <a:ext cx="2920515" cy="4185761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1400" dirty="0">
                      <a:ea typeface="微軟正黑體" panose="020B0604030504040204" pitchFamily="34" charset="-120"/>
                    </a:rPr>
                    <a:t>&lt;|</a:t>
                  </a:r>
                  <a:r>
                    <a:rPr lang="en-US" altLang="zh-TW" sz="1400" dirty="0" err="1">
                      <a:ea typeface="微軟正黑體" panose="020B0604030504040204" pitchFamily="34" charset="-120"/>
                    </a:rPr>
                    <a:t>im_start</a:t>
                  </a:r>
                  <a:r>
                    <a:rPr lang="en-US" altLang="zh-TW" sz="1400" dirty="0">
                      <a:ea typeface="微軟正黑體" panose="020B0604030504040204" pitchFamily="34" charset="-120"/>
                    </a:rPr>
                    <a:t>|&gt;</a:t>
                  </a:r>
                  <a:r>
                    <a:rPr lang="en-US" altLang="zh-TW" sz="1400" dirty="0">
                      <a:solidFill>
                        <a:srgbClr val="7030A0"/>
                      </a:solidFill>
                      <a:ea typeface="微軟正黑體" panose="020B0604030504040204" pitchFamily="34" charset="-120"/>
                    </a:rPr>
                    <a:t>system</a:t>
                  </a:r>
                </a:p>
                <a:p>
                  <a:r>
                    <a:rPr lang="zh-TW" altLang="en-US" sz="1400" dirty="0">
                      <a:solidFill>
                        <a:schemeClr val="tx1"/>
                      </a:solidFill>
                      <a:ea typeface="微軟正黑體" panose="020B0604030504040204" pitchFamily="34" charset="-120"/>
                    </a:rPr>
                    <a:t>你是群聯的模</a:t>
                  </a:r>
                  <a:r>
                    <a:rPr lang="zh-TW" altLang="en-US" sz="1400" dirty="0">
                      <a:ea typeface="微軟正黑體" panose="020B0604030504040204" pitchFamily="34" charset="-120"/>
                    </a:rPr>
                    <a:t>型</a:t>
                  </a:r>
                  <a:endParaRPr lang="en-US" altLang="zh-TW" sz="1400" dirty="0">
                    <a:ea typeface="微軟正黑體" panose="020B0604030504040204" pitchFamily="34" charset="-120"/>
                  </a:endParaRPr>
                </a:p>
                <a:p>
                  <a:r>
                    <a:rPr lang="en-US" altLang="zh-TW" sz="1400" dirty="0"/>
                    <a:t>You are provided with function signatures within &lt;tools&gt;&lt;/tools&gt; XML tags:</a:t>
                  </a:r>
                </a:p>
                <a:p>
                  <a:r>
                    <a:rPr lang="en-US" altLang="zh-TW" sz="1400" dirty="0"/>
                    <a:t>&lt;tools&gt;</a:t>
                  </a:r>
                  <a:endParaRPr lang="en-US" altLang="zh-TW" sz="1400" dirty="0">
                    <a:ea typeface="微軟正黑體" panose="020B0604030504040204" pitchFamily="34" charset="-120"/>
                  </a:endParaRPr>
                </a:p>
                <a:p>
                  <a:r>
                    <a:rPr lang="en-US" altLang="zh-TW" sz="1400" dirty="0">
                      <a:ea typeface="微軟正黑體" panose="020B0604030504040204" pitchFamily="34" charset="-120"/>
                    </a:rPr>
                    <a:t>…</a:t>
                  </a:r>
                </a:p>
                <a:p>
                  <a:r>
                    <a:rPr lang="en-US" altLang="zh-TW" sz="1400" dirty="0">
                      <a:ea typeface="微軟正黑體" panose="020B0604030504040204" pitchFamily="34" charset="-120"/>
                    </a:rPr>
                    <a:t>&lt;/tools&gt;</a:t>
                  </a:r>
                </a:p>
                <a:p>
                  <a:r>
                    <a:rPr lang="en-US" altLang="zh-TW" sz="1400" dirty="0"/>
                    <a:t>For each function call, return a json object with function name and arguments within &lt;</a:t>
                  </a:r>
                  <a:r>
                    <a:rPr lang="en-US" altLang="zh-TW" sz="1400" dirty="0" err="1"/>
                    <a:t>tool_call</a:t>
                  </a:r>
                  <a:r>
                    <a:rPr lang="en-US" altLang="zh-TW" sz="1400" dirty="0"/>
                    <a:t>&gt;&lt;/</a:t>
                  </a:r>
                  <a:r>
                    <a:rPr lang="en-US" altLang="zh-TW" sz="1400" dirty="0" err="1"/>
                    <a:t>tool_call</a:t>
                  </a:r>
                  <a:r>
                    <a:rPr lang="en-US" altLang="zh-TW" sz="1400" dirty="0"/>
                    <a:t>&gt; XML tags:\n&lt;</a:t>
                  </a:r>
                  <a:r>
                    <a:rPr lang="en-US" altLang="zh-TW" sz="1400" dirty="0" err="1"/>
                    <a:t>tool_call</a:t>
                  </a:r>
                  <a:r>
                    <a:rPr lang="en-US" altLang="zh-TW" sz="1400" dirty="0"/>
                    <a:t>&gt;\n{\"name\": &lt;function-name&gt;, \"arguments\": &lt;</a:t>
                  </a:r>
                  <a:r>
                    <a:rPr lang="en-US" altLang="zh-TW" sz="1400" dirty="0" err="1"/>
                    <a:t>args</a:t>
                  </a:r>
                  <a:r>
                    <a:rPr lang="en-US" altLang="zh-TW" sz="1400" dirty="0"/>
                    <a:t>-json-object&gt;}\n&lt;/</a:t>
                  </a:r>
                  <a:r>
                    <a:rPr lang="en-US" altLang="zh-TW" sz="1400" dirty="0" err="1"/>
                    <a:t>tool_call</a:t>
                  </a:r>
                  <a:r>
                    <a:rPr lang="en-US" altLang="zh-TW" sz="1400" dirty="0"/>
                    <a:t>&gt;&lt;|</a:t>
                  </a:r>
                  <a:r>
                    <a:rPr lang="en-US" altLang="zh-TW" sz="1400" dirty="0" err="1"/>
                    <a:t>im_end</a:t>
                  </a:r>
                  <a:r>
                    <a:rPr lang="en-US" altLang="zh-TW" sz="1400" dirty="0"/>
                    <a:t>|&gt;</a:t>
                  </a:r>
                  <a:endParaRPr lang="en-US" altLang="zh-TW" sz="1400" dirty="0">
                    <a:ea typeface="微軟正黑體" panose="020B0604030504040204" pitchFamily="34" charset="-120"/>
                  </a:endParaRPr>
                </a:p>
                <a:p>
                  <a:endParaRPr lang="en-US" altLang="zh-TW" sz="1400" dirty="0">
                    <a:ea typeface="微軟正黑體" panose="020B0604030504040204" pitchFamily="34" charset="-120"/>
                  </a:endParaRPr>
                </a:p>
                <a:p>
                  <a:r>
                    <a:rPr lang="en-US" altLang="zh-TW" sz="1400" dirty="0">
                      <a:ea typeface="微軟正黑體" panose="020B0604030504040204" pitchFamily="34" charset="-120"/>
                    </a:rPr>
                    <a:t>&lt;| </a:t>
                  </a:r>
                  <a:r>
                    <a:rPr lang="en-US" altLang="zh-TW" sz="1400" dirty="0" err="1">
                      <a:ea typeface="微軟正黑體" panose="020B0604030504040204" pitchFamily="34" charset="-120"/>
                    </a:rPr>
                    <a:t>im_start</a:t>
                  </a:r>
                  <a:r>
                    <a:rPr lang="en-US" altLang="zh-TW" sz="1400" dirty="0">
                      <a:ea typeface="微軟正黑體" panose="020B0604030504040204" pitchFamily="34" charset="-120"/>
                    </a:rPr>
                    <a:t> |&gt; </a:t>
                  </a:r>
                  <a:r>
                    <a:rPr lang="en-US" altLang="zh-TW" sz="1400" dirty="0">
                      <a:solidFill>
                        <a:srgbClr val="0070C0"/>
                      </a:solidFill>
                      <a:ea typeface="微軟正黑體" panose="020B0604030504040204" pitchFamily="34" charset="-120"/>
                    </a:rPr>
                    <a:t>user</a:t>
                  </a:r>
                  <a:endParaRPr lang="en-US" altLang="zh-TW" sz="1400" dirty="0">
                    <a:ea typeface="微軟正黑體" panose="020B0604030504040204" pitchFamily="34" charset="-120"/>
                  </a:endParaRPr>
                </a:p>
                <a:p>
                  <a:r>
                    <a:rPr lang="zh-TW" altLang="en-US" sz="1400" dirty="0">
                      <a:ea typeface="微軟正黑體" panose="020B0604030504040204" pitchFamily="34" charset="-120"/>
                    </a:rPr>
                    <a:t>今天天氣？</a:t>
                  </a:r>
                  <a:r>
                    <a:rPr lang="en-US" altLang="zh-TW" sz="1400" dirty="0">
                      <a:ea typeface="微軟正黑體" panose="020B0604030504040204" pitchFamily="34" charset="-120"/>
                    </a:rPr>
                    <a:t>&lt;|</a:t>
                  </a:r>
                  <a:r>
                    <a:rPr lang="en-US" altLang="zh-TW" sz="1400" dirty="0" err="1">
                      <a:ea typeface="微軟正黑體" panose="020B0604030504040204" pitchFamily="34" charset="-120"/>
                    </a:rPr>
                    <a:t>im_end</a:t>
                  </a:r>
                  <a:r>
                    <a:rPr lang="en-US" altLang="zh-TW" sz="1400" dirty="0">
                      <a:ea typeface="微軟正黑體" panose="020B0604030504040204" pitchFamily="34" charset="-120"/>
                    </a:rPr>
                    <a:t>|&gt;</a:t>
                  </a:r>
                  <a:endParaRPr lang="zh-TW" altLang="en-US" sz="1400" dirty="0"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60" name="文字方塊 59">
                  <a:extLst>
                    <a:ext uri="{FF2B5EF4-FFF2-40B4-BE49-F238E27FC236}">
                      <a16:creationId xmlns:a16="http://schemas.microsoft.com/office/drawing/2014/main" id="{EBE5471D-49D2-44E3-9FBF-8A5F486F2CA5}"/>
                    </a:ext>
                  </a:extLst>
                </p:cNvPr>
                <p:cNvSpPr txBox="1"/>
                <p:nvPr/>
              </p:nvSpPr>
              <p:spPr>
                <a:xfrm>
                  <a:off x="6886175" y="5371185"/>
                  <a:ext cx="2946862" cy="1169551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1400" dirty="0">
                      <a:ea typeface="微軟正黑體" panose="020B0604030504040204" pitchFamily="34" charset="-120"/>
                    </a:rPr>
                    <a:t>&lt;| </a:t>
                  </a:r>
                  <a:r>
                    <a:rPr lang="en-US" altLang="zh-TW" sz="1400" dirty="0" err="1">
                      <a:ea typeface="微軟正黑體" panose="020B0604030504040204" pitchFamily="34" charset="-120"/>
                    </a:rPr>
                    <a:t>im_start</a:t>
                  </a:r>
                  <a:r>
                    <a:rPr lang="en-US" altLang="zh-TW" sz="1400" dirty="0">
                      <a:ea typeface="微軟正黑體" panose="020B0604030504040204" pitchFamily="34" charset="-120"/>
                    </a:rPr>
                    <a:t> |&gt; </a:t>
                  </a:r>
                  <a:r>
                    <a:rPr lang="en-US" altLang="zh-TW" sz="1400" dirty="0">
                      <a:solidFill>
                        <a:srgbClr val="00B050"/>
                      </a:solidFill>
                      <a:ea typeface="微軟正黑體" panose="020B0604030504040204" pitchFamily="34" charset="-120"/>
                    </a:rPr>
                    <a:t>assistant</a:t>
                  </a:r>
                </a:p>
                <a:p>
                  <a:r>
                    <a:rPr lang="en-US" altLang="zh-TW" sz="1400" dirty="0"/>
                    <a:t>&lt;</a:t>
                  </a:r>
                  <a:r>
                    <a:rPr lang="en-US" altLang="zh-TW" sz="1400" dirty="0" err="1"/>
                    <a:t>tool_call</a:t>
                  </a:r>
                  <a:r>
                    <a:rPr lang="en-US" altLang="zh-TW" sz="1400" dirty="0"/>
                    <a:t>&gt;</a:t>
                  </a:r>
                </a:p>
                <a:p>
                  <a:r>
                    <a:rPr lang="en-US" altLang="zh-TW" sz="1400" dirty="0"/>
                    <a:t>…</a:t>
                  </a:r>
                </a:p>
                <a:p>
                  <a:r>
                    <a:rPr lang="en-US" altLang="zh-TW" sz="1400" dirty="0"/>
                    <a:t>&lt;/</a:t>
                  </a:r>
                  <a:r>
                    <a:rPr lang="en-US" altLang="zh-TW" sz="1400" dirty="0" err="1"/>
                    <a:t>tool_call</a:t>
                  </a:r>
                  <a:r>
                    <a:rPr lang="en-US" altLang="zh-TW" sz="1400" dirty="0"/>
                    <a:t>&gt;</a:t>
                  </a:r>
                  <a:endParaRPr lang="en-US" altLang="zh-TW" sz="1400" dirty="0">
                    <a:ea typeface="微軟正黑體" panose="020B0604030504040204" pitchFamily="34" charset="-120"/>
                  </a:endParaRPr>
                </a:p>
                <a:p>
                  <a:r>
                    <a:rPr lang="en-US" altLang="zh-TW" sz="1400" dirty="0">
                      <a:ea typeface="微軟正黑體" panose="020B0604030504040204" pitchFamily="34" charset="-120"/>
                    </a:rPr>
                    <a:t>&lt;|</a:t>
                  </a:r>
                  <a:r>
                    <a:rPr lang="en-US" altLang="zh-TW" sz="1400" dirty="0" err="1">
                      <a:ea typeface="微軟正黑體" panose="020B0604030504040204" pitchFamily="34" charset="-120"/>
                    </a:rPr>
                    <a:t>im_end</a:t>
                  </a:r>
                  <a:r>
                    <a:rPr lang="en-US" altLang="zh-TW" sz="1400" dirty="0">
                      <a:ea typeface="微軟正黑體" panose="020B0604030504040204" pitchFamily="34" charset="-120"/>
                    </a:rPr>
                    <a:t>|&gt;</a:t>
                  </a:r>
                  <a:endParaRPr lang="zh-TW" altLang="en-US" sz="1400" dirty="0"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61" name="文字方塊 60">
                  <a:extLst>
                    <a:ext uri="{FF2B5EF4-FFF2-40B4-BE49-F238E27FC236}">
                      <a16:creationId xmlns:a16="http://schemas.microsoft.com/office/drawing/2014/main" id="{6C6D7A23-3D31-4401-A4D9-231B1E349E86}"/>
                    </a:ext>
                  </a:extLst>
                </p:cNvPr>
                <p:cNvSpPr txBox="1"/>
                <p:nvPr/>
              </p:nvSpPr>
              <p:spPr>
                <a:xfrm>
                  <a:off x="3001780" y="4786324"/>
                  <a:ext cx="3377797" cy="167475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zh-TW" sz="1400" b="1" dirty="0"/>
                    <a:t>role: </a:t>
                  </a:r>
                  <a:r>
                    <a:rPr lang="en-US" altLang="zh-TW" sz="1400" b="1" dirty="0">
                      <a:solidFill>
                        <a:srgbClr val="00B050"/>
                      </a:solidFill>
                    </a:rPr>
                    <a:t>assistant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TW" sz="1400" b="1" dirty="0" err="1">
                      <a:ea typeface="微軟正黑體" panose="020B0604030504040204" pitchFamily="34" charset="-120"/>
                    </a:rPr>
                    <a:t>tool_calls</a:t>
                  </a:r>
                  <a:r>
                    <a:rPr lang="en-US" altLang="zh-TW" sz="1400" b="1" dirty="0">
                      <a:ea typeface="微軟正黑體" panose="020B0604030504040204" pitchFamily="34" charset="-120"/>
                    </a:rPr>
                    <a:t>: </a:t>
                  </a:r>
                  <a:r>
                    <a:rPr lang="en-US" altLang="zh-TW" sz="1400" b="0" dirty="0">
                      <a:effectLst/>
                    </a:rPr>
                    <a:t>[{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TW" sz="1400" b="0" dirty="0">
                      <a:effectLst/>
                    </a:rPr>
                    <a:t>"name": "Search", 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TW" sz="1400" b="0" dirty="0">
                      <a:effectLst/>
                    </a:rPr>
                    <a:t>"arguments": " {\"query\": \"</a:t>
                  </a:r>
                  <a:r>
                    <a:rPr lang="zh-TW" altLang="en-US" sz="1400" b="0" dirty="0">
                      <a:effectLst/>
                    </a:rPr>
                    <a:t>今天天氣</a:t>
                  </a:r>
                  <a:r>
                    <a:rPr lang="en-US" altLang="zh-TW" sz="1400" b="0" dirty="0">
                      <a:effectLst/>
                    </a:rPr>
                    <a:t>\"} "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TW" sz="1400" b="0" dirty="0">
                      <a:effectLst/>
                    </a:rPr>
                    <a:t>}]</a:t>
                  </a:r>
                  <a:endParaRPr lang="zh-TW" altLang="en-US" sz="1400" dirty="0">
                    <a:ea typeface="微軟正黑體" panose="020B0604030504040204" pitchFamily="34" charset="-120"/>
                  </a:endParaRPr>
                </a:p>
              </p:txBody>
            </p:sp>
            <p:cxnSp>
              <p:nvCxnSpPr>
                <p:cNvPr id="62" name="直線單箭頭接點 61">
                  <a:extLst>
                    <a:ext uri="{FF2B5EF4-FFF2-40B4-BE49-F238E27FC236}">
                      <a16:creationId xmlns:a16="http://schemas.microsoft.com/office/drawing/2014/main" id="{8B33C3E5-1446-41E7-965B-43355E5053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94802" y="2214303"/>
                  <a:ext cx="904374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5FC3A975-06CB-4835-AE08-C9FE854C2CC0}"/>
                  </a:ext>
                </a:extLst>
              </p:cNvPr>
              <p:cNvSpPr txBox="1"/>
              <p:nvPr/>
            </p:nvSpPr>
            <p:spPr>
              <a:xfrm>
                <a:off x="10660120" y="2022308"/>
                <a:ext cx="1380429" cy="33855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600" dirty="0">
                    <a:ea typeface="微軟正黑體" panose="020B0604030504040204" pitchFamily="34" charset="-120"/>
                  </a:rPr>
                  <a:t>0153642789…</a:t>
                </a:r>
                <a:endParaRPr lang="zh-TW" altLang="en-US" sz="1600" dirty="0">
                  <a:ea typeface="微軟正黑體" panose="020B0604030504040204" pitchFamily="34" charset="-120"/>
                </a:endParaRPr>
              </a:p>
            </p:txBody>
          </p:sp>
          <p:cxnSp>
            <p:nvCxnSpPr>
              <p:cNvPr id="44" name="直線單箭頭接點 43">
                <a:extLst>
                  <a:ext uri="{FF2B5EF4-FFF2-40B4-BE49-F238E27FC236}">
                    <a16:creationId xmlns:a16="http://schemas.microsoft.com/office/drawing/2014/main" id="{B8B48E4C-054B-4E8C-9D0A-DA62B6AA6AE6}"/>
                  </a:ext>
                </a:extLst>
              </p:cNvPr>
              <p:cNvCxnSpPr>
                <a:cxnSpLocks/>
                <a:endCxn id="43" idx="1"/>
              </p:cNvCxnSpPr>
              <p:nvPr/>
            </p:nvCxnSpPr>
            <p:spPr>
              <a:xfrm flipV="1">
                <a:off x="9846474" y="2191585"/>
                <a:ext cx="81364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FCB3F76F-CDF3-4534-A8D8-8361AF39E781}"/>
                  </a:ext>
                </a:extLst>
              </p:cNvPr>
              <p:cNvSpPr txBox="1"/>
              <p:nvPr/>
            </p:nvSpPr>
            <p:spPr>
              <a:xfrm>
                <a:off x="10663585" y="5794680"/>
                <a:ext cx="1380429" cy="33855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600" dirty="0">
                    <a:ea typeface="微軟正黑體" panose="020B0604030504040204" pitchFamily="34" charset="-120"/>
                  </a:rPr>
                  <a:t>0875364859…</a:t>
                </a:r>
                <a:endParaRPr lang="zh-TW" altLang="en-US" sz="1600" dirty="0">
                  <a:ea typeface="微軟正黑體" panose="020B0604030504040204" pitchFamily="34" charset="-120"/>
                </a:endParaRPr>
              </a:p>
            </p:txBody>
          </p:sp>
          <p:cxnSp>
            <p:nvCxnSpPr>
              <p:cNvPr id="46" name="直線單箭頭接點 45">
                <a:extLst>
                  <a:ext uri="{FF2B5EF4-FFF2-40B4-BE49-F238E27FC236}">
                    <a16:creationId xmlns:a16="http://schemas.microsoft.com/office/drawing/2014/main" id="{74E0338F-2E86-49A0-A5C2-EB916EB3ABB2}"/>
                  </a:ext>
                </a:extLst>
              </p:cNvPr>
              <p:cNvCxnSpPr>
                <a:cxnSpLocks/>
                <a:stCxn id="45" idx="1"/>
                <a:endCxn id="60" idx="3"/>
              </p:cNvCxnSpPr>
              <p:nvPr/>
            </p:nvCxnSpPr>
            <p:spPr>
              <a:xfrm flipH="1" flipV="1">
                <a:off x="9833037" y="5955961"/>
                <a:ext cx="830548" cy="799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單箭頭接點 46">
                <a:extLst>
                  <a:ext uri="{FF2B5EF4-FFF2-40B4-BE49-F238E27FC236}">
                    <a16:creationId xmlns:a16="http://schemas.microsoft.com/office/drawing/2014/main" id="{1A6E44E4-57CC-4AE7-9BEC-9FEC5E14EF42}"/>
                  </a:ext>
                </a:extLst>
              </p:cNvPr>
              <p:cNvCxnSpPr>
                <a:cxnSpLocks/>
                <a:stCxn id="43" idx="2"/>
                <a:endCxn id="67" idx="0"/>
              </p:cNvCxnSpPr>
              <p:nvPr/>
            </p:nvCxnSpPr>
            <p:spPr>
              <a:xfrm>
                <a:off x="11350335" y="2360862"/>
                <a:ext cx="3464" cy="123357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線單箭頭接點 47">
                <a:extLst>
                  <a:ext uri="{FF2B5EF4-FFF2-40B4-BE49-F238E27FC236}">
                    <a16:creationId xmlns:a16="http://schemas.microsoft.com/office/drawing/2014/main" id="{60C2216A-5330-495D-992C-6833F7091628}"/>
                  </a:ext>
                </a:extLst>
              </p:cNvPr>
              <p:cNvCxnSpPr>
                <a:cxnSpLocks/>
                <a:stCxn id="66" idx="2"/>
                <a:endCxn id="45" idx="0"/>
              </p:cNvCxnSpPr>
              <p:nvPr/>
            </p:nvCxnSpPr>
            <p:spPr>
              <a:xfrm>
                <a:off x="11350335" y="5228114"/>
                <a:ext cx="3465" cy="56656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CB80DB84-0613-4A3D-92F4-2F351BC9B1AC}"/>
                  </a:ext>
                </a:extLst>
              </p:cNvPr>
              <p:cNvSpPr txBox="1"/>
              <p:nvPr/>
            </p:nvSpPr>
            <p:spPr>
              <a:xfrm>
                <a:off x="9832696" y="1914354"/>
                <a:ext cx="81211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400" b="1" dirty="0">
                    <a:ea typeface="微軟正黑體" panose="020B0604030504040204" pitchFamily="34" charset="-120"/>
                  </a:rPr>
                  <a:t>encode</a:t>
                </a:r>
                <a:endParaRPr lang="zh-TW" altLang="en-US" sz="1400" b="1" dirty="0">
                  <a:ea typeface="微軟正黑體" panose="020B0604030504040204" pitchFamily="34" charset="-120"/>
                </a:endParaRPr>
              </a:p>
            </p:txBody>
          </p:sp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63DA3F2E-A6EC-45E4-9CFA-435CD14F168E}"/>
                  </a:ext>
                </a:extLst>
              </p:cNvPr>
              <p:cNvSpPr txBox="1"/>
              <p:nvPr/>
            </p:nvSpPr>
            <p:spPr>
              <a:xfrm>
                <a:off x="9833037" y="5662072"/>
                <a:ext cx="81211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400" b="1" dirty="0">
                    <a:ea typeface="微軟正黑體" panose="020B0604030504040204" pitchFamily="34" charset="-120"/>
                  </a:rPr>
                  <a:t>decode</a:t>
                </a:r>
                <a:endParaRPr lang="zh-TW" altLang="en-US" sz="1400" b="1" dirty="0">
                  <a:ea typeface="微軟正黑體" panose="020B0604030504040204" pitchFamily="34" charset="-120"/>
                </a:endParaRPr>
              </a:p>
            </p:txBody>
          </p:sp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697499E4-60C3-4188-A50D-576D9F08742F}"/>
                  </a:ext>
                </a:extLst>
              </p:cNvPr>
              <p:cNvSpPr txBox="1"/>
              <p:nvPr/>
            </p:nvSpPr>
            <p:spPr>
              <a:xfrm>
                <a:off x="5914405" y="1652744"/>
                <a:ext cx="100813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400" b="1" dirty="0">
                    <a:ea typeface="微軟正黑體" panose="020B0604030504040204" pitchFamily="34" charset="-120"/>
                  </a:rPr>
                  <a:t>apply chat</a:t>
                </a:r>
              </a:p>
              <a:p>
                <a:pPr algn="ctr"/>
                <a:r>
                  <a:rPr lang="en-US" altLang="zh-TW" sz="1400" b="1" dirty="0">
                    <a:ea typeface="微軟正黑體" panose="020B0604030504040204" pitchFamily="34" charset="-120"/>
                  </a:rPr>
                  <a:t>template</a:t>
                </a:r>
                <a:endParaRPr lang="zh-TW" altLang="en-US" sz="1400" b="1" dirty="0">
                  <a:ea typeface="微軟正黑體" panose="020B0604030504040204" pitchFamily="34" charset="-120"/>
                </a:endParaRPr>
              </a:p>
            </p:txBody>
          </p:sp>
        </p:grpSp>
        <p:cxnSp>
          <p:nvCxnSpPr>
            <p:cNvPr id="69" name="接點: 肘形 68">
              <a:extLst>
                <a:ext uri="{FF2B5EF4-FFF2-40B4-BE49-F238E27FC236}">
                  <a16:creationId xmlns:a16="http://schemas.microsoft.com/office/drawing/2014/main" id="{176FF58A-C2E4-429B-AD42-D4F4E5ED2870}"/>
                </a:ext>
              </a:extLst>
            </p:cNvPr>
            <p:cNvCxnSpPr>
              <a:cxnSpLocks/>
              <a:stCxn id="31" idx="3"/>
            </p:cNvCxnSpPr>
            <p:nvPr/>
          </p:nvCxnSpPr>
          <p:spPr>
            <a:xfrm flipV="1">
              <a:off x="5731633" y="2045915"/>
              <a:ext cx="424954" cy="1328244"/>
            </a:xfrm>
            <a:prstGeom prst="bentConnector2">
              <a:avLst/>
            </a:prstGeom>
            <a:ln w="19050">
              <a:solidFill>
                <a:srgbClr val="FF00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2AC433EB-1FA7-4346-AC1D-FA14E6583B3E}"/>
                </a:ext>
              </a:extLst>
            </p:cNvPr>
            <p:cNvSpPr/>
            <p:nvPr/>
          </p:nvSpPr>
          <p:spPr>
            <a:xfrm>
              <a:off x="6623002" y="2077802"/>
              <a:ext cx="2933520" cy="638477"/>
            </a:xfrm>
            <a:prstGeom prst="rect">
              <a:avLst/>
            </a:prstGeom>
            <a:noFill/>
            <a:ln w="38100">
              <a:solidFill>
                <a:srgbClr val="FF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D14FCB7A-8B5D-4A82-99BC-2D32F703678B}"/>
                </a:ext>
              </a:extLst>
            </p:cNvPr>
            <p:cNvSpPr/>
            <p:nvPr/>
          </p:nvSpPr>
          <p:spPr>
            <a:xfrm>
              <a:off x="6623002" y="2742180"/>
              <a:ext cx="2933520" cy="1752541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文字方塊 83">
              <a:extLst>
                <a:ext uri="{FF2B5EF4-FFF2-40B4-BE49-F238E27FC236}">
                  <a16:creationId xmlns:a16="http://schemas.microsoft.com/office/drawing/2014/main" id="{AB79CA0F-5993-4C37-8F7C-C399AB7AF187}"/>
                </a:ext>
              </a:extLst>
            </p:cNvPr>
            <p:cNvSpPr txBox="1"/>
            <p:nvPr/>
          </p:nvSpPr>
          <p:spPr>
            <a:xfrm>
              <a:off x="4091752" y="1031976"/>
              <a:ext cx="90601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400" b="1" dirty="0">
                  <a:ea typeface="微軟正黑體" panose="020B0604030504040204" pitchFamily="34" charset="-120"/>
                </a:rPr>
                <a:t>messages</a:t>
              </a:r>
            </a:p>
          </p:txBody>
        </p:sp>
        <p:sp>
          <p:nvSpPr>
            <p:cNvPr id="92" name="文字方塊 91">
              <a:extLst>
                <a:ext uri="{FF2B5EF4-FFF2-40B4-BE49-F238E27FC236}">
                  <a16:creationId xmlns:a16="http://schemas.microsoft.com/office/drawing/2014/main" id="{621A8690-8292-4C4B-A0A1-057FFD72BA14}"/>
                </a:ext>
              </a:extLst>
            </p:cNvPr>
            <p:cNvSpPr txBox="1"/>
            <p:nvPr/>
          </p:nvSpPr>
          <p:spPr>
            <a:xfrm>
              <a:off x="4783732" y="3924808"/>
              <a:ext cx="1312268" cy="38209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TW" sz="1400" b="1" dirty="0"/>
                <a:t>Tool Call Parser</a:t>
              </a:r>
              <a:endParaRPr lang="zh-TW" altLang="en-US" sz="1400" dirty="0">
                <a:ea typeface="微軟正黑體" panose="020B0604030504040204" pitchFamily="34" charset="-120"/>
              </a:endParaRPr>
            </a:p>
          </p:txBody>
        </p:sp>
        <p:cxnSp>
          <p:nvCxnSpPr>
            <p:cNvPr id="114" name="接點: 肘形 113">
              <a:extLst>
                <a:ext uri="{FF2B5EF4-FFF2-40B4-BE49-F238E27FC236}">
                  <a16:creationId xmlns:a16="http://schemas.microsoft.com/office/drawing/2014/main" id="{EAEE046D-470A-44F9-9C15-FF4DDD5118F5}"/>
                </a:ext>
              </a:extLst>
            </p:cNvPr>
            <p:cNvCxnSpPr>
              <a:stCxn id="60" idx="1"/>
              <a:endCxn id="92" idx="3"/>
            </p:cNvCxnSpPr>
            <p:nvPr/>
          </p:nvCxnSpPr>
          <p:spPr>
            <a:xfrm rot="10800000">
              <a:off x="6096000" y="4115855"/>
              <a:ext cx="527006" cy="1662287"/>
            </a:xfrm>
            <a:prstGeom prst="bentConnector3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接點: 肘形 116">
              <a:extLst>
                <a:ext uri="{FF2B5EF4-FFF2-40B4-BE49-F238E27FC236}">
                  <a16:creationId xmlns:a16="http://schemas.microsoft.com/office/drawing/2014/main" id="{B09554CC-8E09-4A29-8C35-E11E5A0090FF}"/>
                </a:ext>
              </a:extLst>
            </p:cNvPr>
            <p:cNvCxnSpPr>
              <a:cxnSpLocks/>
              <a:stCxn id="92" idx="1"/>
              <a:endCxn id="61" idx="0"/>
            </p:cNvCxnSpPr>
            <p:nvPr/>
          </p:nvCxnSpPr>
          <p:spPr>
            <a:xfrm rot="10800000" flipV="1">
              <a:off x="4427510" y="4115854"/>
              <a:ext cx="356222" cy="492650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文字方塊 119">
              <a:extLst>
                <a:ext uri="{FF2B5EF4-FFF2-40B4-BE49-F238E27FC236}">
                  <a16:creationId xmlns:a16="http://schemas.microsoft.com/office/drawing/2014/main" id="{71800214-FC56-4DAE-8D14-9D7F05C5D89D}"/>
                </a:ext>
              </a:extLst>
            </p:cNvPr>
            <p:cNvSpPr txBox="1"/>
            <p:nvPr/>
          </p:nvSpPr>
          <p:spPr>
            <a:xfrm>
              <a:off x="3615393" y="4155575"/>
              <a:ext cx="8121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b="1" dirty="0">
                  <a:ea typeface="微軟正黑體" panose="020B0604030504040204" pitchFamily="34" charset="-120"/>
                </a:rPr>
                <a:t>decode</a:t>
              </a:r>
              <a:endParaRPr lang="zh-TW" altLang="en-US" sz="1400" b="1" dirty="0">
                <a:ea typeface="微軟正黑體" panose="020B0604030504040204" pitchFamily="34" charset="-120"/>
              </a:endParaRPr>
            </a:p>
          </p:txBody>
        </p:sp>
      </p:grpSp>
      <p:sp>
        <p:nvSpPr>
          <p:cNvPr id="125" name="標題 1">
            <a:extLst>
              <a:ext uri="{FF2B5EF4-FFF2-40B4-BE49-F238E27FC236}">
                <a16:creationId xmlns:a16="http://schemas.microsoft.com/office/drawing/2014/main" id="{7AF862F7-86DA-49F1-8114-998CFE7CC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000" y="365125"/>
            <a:ext cx="10897800" cy="720000"/>
          </a:xfrm>
        </p:spPr>
        <p:txBody>
          <a:bodyPr/>
          <a:lstStyle/>
          <a:p>
            <a:r>
              <a:rPr lang="en-US" altLang="zh-TW" dirty="0"/>
              <a:t>Chat Template with Tools</a:t>
            </a:r>
            <a:endParaRPr lang="zh-TW" altLang="en-US" dirty="0"/>
          </a:p>
        </p:txBody>
      </p:sp>
      <p:sp>
        <p:nvSpPr>
          <p:cNvPr id="126" name="文字方塊 125">
            <a:extLst>
              <a:ext uri="{FF2B5EF4-FFF2-40B4-BE49-F238E27FC236}">
                <a16:creationId xmlns:a16="http://schemas.microsoft.com/office/drawing/2014/main" id="{628E83E7-378B-4AE7-BAFE-F3468FD2201E}"/>
              </a:ext>
            </a:extLst>
          </p:cNvPr>
          <p:cNvSpPr txBox="1"/>
          <p:nvPr/>
        </p:nvSpPr>
        <p:spPr>
          <a:xfrm>
            <a:off x="319720" y="1282884"/>
            <a:ext cx="3345158" cy="2268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rgbClr val="FF0066"/>
                </a:solidFill>
                <a:ea typeface="微軟正黑體" panose="020B0604030504040204" pitchFamily="34" charset="-120"/>
              </a:rPr>
              <a:t>Tokenizer </a:t>
            </a:r>
            <a:r>
              <a:rPr lang="zh-TW" altLang="en-US" sz="1600" dirty="0">
                <a:solidFill>
                  <a:srgbClr val="FF0066"/>
                </a:solidFill>
                <a:ea typeface="微軟正黑體" panose="020B0604030504040204" pitchFamily="34" charset="-120"/>
              </a:rPr>
              <a:t>會把 </a:t>
            </a:r>
            <a:r>
              <a:rPr lang="en-US" altLang="zh-TW" sz="1600" dirty="0">
                <a:solidFill>
                  <a:srgbClr val="FF0066"/>
                </a:solidFill>
                <a:ea typeface="微軟正黑體" panose="020B0604030504040204" pitchFamily="34" charset="-120"/>
              </a:rPr>
              <a:t>tools </a:t>
            </a:r>
            <a:r>
              <a:rPr lang="zh-TW" altLang="en-US" sz="1600" dirty="0">
                <a:solidFill>
                  <a:srgbClr val="FF0066"/>
                </a:solidFill>
                <a:ea typeface="微軟正黑體" panose="020B0604030504040204" pitchFamily="34" charset="-120"/>
              </a:rPr>
              <a:t>欄位的工具列表塞進 </a:t>
            </a:r>
            <a:r>
              <a:rPr lang="en-US" altLang="zh-TW" sz="1600" dirty="0">
                <a:solidFill>
                  <a:srgbClr val="FF0066"/>
                </a:solidFill>
                <a:ea typeface="微軟正黑體" panose="020B0604030504040204" pitchFamily="34" charset="-120"/>
              </a:rPr>
              <a:t>chat template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ea typeface="微軟正黑體" panose="020B0604030504040204" pitchFamily="34" charset="-120"/>
              </a:rPr>
              <a:t>Chat template </a:t>
            </a:r>
            <a:r>
              <a:rPr lang="zh-TW" altLang="en-US" sz="1600" dirty="0">
                <a:ea typeface="微軟正黑體" panose="020B0604030504040204" pitchFamily="34" charset="-120"/>
              </a:rPr>
              <a:t>裡面也會</a:t>
            </a:r>
            <a:r>
              <a:rPr lang="zh-TW" altLang="en-US" sz="1600" dirty="0">
                <a:solidFill>
                  <a:schemeClr val="accent2"/>
                </a:solidFill>
                <a:ea typeface="微軟正黑體" panose="020B0604030504040204" pitchFamily="34" charset="-120"/>
              </a:rPr>
              <a:t>規範模型 </a:t>
            </a:r>
            <a:r>
              <a:rPr lang="en-US" altLang="zh-TW" sz="1600" dirty="0" err="1">
                <a:solidFill>
                  <a:schemeClr val="accent2"/>
                </a:solidFill>
                <a:ea typeface="微軟正黑體" panose="020B0604030504040204" pitchFamily="34" charset="-120"/>
              </a:rPr>
              <a:t>tool_calls</a:t>
            </a:r>
            <a:r>
              <a:rPr lang="en-US" altLang="zh-TW" sz="1600" dirty="0">
                <a:solidFill>
                  <a:schemeClr val="accent2"/>
                </a:solidFill>
                <a:ea typeface="微軟正黑體" panose="020B0604030504040204" pitchFamily="34" charset="-120"/>
              </a:rPr>
              <a:t> </a:t>
            </a:r>
            <a:r>
              <a:rPr lang="zh-TW" altLang="en-US" sz="1600" dirty="0">
                <a:solidFill>
                  <a:schemeClr val="accent2"/>
                </a:solidFill>
                <a:ea typeface="微軟正黑體" panose="020B0604030504040204" pitchFamily="34" charset="-120"/>
              </a:rPr>
              <a:t>的輸出格式</a:t>
            </a:r>
            <a:endParaRPr lang="en-US" altLang="zh-TW" sz="1600" dirty="0">
              <a:solidFill>
                <a:schemeClr val="accent2"/>
              </a:solidFill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ea typeface="微軟正黑體" panose="020B0604030504040204" pitchFamily="34" charset="-120"/>
              </a:rPr>
              <a:t>LLM</a:t>
            </a:r>
            <a:r>
              <a:rPr lang="zh-TW" altLang="en-US" sz="1600" dirty="0">
                <a:ea typeface="微軟正黑體" panose="020B0604030504040204" pitchFamily="34" charset="-120"/>
              </a:rPr>
              <a:t> 輸出 </a:t>
            </a:r>
            <a:r>
              <a:rPr lang="en-US" altLang="zh-TW" sz="1600" dirty="0" err="1">
                <a:ea typeface="微軟正黑體" panose="020B0604030504040204" pitchFamily="34" charset="-120"/>
              </a:rPr>
              <a:t>tool_calls</a:t>
            </a:r>
            <a:r>
              <a:rPr lang="en-US" altLang="zh-TW" sz="1600" dirty="0">
                <a:ea typeface="微軟正黑體" panose="020B0604030504040204" pitchFamily="34" charset="-120"/>
              </a:rPr>
              <a:t> </a:t>
            </a:r>
            <a:r>
              <a:rPr lang="zh-TW" altLang="en-US" sz="1600" dirty="0">
                <a:ea typeface="微軟正黑體" panose="020B0604030504040204" pitchFamily="34" charset="-120"/>
              </a:rPr>
              <a:t>後，需經過 </a:t>
            </a:r>
            <a:r>
              <a:rPr lang="en-US" altLang="zh-TW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tool call parser </a:t>
            </a:r>
            <a:r>
              <a:rPr lang="zh-TW" altLang="en-US" sz="1600" dirty="0">
                <a:ea typeface="微軟正黑體" panose="020B0604030504040204" pitchFamily="34" charset="-120"/>
              </a:rPr>
              <a:t>解析</a:t>
            </a:r>
            <a:endParaRPr lang="en-US" altLang="zh-TW" sz="1600" dirty="0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06694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10267</TotalTime>
  <Words>2630</Words>
  <Application>Microsoft Office PowerPoint</Application>
  <PresentationFormat>寬螢幕</PresentationFormat>
  <Paragraphs>375</Paragraphs>
  <Slides>23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9" baseType="lpstr">
      <vt:lpstr>微軟正黑體</vt:lpstr>
      <vt:lpstr>Arial</vt:lpstr>
      <vt:lpstr>Calibri</vt:lpstr>
      <vt:lpstr>Calibri Light</vt:lpstr>
      <vt:lpstr>Verdana</vt:lpstr>
      <vt:lpstr>Office 佈景主題</vt:lpstr>
      <vt:lpstr>Lesson 1: AI Agent </vt:lpstr>
      <vt:lpstr>PowerPoint 簡報</vt:lpstr>
      <vt:lpstr>AI Agent 是什麼？ 跟 LLM 不一樣嗎？</vt:lpstr>
      <vt:lpstr>AI Agent 是什麼？ 跟 LLM 不一樣嗎？</vt:lpstr>
      <vt:lpstr>常見的 AI Agent</vt:lpstr>
      <vt:lpstr>流程分析 - Chatbot</vt:lpstr>
      <vt:lpstr>流程分析 – Coding Assistant</vt:lpstr>
      <vt:lpstr>流程分析 – Research Assistant</vt:lpstr>
      <vt:lpstr>PowerPoint 簡報</vt:lpstr>
      <vt:lpstr>Planning</vt:lpstr>
      <vt:lpstr>PowerPoint 簡報</vt:lpstr>
      <vt:lpstr>Architecture</vt:lpstr>
      <vt:lpstr>LLM 可以理解的對話紀錄格式</vt:lpstr>
      <vt:lpstr>LLM 可以理解的對話紀錄格式</vt:lpstr>
      <vt:lpstr>從 LLM 到呼叫工具</vt:lpstr>
      <vt:lpstr>Agent Strategies - ReAct</vt:lpstr>
      <vt:lpstr>PowerPoint 簡報</vt:lpstr>
      <vt:lpstr>Evolution – From ReAct to Function Calling</vt:lpstr>
      <vt:lpstr>Agent Strategies – Function Calling</vt:lpstr>
      <vt:lpstr>PowerPoint 簡報</vt:lpstr>
      <vt:lpstr>Tool Information</vt:lpstr>
      <vt:lpstr>Chat Template</vt:lpstr>
      <vt:lpstr>Chat Template with Tools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吳映萱(sarah_wu)</dc:creator>
  <cp:lastModifiedBy>吳映萱(sarah_wu)</cp:lastModifiedBy>
  <cp:revision>145</cp:revision>
  <dcterms:created xsi:type="dcterms:W3CDTF">2026-03-04T09:19:52Z</dcterms:created>
  <dcterms:modified xsi:type="dcterms:W3CDTF">2026-03-11T12:32:37Z</dcterms:modified>
</cp:coreProperties>
</file>