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98" r:id="rId3"/>
    <p:sldId id="303" r:id="rId4"/>
    <p:sldId id="315" r:id="rId5"/>
    <p:sldId id="305" r:id="rId6"/>
    <p:sldId id="304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1580C8-CD37-4D25-A3BB-6B738ED2A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5BA024F-8EBD-48A1-9F08-F01163F1F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758EF5-B0CC-4ECF-BE4B-4113C6DA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65497B-320C-499F-BEEB-6E9FA784B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CE7120-360F-4394-90B0-0C23E8ED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9362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9EC3E9-7760-46C0-843C-D609D7BB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544393-F526-4653-9CE3-7F79492D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84ADDB-25CB-41DE-8CE8-693F16B8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52DC1-3EE9-4B6E-BDBF-7581F25F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E74076-CF6A-4DD5-8403-F2F69DE7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56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DF1F98-66AF-4792-A10C-595C0993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181953-41F7-4051-8750-B69C2AFBE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D56491-3AAB-4CA3-8BBC-88216809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C15509-E4BC-435C-BF5C-CD202F42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8CA9E1-A1E7-46CC-8934-66F90383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292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B84ACF-00FA-443B-AF0E-ADC9A225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5CD25D-DE15-4974-8CDF-7339C809B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C21C54-C59E-46D2-94BB-E8CD51BD3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A32418-7106-4534-92F7-E275E375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9C7012-3190-4880-A116-0C2A8630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51F640-E52C-4371-A11E-DC9B7814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30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B7940-DFD0-4777-A38A-0CAF10FD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F7F4F9-8525-4018-8F4E-91C3C60BA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4C8FE4-5C14-4DF6-A478-54157E9F2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B6C339D-AAF1-4A3E-B0AE-6DB626700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E349FD-4700-4572-9572-42CE0154A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1E5272-2740-4EC8-A107-25481D2F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F407BFC-06E9-4D35-9F47-F421F901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5008021-30D1-4DD9-A1AD-EA35277B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937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189AB-94CD-4C21-AE5F-4C8F23BE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D4C3AD-82D9-4BB2-9713-247768014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1A59B9B-4DB0-494D-9CB2-42028727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59A595E-859D-47C4-AE4C-C9675975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54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FE01135-880C-4ECE-B432-5A6ED0FB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7258BDA-1B6C-4688-AA5B-A4D99C0C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107442-89E4-4D7D-AFF8-3759D8A8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08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BC419-30F5-4611-AD46-50BF1BA2C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8D43BC-48A9-4E97-B6B4-7B5721413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40773A-3965-465D-A6A7-C0B6A2E1E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F658F0-F0E5-4A93-A347-E183DAC45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800A25-3CC6-4898-93C3-291035FB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BFE45B-2C20-4D8C-A8E3-0BDA072D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670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ACAB1A-6790-432F-9466-C9F15834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0D0E5D8-01F7-48CC-A428-B00251C9A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AF502CB-8934-4A02-8642-1CBB5469B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291409-3E0E-4ABA-87C5-EE3E3C061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40C91D-BBCC-436A-B74F-DC20073B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BA8E9B-0024-4BBF-B267-6D717ABD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3460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E46EC0-1B20-4637-8B2C-E722AA3E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3B73C41-DEDA-46B4-9CD9-13D125C2F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2BFA04-A9BE-4A9E-B8C7-AE5CD564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6F2F84-AE51-4B16-BF96-F6E07F7F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A0603A-BE13-4F7C-811F-41DA6E6A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47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142ADC2-1593-4DEC-8450-00242FA69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3539D9F-B785-426F-83E0-B551FEB74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4FC512-EB8C-44FD-986D-B592538C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76FB2B-0A66-424A-9E93-4950AB78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61FABC-B646-4F5B-ACA3-0FACD75F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063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A picture containing white, black and white, design, art&#10;&#10;Description automatically generated">
            <a:extLst>
              <a:ext uri="{FF2B5EF4-FFF2-40B4-BE49-F238E27FC236}">
                <a16:creationId xmlns:a16="http://schemas.microsoft.com/office/drawing/2014/main" id="{44421972-C57C-A887-8FFE-A0ACE52BED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-1" y="0"/>
            <a:ext cx="12189631" cy="675838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6000" y="365125"/>
            <a:ext cx="10897800" cy="720000"/>
          </a:xfrm>
        </p:spPr>
        <p:txBody>
          <a:bodyPr>
            <a:normAutofit/>
          </a:bodyPr>
          <a:lstStyle>
            <a:lvl1pPr>
              <a:defRPr lang="en-US" sz="2667" b="1" kern="1200" dirty="0">
                <a:solidFill>
                  <a:srgbClr val="13295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</a:lstStyle>
          <a:p>
            <a:pPr marL="0" lvl="0" indent="0" algn="l" defTabSz="91444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FA58-57C5-4E70-9489-90A970138A3C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451B-18F2-46CA-8EB8-6249CA8937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8AE6D7-2560-0505-293F-2C27409205DC}"/>
              </a:ext>
            </a:extLst>
          </p:cNvPr>
          <p:cNvSpPr/>
          <p:nvPr userDrawn="1"/>
        </p:nvSpPr>
        <p:spPr>
          <a:xfrm rot="5400000">
            <a:off x="989850" y="-478269"/>
            <a:ext cx="162729" cy="1119263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8" name="Picture 19" descr="A picture containing logo&#10;&#10;Description automatically generated">
            <a:extLst>
              <a:ext uri="{FF2B5EF4-FFF2-40B4-BE49-F238E27FC236}">
                <a16:creationId xmlns:a16="http://schemas.microsoft.com/office/drawing/2014/main" id="{6531A58A-1210-16EB-98A8-4045DAEF5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6383046"/>
            <a:ext cx="12215445" cy="474955"/>
          </a:xfrm>
          <a:prstGeom prst="rect">
            <a:avLst/>
          </a:prstGeom>
        </p:spPr>
      </p:pic>
      <p:pic>
        <p:nvPicPr>
          <p:cNvPr id="9" name="Graphic 20">
            <a:extLst>
              <a:ext uri="{FF2B5EF4-FFF2-40B4-BE49-F238E27FC236}">
                <a16:creationId xmlns:a16="http://schemas.microsoft.com/office/drawing/2014/main" id="{8BCFE683-3CFA-F703-841D-7DBC12C784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  <p:sp>
        <p:nvSpPr>
          <p:cNvPr id="10" name="TextBox 21">
            <a:extLst>
              <a:ext uri="{FF2B5EF4-FFF2-40B4-BE49-F238E27FC236}">
                <a16:creationId xmlns:a16="http://schemas.microsoft.com/office/drawing/2014/main" id="{756FAE72-220F-7F03-A50E-5F4AA875B136}"/>
              </a:ext>
            </a:extLst>
          </p:cNvPr>
          <p:cNvSpPr txBox="1"/>
          <p:nvPr userDrawn="1"/>
        </p:nvSpPr>
        <p:spPr>
          <a:xfrm>
            <a:off x="462435" y="6383045"/>
            <a:ext cx="2686316" cy="47495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spc="60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CD7A373-688F-F794-2189-835EA25C31F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51119" y="6383045"/>
            <a:ext cx="5923175" cy="47495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50" b="0" i="1" spc="300">
                <a:solidFill>
                  <a:schemeClr val="bg1"/>
                </a:solidFill>
                <a:latin typeface="+mn-lt"/>
                <a:ea typeface="Roboto" panose="02000000000000000000" pitchFamily="2" charset="0"/>
              </a:defRPr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endParaRPr lang="en-US"/>
          </a:p>
        </p:txBody>
      </p:sp>
      <p:pic>
        <p:nvPicPr>
          <p:cNvPr id="12" name="Graphic 24">
            <a:extLst>
              <a:ext uri="{FF2B5EF4-FFF2-40B4-BE49-F238E27FC236}">
                <a16:creationId xmlns:a16="http://schemas.microsoft.com/office/drawing/2014/main" id="{AB50E332-CD18-AF4C-6ACD-BD31EF08D9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  <p:pic>
        <p:nvPicPr>
          <p:cNvPr id="13" name="Graphic 26">
            <a:extLst>
              <a:ext uri="{FF2B5EF4-FFF2-40B4-BE49-F238E27FC236}">
                <a16:creationId xmlns:a16="http://schemas.microsoft.com/office/drawing/2014/main" id="{9553E116-8FD8-4E8A-1C6A-66FB5FFE56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73" y="6508236"/>
            <a:ext cx="1269259" cy="25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1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45B9A26-BD0A-43B8-8612-11B627B2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991838-C62C-4EAE-9E69-A8F8D2359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4D413A-2D1E-4ECB-B251-24640BBF3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55C5C-1B1E-4DB4-95B7-61FCE3FA0E14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41E74C-1444-49C6-B7BC-A303FFB35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66F6CC-3AD8-438A-AA2D-515D039AF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07A87-8100-4A6D-B6A7-F840710F32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11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nodejs.org/zh-tw/download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wise.app/" TargetMode="External"/><Relationship Id="rId2" Type="http://schemas.openxmlformats.org/officeDocument/2006/relationships/hyperlink" Target="https://github.com/egoist/chatwise-releases/releases/download/v0.10.7/ChatWise_0.10.7_x64-setup.exe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8559A-AB4A-49F3-AE38-0C35173E8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000" b="1" dirty="0">
                <a:solidFill>
                  <a:srgbClr val="002060"/>
                </a:solidFill>
                <a:latin typeface="+mn-lt"/>
                <a:ea typeface="微軟正黑體" panose="020B0604030504040204" pitchFamily="34" charset="-120"/>
              </a:rPr>
              <a:t>Lab 2: Function Calling</a:t>
            </a:r>
            <a:endParaRPr lang="zh-TW" altLang="en-US" sz="5000" b="1" dirty="0">
              <a:solidFill>
                <a:srgbClr val="002060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6A754C-D017-4B3D-90C9-F17E42B3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0305" y="3868181"/>
            <a:ext cx="9144000" cy="536329"/>
          </a:xfrm>
        </p:spPr>
        <p:txBody>
          <a:bodyPr>
            <a:normAutofit/>
          </a:bodyPr>
          <a:lstStyle/>
          <a:p>
            <a:r>
              <a:rPr lang="zh-TW" altLang="en-US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講師：吳映萱 </a:t>
            </a:r>
            <a:r>
              <a:rPr lang="en-US" altLang="zh-TW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Sarah</a:t>
            </a:r>
            <a:endParaRPr lang="zh-TW" altLang="en-US" sz="2200" b="1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512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F701EC-1BE1-48CF-8605-4ABC51B9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VLLM Server with Function Calling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02D8D2-7BE5-4297-9EB1-4B0F64CACF2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F7225E4-25EB-4A4C-84AF-CD696DE058B5}"/>
              </a:ext>
            </a:extLst>
          </p:cNvPr>
          <p:cNvSpPr txBox="1"/>
          <p:nvPr/>
        </p:nvSpPr>
        <p:spPr>
          <a:xfrm>
            <a:off x="6546129" y="1442641"/>
            <a:ext cx="4807671" cy="3007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>
                <a:solidFill>
                  <a:srgbClr val="002060"/>
                </a:solidFill>
                <a:ea typeface="微軟正黑體" panose="020B0604030504040204" pitchFamily="34" charset="-120"/>
              </a:rPr>
              <a:t>參數說明 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B050"/>
                </a:solidFill>
                <a:effectLst/>
                <a:ea typeface="微軟正黑體" panose="020B0604030504040204" pitchFamily="34" charset="-120"/>
              </a:rPr>
              <a:t>以下兩個參數影響模型是否塞的進 </a:t>
            </a:r>
            <a:r>
              <a:rPr lang="en-US" altLang="zh-TW" sz="1600" b="1" dirty="0">
                <a:solidFill>
                  <a:srgbClr val="00B050"/>
                </a:solidFill>
                <a:effectLst/>
                <a:ea typeface="微軟正黑體" panose="020B0604030504040204" pitchFamily="34" charset="-120"/>
              </a:rPr>
              <a:t>GPU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effectLst/>
                <a:ea typeface="微軟正黑體" panose="020B0604030504040204" pitchFamily="34" charset="-120"/>
              </a:rPr>
              <a:t>--</a:t>
            </a:r>
            <a:r>
              <a:rPr lang="en-US" altLang="zh-TW" sz="1600" b="1" dirty="0" err="1">
                <a:effectLst/>
                <a:ea typeface="微軟正黑體" panose="020B0604030504040204" pitchFamily="34" charset="-120"/>
              </a:rPr>
              <a:t>gpu</a:t>
            </a:r>
            <a:r>
              <a:rPr lang="en-US" altLang="zh-TW" sz="1600" b="1" dirty="0">
                <a:effectLst/>
                <a:ea typeface="微軟正黑體" panose="020B0604030504040204" pitchFamily="34" charset="-120"/>
              </a:rPr>
              <a:t>-memory-utilization: </a:t>
            </a:r>
            <a:r>
              <a:rPr lang="zh-TW" altLang="en-US" sz="1600" b="0" dirty="0">
                <a:effectLst/>
                <a:ea typeface="微軟正黑體" panose="020B0604030504040204" pitchFamily="34" charset="-120"/>
              </a:rPr>
              <a:t>使用多少比率的 </a:t>
            </a:r>
            <a:r>
              <a:rPr lang="en-US" altLang="zh-TW" sz="1600" b="0" dirty="0">
                <a:effectLst/>
                <a:ea typeface="微軟正黑體" panose="020B0604030504040204" pitchFamily="34" charset="-120"/>
              </a:rPr>
              <a:t>GPU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effectLst/>
                <a:ea typeface="微軟正黑體" panose="020B0604030504040204" pitchFamily="34" charset="-120"/>
              </a:rPr>
              <a:t>--max-model-</a:t>
            </a:r>
            <a:r>
              <a:rPr lang="en-US" altLang="zh-TW" sz="1600" b="1" dirty="0" err="1">
                <a:effectLst/>
                <a:ea typeface="微軟正黑體" panose="020B0604030504040204" pitchFamily="34" charset="-120"/>
              </a:rPr>
              <a:t>len</a:t>
            </a:r>
            <a:r>
              <a:rPr lang="en-US" altLang="zh-TW" sz="1600" b="1" dirty="0">
                <a:effectLst/>
                <a:ea typeface="微軟正黑體" panose="020B0604030504040204" pitchFamily="34" charset="-120"/>
              </a:rPr>
              <a:t>:</a:t>
            </a:r>
            <a:r>
              <a:rPr lang="zh-TW" altLang="en-US" sz="1600" b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b="0" dirty="0" err="1">
                <a:effectLst/>
                <a:ea typeface="微軟正黑體" panose="020B0604030504040204" pitchFamily="34" charset="-120"/>
              </a:rPr>
              <a:t>Input+Output</a:t>
            </a:r>
            <a:r>
              <a:rPr lang="en-US" altLang="zh-TW" sz="1600" b="0" dirty="0">
                <a:effectLst/>
                <a:ea typeface="微軟正黑體" panose="020B0604030504040204" pitchFamily="34" charset="-120"/>
              </a:rPr>
              <a:t> </a:t>
            </a:r>
            <a:r>
              <a:rPr lang="zh-TW" altLang="en-US" sz="1600" b="0" dirty="0">
                <a:effectLst/>
                <a:ea typeface="微軟正黑體" panose="020B0604030504040204" pitchFamily="34" charset="-120"/>
              </a:rPr>
              <a:t>最大 </a:t>
            </a:r>
            <a:r>
              <a:rPr lang="en-US" altLang="zh-TW" sz="1600" b="0" dirty="0">
                <a:effectLst/>
                <a:ea typeface="微軟正黑體" panose="020B0604030504040204" pitchFamily="34" charset="-120"/>
              </a:rPr>
              <a:t>token </a:t>
            </a:r>
            <a:r>
              <a:rPr lang="zh-TW" altLang="en-US" sz="1600" b="0" dirty="0">
                <a:effectLst/>
                <a:ea typeface="微軟正黑體" panose="020B0604030504040204" pitchFamily="34" charset="-120"/>
              </a:rPr>
              <a:t>數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600" b="0" dirty="0">
              <a:effectLst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以下兩個參數一定要設定才能使用 </a:t>
            </a:r>
            <a:r>
              <a:rPr lang="en-US" altLang="zh-TW" sz="16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function calling</a:t>
            </a:r>
            <a:endParaRPr lang="en-US" altLang="zh-TW" sz="1600" b="1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--enable-auto-tool-choice: </a:t>
            </a:r>
            <a:r>
              <a:rPr lang="zh-TW" altLang="en-US" sz="1600" dirty="0">
                <a:ea typeface="微軟正黑體" panose="020B0604030504040204" pitchFamily="34" charset="-120"/>
              </a:rPr>
              <a:t>開啟 </a:t>
            </a:r>
            <a:r>
              <a:rPr lang="en-US" altLang="zh-TW" sz="1600" dirty="0">
                <a:ea typeface="微軟正黑體" panose="020B0604030504040204" pitchFamily="34" charset="-120"/>
              </a:rPr>
              <a:t>function calling </a:t>
            </a:r>
            <a:r>
              <a:rPr lang="zh-TW" altLang="en-US" sz="1600" dirty="0">
                <a:ea typeface="微軟正黑體" panose="020B0604030504040204" pitchFamily="34" charset="-120"/>
              </a:rPr>
              <a:t>功能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--tool-call-parser: </a:t>
            </a:r>
            <a:r>
              <a:rPr lang="zh-TW" altLang="en-US" sz="1600" dirty="0">
                <a:ea typeface="微軟正黑體" panose="020B0604030504040204" pitchFamily="34" charset="-120"/>
              </a:rPr>
              <a:t>設定 </a:t>
            </a:r>
            <a:r>
              <a:rPr lang="en-US" altLang="zh-TW" sz="1600" dirty="0">
                <a:ea typeface="微軟正黑體" panose="020B0604030504040204" pitchFamily="34" charset="-120"/>
              </a:rPr>
              <a:t>tool call parser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9E9AD77-CFF5-4333-87A8-193FC8D91CFC}"/>
              </a:ext>
            </a:extLst>
          </p:cNvPr>
          <p:cNvGrpSpPr/>
          <p:nvPr/>
        </p:nvGrpSpPr>
        <p:grpSpPr>
          <a:xfrm>
            <a:off x="456000" y="1442641"/>
            <a:ext cx="5727260" cy="3972718"/>
            <a:chOff x="456000" y="1282045"/>
            <a:chExt cx="5727260" cy="3972718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7042F8B2-0198-46D7-99BA-89273CF31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000" y="1282045"/>
              <a:ext cx="5727260" cy="3972718"/>
            </a:xfrm>
            <a:prstGeom prst="rect">
              <a:avLst/>
            </a:prstGeom>
          </p:spPr>
        </p:pic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FD0008C3-E0DC-4AAF-BB23-B4913A5B3602}"/>
                </a:ext>
              </a:extLst>
            </p:cNvPr>
            <p:cNvGrpSpPr/>
            <p:nvPr/>
          </p:nvGrpSpPr>
          <p:grpSpPr>
            <a:xfrm>
              <a:off x="456000" y="3147552"/>
              <a:ext cx="3343002" cy="2078930"/>
              <a:chOff x="456000" y="3119271"/>
              <a:chExt cx="3343002" cy="207893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8802BC3-751E-4772-B1B4-B9DB3FEDD563}"/>
                  </a:ext>
                </a:extLst>
              </p:cNvPr>
              <p:cNvSpPr/>
              <p:nvPr/>
            </p:nvSpPr>
            <p:spPr>
              <a:xfrm>
                <a:off x="456000" y="4666266"/>
                <a:ext cx="3126186" cy="53193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42877B8-05A4-484A-ADBC-0A3BE1CBFC76}"/>
                  </a:ext>
                </a:extLst>
              </p:cNvPr>
              <p:cNvSpPr/>
              <p:nvPr/>
            </p:nvSpPr>
            <p:spPr>
              <a:xfrm>
                <a:off x="456000" y="3119271"/>
                <a:ext cx="3343002" cy="53193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FBB43EE6-F26D-41A0-8F51-E52B6A3384B2}"/>
              </a:ext>
            </a:extLst>
          </p:cNvPr>
          <p:cNvSpPr/>
          <p:nvPr/>
        </p:nvSpPr>
        <p:spPr>
          <a:xfrm>
            <a:off x="6546129" y="5219922"/>
            <a:ext cx="4807671" cy="3343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0C09BF-CC67-40B8-A6AB-18B1B6B5AE28}"/>
              </a:ext>
            </a:extLst>
          </p:cNvPr>
          <p:cNvSpPr/>
          <p:nvPr/>
        </p:nvSpPr>
        <p:spPr>
          <a:xfrm>
            <a:off x="6546129" y="5219921"/>
            <a:ext cx="2748700" cy="334311"/>
          </a:xfrm>
          <a:prstGeom prst="rect">
            <a:avLst/>
          </a:prstGeom>
          <a:solidFill>
            <a:srgbClr val="00206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模型本體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06E729-341D-4760-A362-C8BE19F9102B}"/>
              </a:ext>
            </a:extLst>
          </p:cNvPr>
          <p:cNvSpPr/>
          <p:nvPr/>
        </p:nvSpPr>
        <p:spPr>
          <a:xfrm>
            <a:off x="9294829" y="5219921"/>
            <a:ext cx="1791093" cy="334311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KV</a:t>
            </a:r>
            <a:r>
              <a:rPr lang="zh-TW" altLang="en-US" sz="16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solidFill>
                  <a:schemeClr val="bg1"/>
                </a:solidFill>
                <a:ea typeface="微軟正黑體" panose="020B0604030504040204" pitchFamily="34" charset="-120"/>
              </a:rPr>
              <a:t>cache</a:t>
            </a:r>
            <a:endParaRPr lang="zh-TW" altLang="en-US" sz="1600" b="1" dirty="0">
              <a:solidFill>
                <a:schemeClr val="bg1"/>
              </a:solidFill>
              <a:ea typeface="微軟正黑體" panose="020B0604030504040204" pitchFamily="34" charset="-120"/>
            </a:endParaRPr>
          </a:p>
        </p:txBody>
      </p:sp>
      <p:sp>
        <p:nvSpPr>
          <p:cNvPr id="18" name="右大括弧 17">
            <a:extLst>
              <a:ext uri="{FF2B5EF4-FFF2-40B4-BE49-F238E27FC236}">
                <a16:creationId xmlns:a16="http://schemas.microsoft.com/office/drawing/2014/main" id="{FA5976FD-EB4F-433A-AC28-27D81CE00570}"/>
              </a:ext>
            </a:extLst>
          </p:cNvPr>
          <p:cNvSpPr/>
          <p:nvPr/>
        </p:nvSpPr>
        <p:spPr>
          <a:xfrm rot="5400000">
            <a:off x="8713869" y="3434861"/>
            <a:ext cx="204312" cy="4539793"/>
          </a:xfrm>
          <a:prstGeom prst="rightBrace">
            <a:avLst>
              <a:gd name="adj1" fmla="val 8333"/>
              <a:gd name="adj2" fmla="val 5020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4CA15B6-F507-4E0A-B567-A2B08EA50096}"/>
              </a:ext>
            </a:extLst>
          </p:cNvPr>
          <p:cNvSpPr txBox="1"/>
          <p:nvPr/>
        </p:nvSpPr>
        <p:spPr>
          <a:xfrm>
            <a:off x="8374558" y="4780204"/>
            <a:ext cx="3361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 ≧ </a:t>
            </a:r>
            <a:r>
              <a:rPr lang="en-US" altLang="zh-TW" sz="16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max-model-</a:t>
            </a:r>
            <a:r>
              <a:rPr lang="en-US" altLang="zh-TW" sz="1600" b="1" dirty="0" err="1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len</a:t>
            </a:r>
            <a:r>
              <a:rPr lang="en-US" altLang="zh-TW" sz="16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6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所需的大小</a:t>
            </a:r>
            <a:endParaRPr lang="en-US" altLang="zh-TW" sz="1600" b="1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A7BDE7F-2ECF-4690-BEC4-AFFBD7CAC426}"/>
              </a:ext>
            </a:extLst>
          </p:cNvPr>
          <p:cNvSpPr txBox="1"/>
          <p:nvPr/>
        </p:nvSpPr>
        <p:spPr>
          <a:xfrm>
            <a:off x="8352149" y="5909789"/>
            <a:ext cx="942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佔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95%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FFBB01E-AF2C-4AD7-9EFA-3B129F6D3EA6}"/>
              </a:ext>
            </a:extLst>
          </p:cNvPr>
          <p:cNvSpPr txBox="1"/>
          <p:nvPr/>
        </p:nvSpPr>
        <p:spPr>
          <a:xfrm>
            <a:off x="11264660" y="5215678"/>
            <a:ext cx="942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VRAM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698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57714F-0608-4728-A70C-CCB2D5D5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Request to VLLM Server 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70E256-AD00-4B6E-8728-AB4B906ECC0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01E37E-30A1-42BE-B66B-06391380A2B7}"/>
              </a:ext>
            </a:extLst>
          </p:cNvPr>
          <p:cNvSpPr txBox="1"/>
          <p:nvPr/>
        </p:nvSpPr>
        <p:spPr>
          <a:xfrm>
            <a:off x="456000" y="1085125"/>
            <a:ext cx="6868628" cy="1530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VLLM server </a:t>
            </a:r>
            <a:r>
              <a:rPr lang="zh-TW" altLang="en-US" sz="1600" b="1" dirty="0">
                <a:ea typeface="微軟正黑體" panose="020B0604030504040204" pitchFamily="34" charset="-120"/>
              </a:rPr>
              <a:t>在啟動時，就會包上 </a:t>
            </a:r>
            <a:r>
              <a:rPr lang="en-US" altLang="zh-TW" sz="1600" b="1" dirty="0">
                <a:ea typeface="微軟正黑體" panose="020B0604030504040204" pitchFamily="34" charset="-120"/>
              </a:rPr>
              <a:t>API</a:t>
            </a:r>
            <a:r>
              <a:rPr lang="zh-TW" altLang="en-US" sz="1600" b="1" dirty="0">
                <a:ea typeface="微軟正黑體" panose="020B0604030504040204" pitchFamily="34" charset="-120"/>
              </a:rPr>
              <a:t>，並定義好每個功能的 </a:t>
            </a:r>
            <a:r>
              <a:rPr lang="en-US" altLang="zh-TW" sz="1600" b="1" dirty="0">
                <a:ea typeface="微軟正黑體" panose="020B0604030504040204" pitchFamily="34" charset="-120"/>
              </a:rPr>
              <a:t>URL</a:t>
            </a:r>
            <a:r>
              <a:rPr lang="zh-TW" altLang="en-US" sz="1600" b="1" dirty="0"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ea typeface="微軟正黑體" panose="020B0604030504040204" pitchFamily="34" charset="-120"/>
              </a:rPr>
              <a:t>&amp;</a:t>
            </a:r>
            <a:r>
              <a:rPr lang="zh-TW" altLang="en-US" sz="1600" b="1" dirty="0">
                <a:ea typeface="微軟正黑體" panose="020B0604030504040204" pitchFamily="34" charset="-120"/>
              </a:rPr>
              <a:t> </a:t>
            </a:r>
            <a:r>
              <a:rPr lang="en-US" altLang="zh-TW" sz="1600" b="1" dirty="0">
                <a:ea typeface="微軟正黑體" panose="020B0604030504040204" pitchFamily="34" charset="-120"/>
              </a:rPr>
              <a:t>Methods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URL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en-US" altLang="zh-TW" sz="1600" b="1" i="0" dirty="0">
                <a:effectLst/>
                <a:latin typeface="Inter"/>
              </a:rPr>
              <a:t>http://</a:t>
            </a:r>
            <a:r>
              <a:rPr lang="en-US" altLang="zh-TW" sz="1600" b="1" i="0" dirty="0">
                <a:solidFill>
                  <a:schemeClr val="accent2"/>
                </a:solidFill>
                <a:effectLst/>
                <a:latin typeface="Inter"/>
              </a:rPr>
              <a:t>{server_ip}</a:t>
            </a:r>
            <a:r>
              <a:rPr lang="en-US" altLang="zh-TW" sz="1600" b="1" i="0" dirty="0">
                <a:solidFill>
                  <a:srgbClr val="FF0000"/>
                </a:solidFill>
                <a:effectLst/>
                <a:latin typeface="Inter"/>
              </a:rPr>
              <a:t>:</a:t>
            </a:r>
            <a:r>
              <a:rPr lang="en-US" altLang="zh-TW" sz="1600" b="1" i="0" dirty="0">
                <a:solidFill>
                  <a:srgbClr val="0070C0"/>
                </a:solidFill>
                <a:effectLst/>
                <a:latin typeface="Inter"/>
              </a:rPr>
              <a:t>{port}</a:t>
            </a:r>
            <a:r>
              <a:rPr lang="en-US" altLang="zh-TW" sz="1600" b="1" i="0" dirty="0">
                <a:solidFill>
                  <a:srgbClr val="00B050"/>
                </a:solidFill>
                <a:effectLst/>
                <a:latin typeface="Inter"/>
              </a:rPr>
              <a:t>/v1/chat/completions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latin typeface="Inter"/>
              </a:rPr>
              <a:t>Methods</a:t>
            </a:r>
            <a:r>
              <a:rPr lang="zh-TW" altLang="en-US" sz="1600" b="1" dirty="0">
                <a:latin typeface="Inter"/>
              </a:rPr>
              <a:t>：</a:t>
            </a:r>
            <a:r>
              <a:rPr lang="en-US" altLang="zh-TW" sz="1600" dirty="0">
                <a:latin typeface="Inter"/>
              </a:rPr>
              <a:t>POST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effectLst/>
                <a:latin typeface="Inter"/>
              </a:rPr>
              <a:t>Body</a:t>
            </a:r>
            <a:r>
              <a:rPr lang="zh-TW" altLang="en-US" sz="1600" b="1" i="0" dirty="0">
                <a:effectLst/>
                <a:latin typeface="Inter"/>
              </a:rPr>
              <a:t>：</a:t>
            </a:r>
            <a:r>
              <a:rPr lang="en-US" altLang="zh-TW" sz="1600" i="0" dirty="0">
                <a:effectLst/>
                <a:latin typeface="Inter"/>
              </a:rPr>
              <a:t>JSON</a:t>
            </a:r>
            <a:r>
              <a:rPr lang="zh-TW" altLang="en-US" sz="1600" i="0" dirty="0">
                <a:effectLst/>
                <a:latin typeface="Inter"/>
              </a:rPr>
              <a:t> </a:t>
            </a:r>
            <a:r>
              <a:rPr lang="en-US" altLang="zh-TW" sz="1600" i="0" dirty="0">
                <a:effectLst/>
                <a:latin typeface="Inter"/>
              </a:rPr>
              <a:t>format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19469F79-906E-45DB-93AF-636A0FD9BDD4}"/>
              </a:ext>
            </a:extLst>
          </p:cNvPr>
          <p:cNvGrpSpPr/>
          <p:nvPr/>
        </p:nvGrpSpPr>
        <p:grpSpPr>
          <a:xfrm>
            <a:off x="540842" y="2721376"/>
            <a:ext cx="6783786" cy="3555772"/>
            <a:chOff x="456000" y="2678946"/>
            <a:chExt cx="7041823" cy="3555772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227FE07C-1CBA-4B01-9FA0-D764604D7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000" y="2678946"/>
              <a:ext cx="7041823" cy="3555772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939F249-65CF-4D0C-BF9B-83F79AF7A7DF}"/>
                </a:ext>
              </a:extLst>
            </p:cNvPr>
            <p:cNvSpPr/>
            <p:nvPr/>
          </p:nvSpPr>
          <p:spPr>
            <a:xfrm>
              <a:off x="4706165" y="2782365"/>
              <a:ext cx="2524194" cy="21536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14E416FD-EE34-4838-881D-8771253C0592}"/>
              </a:ext>
            </a:extLst>
          </p:cNvPr>
          <p:cNvSpPr txBox="1"/>
          <p:nvPr/>
        </p:nvSpPr>
        <p:spPr>
          <a:xfrm>
            <a:off x="7418895" y="707857"/>
            <a:ext cx="4634475" cy="18992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URL </a:t>
            </a:r>
            <a:r>
              <a:rPr lang="zh-TW" altLang="en-US" sz="1600" b="1" i="0" dirty="0">
                <a:solidFill>
                  <a:srgbClr val="002060"/>
                </a:solidFill>
                <a:effectLst/>
                <a:ea typeface="微軟正黑體" panose="020B0604030504040204" pitchFamily="34" charset="-120"/>
              </a:rPr>
              <a:t>說明</a:t>
            </a:r>
            <a:endParaRPr lang="en-US" altLang="zh-TW" sz="1600" b="1" i="0" dirty="0">
              <a:solidFill>
                <a:srgbClr val="002060"/>
              </a:solidFill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{</a:t>
            </a:r>
            <a:r>
              <a:rPr lang="en-US" altLang="zh-TW" sz="1600" b="1" i="0" dirty="0" err="1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server_ip</a:t>
            </a:r>
            <a:r>
              <a:rPr lang="en-US" altLang="zh-TW" sz="1600" b="1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}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：</a:t>
            </a:r>
            <a:r>
              <a:rPr lang="en-US" altLang="zh-TW" sz="1600" i="0" dirty="0">
                <a:effectLst/>
                <a:ea typeface="微軟正黑體" panose="020B0604030504040204" pitchFamily="34" charset="-120"/>
              </a:rPr>
              <a:t>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換成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VLLM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server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所在的 </a:t>
            </a:r>
            <a:r>
              <a:rPr lang="en-US" altLang="zh-TW" sz="1600" dirty="0">
                <a:ea typeface="微軟正黑體" panose="020B0604030504040204" pitchFamily="34" charset="-120"/>
              </a:rPr>
              <a:t>server IP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rgbClr val="0070C0"/>
                </a:solidFill>
                <a:effectLst/>
                <a:latin typeface="Inter"/>
              </a:rPr>
              <a:t>{port}</a:t>
            </a:r>
            <a:r>
              <a:rPr lang="zh-TW" altLang="en-US" sz="1600" dirty="0">
                <a:ea typeface="微軟正黑體" panose="020B0604030504040204" pitchFamily="34" charset="-120"/>
              </a:rPr>
              <a:t>：啟動指令中有設定的 </a:t>
            </a:r>
            <a:r>
              <a:rPr lang="en-US" altLang="zh-TW" sz="1600" dirty="0">
                <a:ea typeface="微軟正黑體" panose="020B0604030504040204" pitchFamily="34" charset="-120"/>
              </a:rPr>
              <a:t>port (18312)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i="0" dirty="0">
                <a:solidFill>
                  <a:srgbClr val="00B050"/>
                </a:solidFill>
                <a:effectLst/>
                <a:ea typeface="微軟正黑體" panose="020B0604030504040204" pitchFamily="34" charset="-120"/>
              </a:rPr>
              <a:t>/v1/chat/completions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：我們所要使用的功能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注意 </a:t>
            </a:r>
            <a:r>
              <a:rPr lang="en-US" altLang="zh-TW" sz="1600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{</a:t>
            </a:r>
            <a:r>
              <a:rPr lang="en-US" altLang="zh-TW" sz="1600" i="0" dirty="0" err="1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server_ip</a:t>
            </a:r>
            <a:r>
              <a:rPr lang="en-US" altLang="zh-TW" sz="1600" i="0" dirty="0">
                <a:solidFill>
                  <a:schemeClr val="accent2"/>
                </a:solidFill>
                <a:effectLst/>
                <a:ea typeface="微軟正黑體" panose="020B0604030504040204" pitchFamily="34" charset="-120"/>
              </a:rPr>
              <a:t>}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和 </a:t>
            </a:r>
            <a:r>
              <a:rPr lang="en-US" altLang="zh-TW" sz="1600" i="0" dirty="0">
                <a:solidFill>
                  <a:schemeClr val="accent1"/>
                </a:solidFill>
                <a:effectLst/>
                <a:ea typeface="微軟正黑體" panose="020B0604030504040204" pitchFamily="34" charset="-120"/>
              </a:rPr>
              <a:t>port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 中間一定要</a:t>
            </a:r>
            <a:r>
              <a:rPr lang="zh-TW" altLang="en-US" sz="1600" dirty="0">
                <a:ea typeface="微軟正黑體" panose="020B0604030504040204" pitchFamily="34" charset="-120"/>
              </a:rPr>
              <a:t>用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 </a:t>
            </a:r>
            <a:r>
              <a:rPr lang="en-US" altLang="zh-TW" sz="1600" b="1" i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:</a:t>
            </a:r>
            <a:r>
              <a:rPr lang="zh-TW" altLang="en-US" sz="1600" i="0" dirty="0">
                <a:effectLst/>
                <a:ea typeface="微軟正黑體" panose="020B0604030504040204" pitchFamily="34" charset="-120"/>
              </a:rPr>
              <a:t> 分隔 </a:t>
            </a:r>
            <a:endParaRPr lang="zh-TW" altLang="en-US" sz="1600" dirty="0">
              <a:ea typeface="微軟正黑體" panose="020B0604030504040204" pitchFamily="34" charset="-120"/>
            </a:endParaRP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A92B87FB-B84D-43F3-B021-1BB98C0A5353}"/>
              </a:ext>
            </a:extLst>
          </p:cNvPr>
          <p:cNvGrpSpPr/>
          <p:nvPr/>
        </p:nvGrpSpPr>
        <p:grpSpPr>
          <a:xfrm>
            <a:off x="7418895" y="3040155"/>
            <a:ext cx="4634474" cy="869449"/>
            <a:chOff x="7418895" y="3040155"/>
            <a:chExt cx="4634474" cy="869449"/>
          </a:xfrm>
        </p:grpSpPr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1DC15E60-8CCD-4239-A296-D5099C750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8895" y="3040155"/>
              <a:ext cx="4634474" cy="869449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6C3F113-F6F7-4FDF-8F7D-6367DE2A396E}"/>
                </a:ext>
              </a:extLst>
            </p:cNvPr>
            <p:cNvSpPr/>
            <p:nvPr/>
          </p:nvSpPr>
          <p:spPr>
            <a:xfrm>
              <a:off x="7418895" y="3509673"/>
              <a:ext cx="716437" cy="19506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2117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38C61-2991-457D-828D-F565F3C5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6AF255-CECA-4CD8-A56C-38964535498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72FA157-9087-4403-A68A-4A4769E20238}"/>
              </a:ext>
            </a:extLst>
          </p:cNvPr>
          <p:cNvSpPr txBox="1"/>
          <p:nvPr/>
        </p:nvSpPr>
        <p:spPr>
          <a:xfrm>
            <a:off x="6968559" y="1095594"/>
            <a:ext cx="5060043" cy="48538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作業內容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成功架設具 </a:t>
            </a:r>
            <a:r>
              <a:rPr lang="en-US" altLang="zh-TW" sz="1600" dirty="0">
                <a:ea typeface="微軟正黑體" panose="020B0604030504040204" pitchFamily="34" charset="-120"/>
              </a:rPr>
              <a:t>function calling </a:t>
            </a:r>
            <a:r>
              <a:rPr lang="zh-TW" altLang="en-US" sz="1600" dirty="0">
                <a:ea typeface="微軟正黑體" panose="020B0604030504040204" pitchFamily="34" charset="-120"/>
              </a:rPr>
              <a:t>功能的模型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en-US" altLang="zh-TW" sz="1600" dirty="0" err="1">
                <a:ea typeface="微軟正黑體" panose="020B0604030504040204" pitchFamily="34" charset="-120"/>
              </a:rPr>
              <a:t>xlam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VLLM </a:t>
            </a:r>
            <a:r>
              <a:rPr lang="zh-TW" altLang="en-US" sz="1600" dirty="0">
                <a:ea typeface="微軟正黑體" panose="020B0604030504040204" pitchFamily="34" charset="-120"/>
              </a:rPr>
              <a:t>指令在 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vllm.sh</a:t>
            </a:r>
            <a:r>
              <a:rPr lang="zh-TW" altLang="en-US" sz="1600" dirty="0">
                <a:ea typeface="微軟正黑體" panose="020B0604030504040204" pitchFamily="34" charset="-120"/>
              </a:rPr>
              <a:t>，請將第二行的 </a:t>
            </a:r>
            <a:r>
              <a:rPr lang="en-US" altLang="zh-TW" sz="1600" b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/path/to/model</a:t>
            </a:r>
            <a:r>
              <a:rPr lang="zh-TW" altLang="en-US" sz="1600" b="0" dirty="0">
                <a:solidFill>
                  <a:srgbClr val="FF0000"/>
                </a:solidFill>
                <a:effectLst/>
                <a:ea typeface="微軟正黑體" panose="020B0604030504040204" pitchFamily="34" charset="-120"/>
              </a:rPr>
              <a:t> </a:t>
            </a:r>
            <a:r>
              <a:rPr lang="zh-TW" altLang="en-US" sz="1600" b="0" dirty="0">
                <a:effectLst/>
                <a:ea typeface="微軟正黑體" panose="020B0604030504040204" pitchFamily="34" charset="-120"/>
              </a:rPr>
              <a:t>改成實際放模型的路徑，並直接執行 </a:t>
            </a:r>
            <a:r>
              <a:rPr lang="en-US" altLang="zh-TW" sz="1600" b="0" dirty="0">
                <a:effectLst/>
                <a:ea typeface="微軟正黑體" panose="020B0604030504040204" pitchFamily="34" charset="-120"/>
              </a:rPr>
              <a:t>bash vllm.sh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使用 </a:t>
            </a:r>
            <a:r>
              <a:rPr lang="en-US" altLang="zh-TW" sz="1600" dirty="0">
                <a:ea typeface="微軟正黑體" panose="020B0604030504040204" pitchFamily="34" charset="-120"/>
              </a:rPr>
              <a:t>Postman </a:t>
            </a:r>
            <a:r>
              <a:rPr lang="zh-TW" altLang="en-US" sz="1600" dirty="0">
                <a:ea typeface="微軟正黑體" panose="020B0604030504040204" pitchFamily="34" charset="-120"/>
              </a:rPr>
              <a:t>送 </a:t>
            </a:r>
            <a:r>
              <a:rPr lang="en-US" altLang="zh-TW" sz="1600" dirty="0">
                <a:ea typeface="微軟正黑體" panose="020B0604030504040204" pitchFamily="34" charset="-120"/>
              </a:rPr>
              <a:t>request </a:t>
            </a:r>
            <a:r>
              <a:rPr lang="zh-TW" altLang="en-US" sz="1600" dirty="0">
                <a:ea typeface="微軟正黑體" panose="020B0604030504040204" pitchFamily="34" charset="-120"/>
              </a:rPr>
              <a:t>給模型，得到包含 </a:t>
            </a:r>
            <a:r>
              <a:rPr lang="en-US" altLang="zh-TW" sz="1600" dirty="0" err="1">
                <a:ea typeface="微軟正黑體" panose="020B0604030504040204" pitchFamily="34" charset="-120"/>
              </a:rPr>
              <a:t>tool_calls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的 </a:t>
            </a:r>
            <a:r>
              <a:rPr lang="en-US" altLang="zh-TW" sz="1600" dirty="0">
                <a:ea typeface="微軟正黑體" panose="020B0604030504040204" pitchFamily="34" charset="-120"/>
              </a:rPr>
              <a:t>response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ea typeface="微軟正黑體" panose="020B0604030504040204" pitchFamily="34" charset="-120"/>
              </a:rPr>
              <a:t>Request </a:t>
            </a:r>
            <a:r>
              <a:rPr lang="zh-TW" altLang="en-US" sz="1600" dirty="0">
                <a:ea typeface="微軟正黑體" panose="020B0604030504040204" pitchFamily="34" charset="-120"/>
              </a:rPr>
              <a:t>內容在 </a:t>
            </a:r>
            <a:r>
              <a:rPr lang="en-US" altLang="zh-TW" sz="1600" b="1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llm_request.json</a:t>
            </a:r>
            <a:r>
              <a:rPr lang="zh-TW" altLang="en-US" sz="1600" dirty="0">
                <a:ea typeface="微軟正黑體" panose="020B0604030504040204" pitchFamily="34" charset="-120"/>
              </a:rPr>
              <a:t>，</a:t>
            </a:r>
            <a:r>
              <a:rPr lang="en-US" altLang="zh-TW" sz="1600" dirty="0">
                <a:ea typeface="微軟正黑體" panose="020B0604030504040204" pitchFamily="34" charset="-120"/>
              </a:rPr>
              <a:t>user messages </a:t>
            </a:r>
            <a:r>
              <a:rPr lang="zh-TW" altLang="en-US" sz="1600" dirty="0">
                <a:ea typeface="微軟正黑體" panose="020B0604030504040204" pitchFamily="34" charset="-120"/>
              </a:rPr>
              <a:t>請自行填入，可以看工具描述思考什麼問題會觸發 </a:t>
            </a:r>
            <a:r>
              <a:rPr lang="en-US" altLang="zh-TW" sz="1600" dirty="0">
                <a:ea typeface="微軟正黑體" panose="020B0604030504040204" pitchFamily="34" charset="-120"/>
              </a:rPr>
              <a:t>function calling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將 </a:t>
            </a:r>
            <a:r>
              <a:rPr lang="en-US" altLang="zh-TW" sz="1600" dirty="0">
                <a:ea typeface="微軟正黑體" panose="020B0604030504040204" pitchFamily="34" charset="-120"/>
              </a:rPr>
              <a:t>Postman </a:t>
            </a:r>
            <a:r>
              <a:rPr lang="zh-TW" altLang="en-US" sz="1600" dirty="0">
                <a:ea typeface="微軟正黑體" panose="020B0604030504040204" pitchFamily="34" charset="-120"/>
              </a:rPr>
              <a:t>畫面截圖上傳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可截多張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，截圖需包含：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dirty="0">
                <a:ea typeface="微軟正黑體" panose="020B0604030504040204" pitchFamily="34" charset="-120"/>
              </a:rPr>
              <a:t>Request URL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dirty="0">
                <a:ea typeface="微軟正黑體" panose="020B0604030504040204" pitchFamily="34" charset="-120"/>
              </a:rPr>
              <a:t>Request </a:t>
            </a:r>
            <a:r>
              <a:rPr lang="zh-TW" altLang="en-US" sz="1600" dirty="0">
                <a:ea typeface="微軟正黑體" panose="020B0604030504040204" pitchFamily="34" charset="-120"/>
              </a:rPr>
              <a:t>中的 </a:t>
            </a:r>
            <a:r>
              <a:rPr lang="en-US" altLang="zh-TW" sz="1600" dirty="0">
                <a:ea typeface="微軟正黑體" panose="020B0604030504040204" pitchFamily="34" charset="-120"/>
              </a:rPr>
              <a:t>messages </a:t>
            </a:r>
            <a:r>
              <a:rPr lang="zh-TW" altLang="en-US" sz="1600" dirty="0">
                <a:ea typeface="微軟正黑體" panose="020B0604030504040204" pitchFamily="34" charset="-120"/>
              </a:rPr>
              <a:t>內容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1600" dirty="0">
                <a:ea typeface="微軟正黑體" panose="020B0604030504040204" pitchFamily="34" charset="-120"/>
              </a:rPr>
              <a:t>Response </a:t>
            </a:r>
            <a:r>
              <a:rPr lang="zh-TW" altLang="en-US" sz="1600" dirty="0">
                <a:ea typeface="微軟正黑體" panose="020B0604030504040204" pitchFamily="34" charset="-120"/>
              </a:rPr>
              <a:t>中的 </a:t>
            </a:r>
            <a:r>
              <a:rPr lang="en-US" altLang="zh-TW" sz="1600" dirty="0" err="1">
                <a:ea typeface="微軟正黑體" panose="020B0604030504040204" pitchFamily="34" charset="-120"/>
              </a:rPr>
              <a:t>tool_calls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A3258D-A803-4E6C-9F3B-C6B5846889FB}"/>
              </a:ext>
            </a:extLst>
          </p:cNvPr>
          <p:cNvGrpSpPr/>
          <p:nvPr/>
        </p:nvGrpSpPr>
        <p:grpSpPr>
          <a:xfrm>
            <a:off x="456000" y="1095594"/>
            <a:ext cx="6292268" cy="5062933"/>
            <a:chOff x="542165" y="1073340"/>
            <a:chExt cx="6292268" cy="506293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43EDDA8-1EB4-4CC3-B2A5-C7EAF72729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9439"/>
            <a:stretch/>
          </p:blipFill>
          <p:spPr>
            <a:xfrm>
              <a:off x="542165" y="1073340"/>
              <a:ext cx="6292268" cy="5062933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310B64C-670D-4F9A-B8CE-EDAF0FAEAFD2}"/>
                </a:ext>
              </a:extLst>
            </p:cNvPr>
            <p:cNvSpPr/>
            <p:nvPr/>
          </p:nvSpPr>
          <p:spPr>
            <a:xfrm>
              <a:off x="1474095" y="1433213"/>
              <a:ext cx="1862994" cy="4710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EF5EA64-4DCB-4E1E-B323-668FF93801DD}"/>
                </a:ext>
              </a:extLst>
            </p:cNvPr>
            <p:cNvSpPr/>
            <p:nvPr/>
          </p:nvSpPr>
          <p:spPr>
            <a:xfrm>
              <a:off x="1153582" y="2897065"/>
              <a:ext cx="3182747" cy="13261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7CD2D86-DE4C-4EB7-98D8-478F784ECBC6}"/>
                </a:ext>
              </a:extLst>
            </p:cNvPr>
            <p:cNvSpPr/>
            <p:nvPr/>
          </p:nvSpPr>
          <p:spPr>
            <a:xfrm>
              <a:off x="1843310" y="4933516"/>
              <a:ext cx="4954572" cy="120275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C97D255-00E1-46E1-996F-1F55B77FEDB0}"/>
                </a:ext>
              </a:extLst>
            </p:cNvPr>
            <p:cNvSpPr txBox="1"/>
            <p:nvPr/>
          </p:nvSpPr>
          <p:spPr>
            <a:xfrm>
              <a:off x="2993134" y="1102770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1.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7467523-B611-4AE6-8728-40AF29782757}"/>
                </a:ext>
              </a:extLst>
            </p:cNvPr>
            <p:cNvSpPr txBox="1"/>
            <p:nvPr/>
          </p:nvSpPr>
          <p:spPr>
            <a:xfrm>
              <a:off x="4399051" y="2897065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2.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41C29E5-D9A4-4CB5-BC29-EE278193993F}"/>
                </a:ext>
              </a:extLst>
            </p:cNvPr>
            <p:cNvSpPr txBox="1"/>
            <p:nvPr/>
          </p:nvSpPr>
          <p:spPr>
            <a:xfrm>
              <a:off x="5565535" y="4594962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3.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4A030323-E28B-4FC4-B761-3653EF7CAD3B}"/>
              </a:ext>
            </a:extLst>
          </p:cNvPr>
          <p:cNvGrpSpPr/>
          <p:nvPr/>
        </p:nvGrpSpPr>
        <p:grpSpPr>
          <a:xfrm>
            <a:off x="5874593" y="207970"/>
            <a:ext cx="6154009" cy="695423"/>
            <a:chOff x="5892971" y="183393"/>
            <a:chExt cx="6154009" cy="69542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FAD42A5F-2DFD-4F39-B0A7-3825AD649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2971" y="183393"/>
              <a:ext cx="6154009" cy="695422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8255999F-DE76-4E64-A16C-62661C47E77A}"/>
                </a:ext>
              </a:extLst>
            </p:cNvPr>
            <p:cNvSpPr/>
            <p:nvPr/>
          </p:nvSpPr>
          <p:spPr>
            <a:xfrm>
              <a:off x="8676421" y="510970"/>
              <a:ext cx="1598795" cy="36784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53616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48559A-AB4A-49F3-AE38-0C35173E8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5000" b="1" dirty="0">
                <a:solidFill>
                  <a:srgbClr val="002060"/>
                </a:solidFill>
                <a:latin typeface="+mn-lt"/>
                <a:ea typeface="微軟正黑體" panose="020B0604030504040204" pitchFamily="34" charset="-120"/>
              </a:rPr>
              <a:t>Lab 3: MCP</a:t>
            </a:r>
            <a:r>
              <a:rPr lang="zh-TW" altLang="en-US" sz="5000" b="1" dirty="0">
                <a:solidFill>
                  <a:srgbClr val="002060"/>
                </a:solidFill>
                <a:latin typeface="+mn-lt"/>
                <a:ea typeface="微軟正黑體" panose="020B0604030504040204" pitchFamily="34" charset="-120"/>
              </a:rPr>
              <a:t> 實際應用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6A754C-D017-4B3D-90C9-F17E42B30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0305" y="3868181"/>
            <a:ext cx="9144000" cy="536329"/>
          </a:xfrm>
        </p:spPr>
        <p:txBody>
          <a:bodyPr>
            <a:normAutofit/>
          </a:bodyPr>
          <a:lstStyle/>
          <a:p>
            <a:r>
              <a:rPr lang="zh-TW" altLang="en-US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講師：吳映萱 </a:t>
            </a:r>
            <a:r>
              <a:rPr lang="en-US" altLang="zh-TW" sz="22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Sarah</a:t>
            </a:r>
            <a:endParaRPr lang="zh-TW" altLang="en-US" sz="2200" b="1" dirty="0">
              <a:solidFill>
                <a:schemeClr val="accent2"/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260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9A5EC0-A521-4695-B5ED-D557EDFC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1 - </a:t>
            </a:r>
            <a:r>
              <a:rPr lang="zh-TW" altLang="en-US" dirty="0"/>
              <a:t>安裝 </a:t>
            </a:r>
            <a:r>
              <a:rPr lang="en-US" altLang="zh-TW" dirty="0"/>
              <a:t>Node.js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5F8426-2021-4F6E-B7D8-D5712505DA4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D817ABA-6072-448B-B4ED-9A58E000ECFB}"/>
              </a:ext>
            </a:extLst>
          </p:cNvPr>
          <p:cNvSpPr txBox="1"/>
          <p:nvPr/>
        </p:nvSpPr>
        <p:spPr>
          <a:xfrm>
            <a:off x="6674178" y="1445630"/>
            <a:ext cx="5090475" cy="1900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安裝步驟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進入官網：</a:t>
            </a:r>
            <a:r>
              <a:rPr lang="zh-TW" altLang="en-US" sz="1600" dirty="0">
                <a:ea typeface="微軟正黑體" panose="020B0604030504040204" pitchFamily="34" charset="-120"/>
                <a:hlinkClick r:id="rId2"/>
              </a:rPr>
              <a:t>https://nodejs.org/zh-tw/download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 </a:t>
            </a:r>
            <a:r>
              <a:rPr lang="en-US" altLang="zh-TW" sz="1600" b="1" dirty="0">
                <a:ea typeface="微軟正黑體" panose="020B0604030504040204" pitchFamily="34" charset="-120"/>
              </a:rPr>
              <a:t>Windows </a:t>
            </a:r>
            <a:r>
              <a:rPr lang="zh-TW" altLang="en-US" sz="1600" b="1" dirty="0">
                <a:ea typeface="微軟正黑體" panose="020B0604030504040204" pitchFamily="34" charset="-120"/>
              </a:rPr>
              <a:t>安裝程式 </a:t>
            </a:r>
            <a:r>
              <a:rPr lang="en-US" altLang="zh-TW" sz="1600" b="1" dirty="0">
                <a:ea typeface="微軟正黑體" panose="020B0604030504040204" pitchFamily="34" charset="-120"/>
              </a:rPr>
              <a:t>(.</a:t>
            </a:r>
            <a:r>
              <a:rPr lang="en-US" altLang="zh-TW" sz="1600" b="1" dirty="0" err="1">
                <a:ea typeface="微軟正黑體" panose="020B0604030504040204" pitchFamily="34" charset="-120"/>
              </a:rPr>
              <a:t>msi</a:t>
            </a:r>
            <a:r>
              <a:rPr lang="en-US" altLang="zh-TW" sz="1600" b="1" dirty="0">
                <a:ea typeface="微軟正黑體" panose="020B0604030504040204" pitchFamily="34" charset="-120"/>
              </a:rPr>
              <a:t>)</a:t>
            </a:r>
            <a:r>
              <a:rPr lang="zh-TW" altLang="en-US" sz="1600" dirty="0">
                <a:ea typeface="微軟正黑體" panose="020B0604030504040204" pitchFamily="34" charset="-120"/>
              </a:rPr>
              <a:t>，會下載安裝檔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其他地方都不需要動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雙擊下載好的 </a:t>
            </a:r>
            <a:r>
              <a:rPr lang="en-US" altLang="zh-TW" sz="1600" dirty="0">
                <a:ea typeface="微軟正黑體" panose="020B0604030504040204" pitchFamily="34" charset="-120"/>
              </a:rPr>
              <a:t>.</a:t>
            </a:r>
            <a:r>
              <a:rPr lang="en-US" altLang="zh-TW" sz="1600" dirty="0" err="1">
                <a:ea typeface="微軟正黑體" panose="020B0604030504040204" pitchFamily="34" charset="-120"/>
              </a:rPr>
              <a:t>msi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檔，開始安裝設定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續下頁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59F50EBC-A147-4B4C-9F02-29CBA8BF335C}"/>
              </a:ext>
            </a:extLst>
          </p:cNvPr>
          <p:cNvGrpSpPr/>
          <p:nvPr/>
        </p:nvGrpSpPr>
        <p:grpSpPr>
          <a:xfrm>
            <a:off x="540841" y="1247667"/>
            <a:ext cx="5746837" cy="4568083"/>
            <a:chOff x="456000" y="1361377"/>
            <a:chExt cx="5917825" cy="479432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6546D93A-EE9C-427B-AE8E-7FC5BDDBD2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5687"/>
            <a:stretch/>
          </p:blipFill>
          <p:spPr>
            <a:xfrm>
              <a:off x="456000" y="1361377"/>
              <a:ext cx="5917825" cy="4794326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521BD8C-AF83-4542-B42C-24E86DA99C59}"/>
                </a:ext>
              </a:extLst>
            </p:cNvPr>
            <p:cNvSpPr/>
            <p:nvPr/>
          </p:nvSpPr>
          <p:spPr>
            <a:xfrm>
              <a:off x="565607" y="5712643"/>
              <a:ext cx="1772239" cy="44306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3097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6BA68D-9545-4EFC-8089-BF7CCA33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1 - </a:t>
            </a:r>
            <a:r>
              <a:rPr lang="zh-TW" altLang="en-US" dirty="0"/>
              <a:t>安裝 </a:t>
            </a:r>
            <a:r>
              <a:rPr lang="en-US" altLang="zh-TW" dirty="0"/>
              <a:t>Node.js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EF26C10-EECD-40A0-835B-82453162E6E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2668438-B59A-41B9-964A-E53B81DCF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00" y="2264885"/>
            <a:ext cx="3351123" cy="263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0BAEA6C-6E97-4BAD-9950-F599DB226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458" y="2237547"/>
            <a:ext cx="3657747" cy="283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98F7513-69F5-4F92-AB53-57EF86D49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541" y="2237547"/>
            <a:ext cx="3657748" cy="286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A3E5330-D4EB-4922-84A3-C0163818C22F}"/>
              </a:ext>
            </a:extLst>
          </p:cNvPr>
          <p:cNvSpPr txBox="1"/>
          <p:nvPr/>
        </p:nvSpPr>
        <p:spPr>
          <a:xfrm>
            <a:off x="456000" y="1617344"/>
            <a:ext cx="2045616" cy="4234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4.</a:t>
            </a:r>
            <a:r>
              <a:rPr lang="zh-TW" altLang="en-US" sz="1600" b="1" dirty="0">
                <a:ea typeface="微軟正黑體" panose="020B0604030504040204" pitchFamily="34" charset="-120"/>
              </a:rPr>
              <a:t> 第 </a:t>
            </a:r>
            <a:r>
              <a:rPr lang="en-US" altLang="zh-TW" sz="1600" b="1" dirty="0">
                <a:ea typeface="微軟正黑體" panose="020B0604030504040204" pitchFamily="34" charset="-120"/>
              </a:rPr>
              <a:t>1 </a:t>
            </a:r>
            <a:r>
              <a:rPr lang="zh-TW" altLang="en-US" sz="1600" b="1" dirty="0">
                <a:ea typeface="微軟正黑體" panose="020B0604030504040204" pitchFamily="34" charset="-120"/>
              </a:rPr>
              <a:t>頁直接按 </a:t>
            </a:r>
            <a:r>
              <a:rPr lang="en-US" altLang="zh-TW" sz="1600" b="1" dirty="0">
                <a:ea typeface="微軟正黑體" panose="020B0604030504040204" pitchFamily="34" charset="-120"/>
              </a:rPr>
              <a:t>Next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6B1A805-43EF-462B-A16C-B8CBDD8FE44D}"/>
              </a:ext>
            </a:extLst>
          </p:cNvPr>
          <p:cNvSpPr txBox="1"/>
          <p:nvPr/>
        </p:nvSpPr>
        <p:spPr>
          <a:xfrm>
            <a:off x="4222458" y="1617343"/>
            <a:ext cx="2904206" cy="4219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5.</a:t>
            </a:r>
            <a:r>
              <a:rPr lang="zh-TW" altLang="en-US" sz="1600" b="1" dirty="0">
                <a:ea typeface="微軟正黑體" panose="020B0604030504040204" pitchFamily="34" charset="-120"/>
              </a:rPr>
              <a:t> 第 </a:t>
            </a:r>
            <a:r>
              <a:rPr lang="en-US" altLang="zh-TW" sz="1600" b="1" dirty="0">
                <a:ea typeface="微軟正黑體" panose="020B0604030504040204" pitchFamily="34" charset="-120"/>
              </a:rPr>
              <a:t>2 </a:t>
            </a:r>
            <a:r>
              <a:rPr lang="zh-TW" altLang="en-US" sz="1600" b="1" dirty="0">
                <a:ea typeface="微軟正黑體" panose="020B0604030504040204" pitchFamily="34" charset="-120"/>
              </a:rPr>
              <a:t>頁勾選同意後按 </a:t>
            </a:r>
            <a:r>
              <a:rPr lang="en-US" altLang="zh-TW" sz="1600" b="1" dirty="0">
                <a:ea typeface="微軟正黑體" panose="020B0604030504040204" pitchFamily="34" charset="-120"/>
              </a:rPr>
              <a:t>Next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4FFF8B2-52BA-4A83-ABD1-DD917A9B9D06}"/>
              </a:ext>
            </a:extLst>
          </p:cNvPr>
          <p:cNvSpPr txBox="1"/>
          <p:nvPr/>
        </p:nvSpPr>
        <p:spPr>
          <a:xfrm>
            <a:off x="8295541" y="1613308"/>
            <a:ext cx="2904206" cy="4219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6.</a:t>
            </a:r>
            <a:r>
              <a:rPr lang="zh-TW" altLang="en-US" sz="1600" b="1" dirty="0">
                <a:ea typeface="微軟正黑體" panose="020B0604030504040204" pitchFamily="34" charset="-120"/>
              </a:rPr>
              <a:t> 第 </a:t>
            </a:r>
            <a:r>
              <a:rPr lang="en-US" altLang="zh-TW" sz="1600" b="1" dirty="0">
                <a:ea typeface="微軟正黑體" panose="020B0604030504040204" pitchFamily="34" charset="-120"/>
              </a:rPr>
              <a:t>3 </a:t>
            </a:r>
            <a:r>
              <a:rPr lang="zh-TW" altLang="en-US" sz="1600" b="1" dirty="0">
                <a:ea typeface="微軟正黑體" panose="020B0604030504040204" pitchFamily="34" charset="-120"/>
              </a:rPr>
              <a:t>頁直接按 </a:t>
            </a:r>
            <a:r>
              <a:rPr lang="en-US" altLang="zh-TW" sz="1600" b="1" dirty="0">
                <a:ea typeface="微軟正黑體" panose="020B0604030504040204" pitchFamily="34" charset="-120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541505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C571CF-ED5A-455C-9EC9-430347D7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1 - </a:t>
            </a:r>
            <a:r>
              <a:rPr lang="zh-TW" altLang="en-US" dirty="0"/>
              <a:t>安裝 </a:t>
            </a:r>
            <a:r>
              <a:rPr lang="en-US" altLang="zh-TW" dirty="0"/>
              <a:t>Node.js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686B1F-8727-4A61-91BE-88F8C79E9D0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C41BAB1-FED2-4B35-87A8-F0D4CA38870B}"/>
              </a:ext>
            </a:extLst>
          </p:cNvPr>
          <p:cNvSpPr txBox="1"/>
          <p:nvPr/>
        </p:nvSpPr>
        <p:spPr>
          <a:xfrm>
            <a:off x="455999" y="1259845"/>
            <a:ext cx="4012306" cy="4219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7.</a:t>
            </a:r>
            <a:r>
              <a:rPr lang="zh-TW" altLang="en-US" sz="1600" b="1" dirty="0">
                <a:ea typeface="微軟正黑體" panose="020B0604030504040204" pitchFamily="34" charset="-120"/>
              </a:rPr>
              <a:t> 第 </a:t>
            </a:r>
            <a:r>
              <a:rPr lang="en-US" altLang="zh-TW" sz="1600" b="1" dirty="0">
                <a:ea typeface="微軟正黑體" panose="020B0604030504040204" pitchFamily="34" charset="-120"/>
              </a:rPr>
              <a:t>4 </a:t>
            </a:r>
            <a:r>
              <a:rPr lang="zh-TW" altLang="en-US" sz="1600" b="1" dirty="0">
                <a:ea typeface="微軟正黑體" panose="020B0604030504040204" pitchFamily="34" charset="-120"/>
              </a:rPr>
              <a:t>頁</a:t>
            </a:r>
            <a:r>
              <a:rPr lang="zh-TW" altLang="en-US" sz="16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點選 </a:t>
            </a:r>
            <a:r>
              <a:rPr lang="en-US" altLang="zh-TW" sz="1600" b="1" dirty="0">
                <a:solidFill>
                  <a:srgbClr val="FF0000"/>
                </a:solidFill>
                <a:ea typeface="微軟正黑體" panose="020B0604030504040204" pitchFamily="34" charset="-120"/>
              </a:rPr>
              <a:t>Add to PATH </a:t>
            </a:r>
            <a:r>
              <a:rPr lang="zh-TW" altLang="en-US" sz="1600" b="1" dirty="0">
                <a:ea typeface="微軟正黑體" panose="020B0604030504040204" pitchFamily="34" charset="-120"/>
              </a:rPr>
              <a:t>後再點 </a:t>
            </a:r>
            <a:r>
              <a:rPr lang="en-US" altLang="zh-TW" sz="1600" b="1" dirty="0">
                <a:ea typeface="微軟正黑體" panose="020B0604030504040204" pitchFamily="34" charset="-120"/>
              </a:rPr>
              <a:t>Next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CBA509D-1C20-40E0-B5EA-B687CF9D2602}"/>
              </a:ext>
            </a:extLst>
          </p:cNvPr>
          <p:cNvGrpSpPr/>
          <p:nvPr/>
        </p:nvGrpSpPr>
        <p:grpSpPr>
          <a:xfrm>
            <a:off x="456000" y="1842909"/>
            <a:ext cx="4615621" cy="3642310"/>
            <a:chOff x="456000" y="1842909"/>
            <a:chExt cx="4615621" cy="3642310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13568141-ABE3-47C9-9B85-7CC7352201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000" y="1842909"/>
              <a:ext cx="4615621" cy="3642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8C3FBC6-3824-488C-A40A-FBD27F3E120E}"/>
                </a:ext>
              </a:extLst>
            </p:cNvPr>
            <p:cNvSpPr/>
            <p:nvPr/>
          </p:nvSpPr>
          <p:spPr>
            <a:xfrm>
              <a:off x="810705" y="3664064"/>
              <a:ext cx="1178351" cy="2292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E3EB53E5-3C7C-4ED2-A036-A2101E40EDA9}"/>
              </a:ext>
            </a:extLst>
          </p:cNvPr>
          <p:cNvSpPr txBox="1"/>
          <p:nvPr/>
        </p:nvSpPr>
        <p:spPr>
          <a:xfrm>
            <a:off x="5640949" y="1259845"/>
            <a:ext cx="2192725" cy="4219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7.</a:t>
            </a:r>
            <a:r>
              <a:rPr lang="zh-TW" altLang="en-US" sz="1600" b="1" dirty="0">
                <a:ea typeface="微軟正黑體" panose="020B0604030504040204" pitchFamily="34" charset="-120"/>
              </a:rPr>
              <a:t> 第 </a:t>
            </a:r>
            <a:r>
              <a:rPr lang="en-US" altLang="zh-TW" sz="1600" b="1" dirty="0">
                <a:ea typeface="微軟正黑體" panose="020B0604030504040204" pitchFamily="34" charset="-120"/>
              </a:rPr>
              <a:t>5 </a:t>
            </a:r>
            <a:r>
              <a:rPr lang="zh-TW" altLang="en-US" sz="1600" b="1" dirty="0">
                <a:ea typeface="微軟正黑體" panose="020B0604030504040204" pitchFamily="34" charset="-120"/>
              </a:rPr>
              <a:t>頁直接按  </a:t>
            </a:r>
            <a:r>
              <a:rPr lang="en-US" altLang="zh-TW" sz="1600" b="1" dirty="0">
                <a:ea typeface="微軟正黑體" panose="020B0604030504040204" pitchFamily="34" charset="-120"/>
              </a:rPr>
              <a:t>Next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D8B2E123-E7EA-44AC-A5BE-017C71B16C29}"/>
              </a:ext>
            </a:extLst>
          </p:cNvPr>
          <p:cNvGrpSpPr/>
          <p:nvPr/>
        </p:nvGrpSpPr>
        <p:grpSpPr>
          <a:xfrm>
            <a:off x="5640949" y="1842909"/>
            <a:ext cx="4657881" cy="3642310"/>
            <a:chOff x="5640949" y="1842909"/>
            <a:chExt cx="4657881" cy="3642310"/>
          </a:xfrm>
        </p:grpSpPr>
        <p:pic>
          <p:nvPicPr>
            <p:cNvPr id="5124" name="Picture 4">
              <a:extLst>
                <a:ext uri="{FF2B5EF4-FFF2-40B4-BE49-F238E27FC236}">
                  <a16:creationId xmlns:a16="http://schemas.microsoft.com/office/drawing/2014/main" id="{9ED6C513-40F0-44CA-9C6B-396680FC2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0949" y="1842909"/>
              <a:ext cx="4657881" cy="36423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72C7DDC2-0EF9-4403-B2E8-4A9A7B7423B9}"/>
                </a:ext>
              </a:extLst>
            </p:cNvPr>
            <p:cNvSpPr txBox="1"/>
            <p:nvPr/>
          </p:nvSpPr>
          <p:spPr>
            <a:xfrm>
              <a:off x="5736581" y="3101220"/>
              <a:ext cx="1116706" cy="4219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6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不要勾選</a:t>
              </a:r>
              <a:endParaRPr lang="en-US" altLang="zh-TW" sz="16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</p:grp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204EAC6-3F8F-48DE-9166-43ABFB4ED724}"/>
              </a:ext>
            </a:extLst>
          </p:cNvPr>
          <p:cNvSpPr txBox="1"/>
          <p:nvPr/>
        </p:nvSpPr>
        <p:spPr>
          <a:xfrm>
            <a:off x="9034021" y="521181"/>
            <a:ext cx="3157979" cy="11605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8.</a:t>
            </a:r>
            <a:r>
              <a:rPr lang="zh-TW" altLang="en-US" sz="1600" b="1" dirty="0">
                <a:ea typeface="微軟正黑體" panose="020B0604030504040204" pitchFamily="34" charset="-120"/>
              </a:rPr>
              <a:t> 最後一頁按 </a:t>
            </a:r>
            <a:r>
              <a:rPr lang="en-US" altLang="zh-TW" sz="1600" b="1" dirty="0">
                <a:ea typeface="微軟正黑體" panose="020B0604030504040204" pitchFamily="34" charset="-120"/>
              </a:rPr>
              <a:t>Install</a:t>
            </a:r>
            <a:r>
              <a:rPr lang="zh-TW" altLang="en-US" sz="1600" b="1" dirty="0">
                <a:ea typeface="微軟正黑體" panose="020B0604030504040204" pitchFamily="34" charset="-120"/>
              </a:rPr>
              <a:t> 開始安裝</a:t>
            </a:r>
            <a:endParaRPr lang="en-US" altLang="zh-TW" sz="1600" b="1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>
                <a:ea typeface="微軟正黑體" panose="020B0604030504040204" pitchFamily="34" charset="-120"/>
              </a:rPr>
              <a:t>9.</a:t>
            </a:r>
            <a:r>
              <a:rPr lang="zh-TW" altLang="en-US" sz="1600" b="1" dirty="0">
                <a:ea typeface="微軟正黑體" panose="020B0604030504040204" pitchFamily="34" charset="-120"/>
              </a:rPr>
              <a:t> 安裝時若有跳視窗問是否同意此程式更改電腦，點選 是 就好</a:t>
            </a:r>
            <a:endParaRPr lang="en-US" altLang="zh-TW" sz="1600" b="1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5687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B02816-340C-4A9E-B1A1-4352ACF4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1 - </a:t>
            </a:r>
            <a:r>
              <a:rPr lang="zh-TW" altLang="en-US" dirty="0"/>
              <a:t>安裝 </a:t>
            </a:r>
            <a:r>
              <a:rPr lang="en-US" altLang="zh-TW" dirty="0"/>
              <a:t>Node.js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30173F-43E4-4188-9908-DDE48D43AEB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7DC202-6E87-4158-91E4-F882527D4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938" y="2138529"/>
            <a:ext cx="3029373" cy="202910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3B87E50-C140-488A-AE3D-7C35AEB4EA75}"/>
              </a:ext>
            </a:extLst>
          </p:cNvPr>
          <p:cNvSpPr txBox="1"/>
          <p:nvPr/>
        </p:nvSpPr>
        <p:spPr>
          <a:xfrm>
            <a:off x="456000" y="2044978"/>
            <a:ext cx="6595249" cy="2270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安裝後檢查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dirty="0">
                <a:ea typeface="微軟正黑體" panose="020B0604030504040204" pitchFamily="34" charset="-120"/>
              </a:rPr>
              <a:t>打開 </a:t>
            </a:r>
            <a:r>
              <a:rPr lang="en-US" altLang="zh-TW" sz="1600" dirty="0">
                <a:ea typeface="微軟正黑體" panose="020B0604030504040204" pitchFamily="34" charset="-120"/>
              </a:rPr>
              <a:t>command line</a:t>
            </a:r>
            <a:r>
              <a:rPr lang="zh-TW" altLang="en-US" sz="1600" dirty="0">
                <a:ea typeface="微軟正黑體" panose="020B0604030504040204" pitchFamily="34" charset="-120"/>
              </a:rPr>
              <a:t>，輸入以下三個指令，若皆有顯示對應版本即為成功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※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command line 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一定要關掉舊的，開一個新的</a:t>
            </a:r>
            <a:endParaRPr lang="en-US" altLang="zh-TW" sz="1600" dirty="0">
              <a:solidFill>
                <a:srgbClr val="FF0000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node –v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 err="1">
                <a:ea typeface="微軟正黑體" panose="020B0604030504040204" pitchFamily="34" charset="-120"/>
              </a:rPr>
              <a:t>npm</a:t>
            </a:r>
            <a:r>
              <a:rPr lang="en-US" altLang="zh-TW" sz="1600" b="1" dirty="0">
                <a:ea typeface="微軟正黑體" panose="020B0604030504040204" pitchFamily="34" charset="-120"/>
              </a:rPr>
              <a:t> –v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 err="1">
                <a:ea typeface="微軟正黑體" panose="020B0604030504040204" pitchFamily="34" charset="-120"/>
              </a:rPr>
              <a:t>npx</a:t>
            </a:r>
            <a:r>
              <a:rPr lang="en-US" altLang="zh-TW" sz="1600" b="1" dirty="0">
                <a:ea typeface="微軟正黑體" panose="020B0604030504040204" pitchFamily="34" charset="-120"/>
              </a:rPr>
              <a:t> -v</a:t>
            </a:r>
          </a:p>
        </p:txBody>
      </p:sp>
    </p:spTree>
    <p:extLst>
      <p:ext uri="{BB962C8B-B14F-4D97-AF65-F5344CB8AC3E}">
        <p14:creationId xmlns:p14="http://schemas.microsoft.com/office/powerpoint/2010/main" val="95540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F2373B-9853-4FD0-8DD6-CE0DC2FF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2 – </a:t>
            </a:r>
            <a:r>
              <a:rPr lang="zh-TW" altLang="en-US" dirty="0"/>
              <a:t>安裝 </a:t>
            </a:r>
            <a:r>
              <a:rPr lang="en-US" altLang="zh-TW" dirty="0" err="1"/>
              <a:t>ChatWise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C3FAFC-1166-43CB-821B-BA5495F981A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6F8F0B5-8EED-4FEE-B632-6381FAA745F8}"/>
              </a:ext>
            </a:extLst>
          </p:cNvPr>
          <p:cNvSpPr txBox="1"/>
          <p:nvPr/>
        </p:nvSpPr>
        <p:spPr>
          <a:xfrm>
            <a:off x="584462" y="1634167"/>
            <a:ext cx="6344239" cy="15299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安裝步驟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點選這個網址直接下載安裝檔 </a:t>
            </a:r>
            <a:r>
              <a:rPr lang="en-US" altLang="zh-TW" sz="1600" i="0" u="none" strike="noStrike" dirty="0">
                <a:solidFill>
                  <a:srgbClr val="0070C0"/>
                </a:solidFill>
                <a:effectLst/>
                <a:ea typeface="微軟正黑體" panose="020B0604030504040204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ChatWise_0.10.7_x64-setup.exe</a:t>
            </a:r>
            <a:r>
              <a:rPr lang="zh-TW" altLang="en-US" sz="1600" i="0" u="none" strike="noStrike" dirty="0">
                <a:effectLst/>
                <a:ea typeface="微軟正黑體" panose="020B0604030504040204" pitchFamily="34" charset="-120"/>
              </a:rPr>
              <a:t>，或到官網下載最新版 </a:t>
            </a:r>
            <a:r>
              <a:rPr lang="en-US" altLang="zh-TW" sz="1600" i="0" u="none" strike="noStrike" dirty="0">
                <a:solidFill>
                  <a:srgbClr val="0070C0"/>
                </a:solidFill>
                <a:effectLst/>
                <a:ea typeface="微軟正黑體" panose="020B0604030504040204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https://chatwise.app/</a:t>
            </a:r>
            <a:endParaRPr lang="en-US" altLang="zh-TW" sz="1600" i="0" u="none" strike="noStrike" dirty="0">
              <a:solidFill>
                <a:srgbClr val="0070C0"/>
              </a:solidFill>
              <a:effectLst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雙擊下載好的安裝檔，一路點選繼續 </a:t>
            </a:r>
            <a:r>
              <a:rPr lang="en-US" altLang="zh-TW" sz="1600" dirty="0">
                <a:ea typeface="微軟正黑體" panose="020B0604030504040204" pitchFamily="34" charset="-120"/>
              </a:rPr>
              <a:t>&amp;</a:t>
            </a:r>
            <a:r>
              <a:rPr lang="zh-TW" altLang="en-US" sz="1600" dirty="0">
                <a:ea typeface="微軟正黑體" panose="020B0604030504040204" pitchFamily="34" charset="-120"/>
              </a:rPr>
              <a:t> 同意，即安裝完成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808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890AF-22D9-4D65-95B6-4BEB3B82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3 –</a:t>
            </a:r>
            <a:r>
              <a:rPr lang="zh-TW" altLang="en-US" dirty="0"/>
              <a:t> </a:t>
            </a:r>
            <a:r>
              <a:rPr lang="en-US" altLang="zh-TW" dirty="0"/>
              <a:t>LLM Settings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8D0152-8DCC-4356-BB77-EE219AFDB26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8BBD2BA-F825-4F38-A804-08ABB3661D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78"/>
          <a:stretch/>
        </p:blipFill>
        <p:spPr>
          <a:xfrm>
            <a:off x="456000" y="1580299"/>
            <a:ext cx="3880330" cy="469289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0F9A62D-035A-4F72-8363-373EF1262C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1"/>
          <a:stretch/>
        </p:blipFill>
        <p:spPr>
          <a:xfrm>
            <a:off x="4880782" y="1580299"/>
            <a:ext cx="4530158" cy="471023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42AB9F7-C61B-4506-989C-EBFF0014757E}"/>
              </a:ext>
            </a:extLst>
          </p:cNvPr>
          <p:cNvSpPr txBox="1"/>
          <p:nvPr/>
        </p:nvSpPr>
        <p:spPr>
          <a:xfrm>
            <a:off x="456000" y="1048460"/>
            <a:ext cx="5303777" cy="4219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dirty="0">
                <a:ea typeface="微軟正黑體" panose="020B0604030504040204" pitchFamily="34" charset="-120"/>
              </a:rPr>
              <a:t>0. </a:t>
            </a:r>
            <a:r>
              <a:rPr lang="zh-TW" altLang="en-US" sz="1600" dirty="0">
                <a:ea typeface="微軟正黑體" panose="020B0604030504040204" pitchFamily="34" charset="-120"/>
              </a:rPr>
              <a:t>點選左下角的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齒輪</a:t>
            </a:r>
            <a:r>
              <a:rPr lang="zh-TW" altLang="en-US" sz="1600" dirty="0">
                <a:ea typeface="微軟正黑體" panose="020B0604030504040204" pitchFamily="34" charset="-120"/>
              </a:rPr>
              <a:t>符號 </a:t>
            </a:r>
            <a:r>
              <a:rPr lang="en-US" altLang="zh-TW" sz="1600" dirty="0">
                <a:ea typeface="微軟正黑體" panose="020B0604030504040204" pitchFamily="34" charset="-120"/>
              </a:rPr>
              <a:t>&gt;</a:t>
            </a:r>
            <a:r>
              <a:rPr lang="zh-TW" altLang="en-US" sz="1600" dirty="0">
                <a:ea typeface="微軟正黑體" panose="020B0604030504040204" pitchFamily="34" charset="-120"/>
              </a:rPr>
              <a:t> 點選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Settings</a:t>
            </a:r>
            <a:r>
              <a:rPr lang="zh-TW" altLang="en-US" sz="1600" dirty="0">
                <a:ea typeface="微軟正黑體" panose="020B0604030504040204" pitchFamily="34" charset="-120"/>
              </a:rPr>
              <a:t> 進入設定頁面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1091389-E309-4384-8461-3F823D3039E2}"/>
              </a:ext>
            </a:extLst>
          </p:cNvPr>
          <p:cNvSpPr txBox="1"/>
          <p:nvPr/>
        </p:nvSpPr>
        <p:spPr>
          <a:xfrm>
            <a:off x="9646765" y="1580299"/>
            <a:ext cx="2381837" cy="15314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點選左欄的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Provider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點選左下角的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+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選擇最上面的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OpenAI Compatible</a:t>
            </a:r>
          </a:p>
        </p:txBody>
      </p:sp>
    </p:spTree>
    <p:extLst>
      <p:ext uri="{BB962C8B-B14F-4D97-AF65-F5344CB8AC3E}">
        <p14:creationId xmlns:p14="http://schemas.microsoft.com/office/powerpoint/2010/main" val="196351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37EB2F-E26F-4461-88AE-DE2AEA4F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3 –</a:t>
            </a:r>
            <a:r>
              <a:rPr lang="zh-TW" altLang="en-US" dirty="0"/>
              <a:t> </a:t>
            </a:r>
            <a:r>
              <a:rPr lang="en-US" altLang="zh-TW" dirty="0"/>
              <a:t>LLM Settings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5D52DE-EE86-4367-999B-3DDA9BD1EE8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C78B8E-33B3-400D-93C8-9D108F656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00" y="1232680"/>
            <a:ext cx="7801106" cy="500280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4F61C48-71C7-4C31-992F-AE4887414207}"/>
              </a:ext>
            </a:extLst>
          </p:cNvPr>
          <p:cNvSpPr txBox="1"/>
          <p:nvPr/>
        </p:nvSpPr>
        <p:spPr>
          <a:xfrm>
            <a:off x="8414623" y="1747249"/>
            <a:ext cx="3544478" cy="22685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zh-TW" altLang="en-US" sz="1600" dirty="0">
                <a:ea typeface="微軟正黑體" panose="020B0604030504040204" pitchFamily="34" charset="-120"/>
              </a:rPr>
              <a:t>填寫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Provider name</a:t>
            </a:r>
            <a:r>
              <a:rPr lang="zh-TW" altLang="en-US" sz="1600" dirty="0">
                <a:ea typeface="微軟正黑體" panose="020B0604030504040204" pitchFamily="34" charset="-120"/>
              </a:rPr>
              <a:t>，可任意命名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zh-TW" altLang="en-US" sz="1600" dirty="0">
                <a:ea typeface="微軟正黑體" panose="020B0604030504040204" pitchFamily="34" charset="-120"/>
              </a:rPr>
              <a:t>填寫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API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Base URL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注意不要包含 </a:t>
            </a:r>
            <a:r>
              <a:rPr lang="en-US" altLang="zh-TW" sz="1600" dirty="0">
                <a:ea typeface="微軟正黑體" panose="020B0604030504040204" pitchFamily="34" charset="-120"/>
              </a:rPr>
              <a:t>/chat/completions)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zh-TW" altLang="en-US" sz="1600" dirty="0">
                <a:ea typeface="微軟正黑體" panose="020B0604030504040204" pitchFamily="34" charset="-120"/>
              </a:rPr>
              <a:t> 點選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+New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新增模型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zh-TW" altLang="en-US" sz="1600" dirty="0">
                <a:ea typeface="微軟正黑體" panose="020B0604030504040204" pitchFamily="34" charset="-120"/>
              </a:rPr>
              <a:t>在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Nick name </a:t>
            </a:r>
            <a:r>
              <a:rPr lang="en-US" altLang="zh-TW" sz="1600" dirty="0">
                <a:ea typeface="微軟正黑體" panose="020B0604030504040204" pitchFamily="34" charset="-120"/>
              </a:rPr>
              <a:t>&amp;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Model ID </a:t>
            </a:r>
            <a:r>
              <a:rPr lang="zh-TW" altLang="en-US" sz="1600" dirty="0">
                <a:ea typeface="微軟正黑體" panose="020B0604030504040204" pitchFamily="34" charset="-120"/>
              </a:rPr>
              <a:t>填入模型名稱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C515BA5-16D2-48BB-83CB-DA4E18DDE9C7}"/>
              </a:ext>
            </a:extLst>
          </p:cNvPr>
          <p:cNvSpPr txBox="1"/>
          <p:nvPr/>
        </p:nvSpPr>
        <p:spPr>
          <a:xfrm>
            <a:off x="3308807" y="2266877"/>
            <a:ext cx="339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4.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4664065-F0E3-416E-AB0C-AF98BE9BBB93}"/>
              </a:ext>
            </a:extLst>
          </p:cNvPr>
          <p:cNvSpPr txBox="1"/>
          <p:nvPr/>
        </p:nvSpPr>
        <p:spPr>
          <a:xfrm>
            <a:off x="3308807" y="2752986"/>
            <a:ext cx="339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5.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F55158-6F3E-48C4-9545-9829E27A367B}"/>
              </a:ext>
            </a:extLst>
          </p:cNvPr>
          <p:cNvSpPr/>
          <p:nvPr/>
        </p:nvSpPr>
        <p:spPr>
          <a:xfrm>
            <a:off x="6872141" y="4015819"/>
            <a:ext cx="461914" cy="1979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62CCC69-C29D-4748-B4AF-7EFDE4FF318F}"/>
              </a:ext>
            </a:extLst>
          </p:cNvPr>
          <p:cNvSpPr txBox="1"/>
          <p:nvPr/>
        </p:nvSpPr>
        <p:spPr>
          <a:xfrm>
            <a:off x="6994690" y="3734084"/>
            <a:ext cx="339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6.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3B3F38-9422-4745-BD24-48BEA258D7DD}"/>
              </a:ext>
            </a:extLst>
          </p:cNvPr>
          <p:cNvSpPr txBox="1"/>
          <p:nvPr/>
        </p:nvSpPr>
        <p:spPr>
          <a:xfrm>
            <a:off x="3324705" y="4183917"/>
            <a:ext cx="339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7.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446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6B8F8B-FC1B-40EC-B847-08C2F3DAF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4 –</a:t>
            </a:r>
            <a:r>
              <a:rPr lang="zh-TW" altLang="en-US" dirty="0"/>
              <a:t> </a:t>
            </a:r>
            <a:r>
              <a:rPr lang="en-US" altLang="zh-TW" dirty="0"/>
              <a:t>MCP Settings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0FE999-C169-4E42-9E4C-CFD7484EB0E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D907E17-1C18-4E21-9AE6-AD5DA86E2E40}"/>
              </a:ext>
            </a:extLst>
          </p:cNvPr>
          <p:cNvSpPr txBox="1"/>
          <p:nvPr/>
        </p:nvSpPr>
        <p:spPr>
          <a:xfrm>
            <a:off x="7532017" y="1371385"/>
            <a:ext cx="4411745" cy="41152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設定步驟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複製 </a:t>
            </a:r>
            <a:r>
              <a:rPr lang="en-US" altLang="zh-TW" sz="1600" b="1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mcp-time.json</a:t>
            </a:r>
            <a:r>
              <a:rPr lang="en-US" altLang="zh-TW" sz="1600" b="1" dirty="0">
                <a:solidFill>
                  <a:schemeClr val="accent2"/>
                </a:solidFill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的內容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點選設定頁面左欄的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MCP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點選左下角的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+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選擇最下面的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Import JSON from Clipboard</a:t>
            </a:r>
            <a:r>
              <a:rPr lang="zh-TW" altLang="en-US" sz="1600" dirty="0">
                <a:ea typeface="微軟正黑體" panose="020B0604030504040204" pitchFamily="34" charset="-120"/>
              </a:rPr>
              <a:t>，系統就會自動將資訊填入對應欄位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Verify (View Tools) </a:t>
            </a:r>
            <a:r>
              <a:rPr lang="zh-TW" altLang="en-US" sz="1600" dirty="0">
                <a:ea typeface="微軟正黑體" panose="020B0604030504040204" pitchFamily="34" charset="-120"/>
              </a:rPr>
              <a:t>確認工具連線情形，也可看到裡面有什麼工具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dirty="0">
                <a:ea typeface="微軟正黑體" panose="020B0604030504040204" pitchFamily="34" charset="-120"/>
              </a:rPr>
              <a:t>(Optional) </a:t>
            </a:r>
            <a:r>
              <a:rPr lang="zh-TW" altLang="en-US" sz="1600" dirty="0">
                <a:ea typeface="微軟正黑體" panose="020B0604030504040204" pitchFamily="34" charset="-120"/>
              </a:rPr>
              <a:t>預設 </a:t>
            </a:r>
            <a:r>
              <a:rPr lang="en-US" altLang="zh-TW" sz="1600" dirty="0">
                <a:ea typeface="微軟正黑體" panose="020B0604030504040204" pitchFamily="34" charset="-120"/>
              </a:rPr>
              <a:t>LLM</a:t>
            </a:r>
            <a:r>
              <a:rPr lang="zh-TW" altLang="en-US" sz="1600" dirty="0">
                <a:ea typeface="微軟正黑體" panose="020B0604030504040204" pitchFamily="34" charset="-120"/>
              </a:rPr>
              <a:t> 回傳 </a:t>
            </a:r>
            <a:r>
              <a:rPr lang="en-US" altLang="zh-TW" sz="1600" dirty="0" err="1">
                <a:ea typeface="微軟正黑體" panose="020B0604030504040204" pitchFamily="34" charset="-120"/>
              </a:rPr>
              <a:t>tool_calls</a:t>
            </a:r>
            <a:r>
              <a:rPr lang="zh-TW" altLang="en-US" sz="1600" dirty="0">
                <a:ea typeface="微軟正黑體" panose="020B0604030504040204" pitchFamily="34" charset="-120"/>
              </a:rPr>
              <a:t> 後，使用者需點選 </a:t>
            </a:r>
            <a:r>
              <a:rPr lang="en-US" altLang="zh-TW" sz="1600" dirty="0">
                <a:ea typeface="微軟正黑體" panose="020B0604030504040204" pitchFamily="34" charset="-120"/>
              </a:rPr>
              <a:t>Run </a:t>
            </a:r>
            <a:r>
              <a:rPr lang="zh-TW" altLang="en-US" sz="1600" dirty="0">
                <a:ea typeface="微軟正黑體" panose="020B0604030504040204" pitchFamily="34" charset="-120"/>
              </a:rPr>
              <a:t>才會呼叫 </a:t>
            </a:r>
            <a:r>
              <a:rPr lang="en-US" altLang="zh-TW" sz="1600" dirty="0">
                <a:ea typeface="微軟正黑體" panose="020B0604030504040204" pitchFamily="34" charset="-120"/>
              </a:rPr>
              <a:t>MCP</a:t>
            </a:r>
            <a:r>
              <a:rPr lang="zh-TW" altLang="en-US" sz="1600" dirty="0">
                <a:ea typeface="微軟正黑體" panose="020B0604030504040204" pitchFamily="34" charset="-120"/>
              </a:rPr>
              <a:t>，點選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Run tools automatically</a:t>
            </a:r>
            <a:r>
              <a:rPr lang="en-US" altLang="zh-TW" sz="1600" dirty="0">
                <a:ea typeface="微軟正黑體" panose="020B0604030504040204" pitchFamily="34" charset="-120"/>
              </a:rPr>
              <a:t> </a:t>
            </a:r>
            <a:r>
              <a:rPr lang="zh-TW" altLang="en-US" sz="1600" dirty="0">
                <a:ea typeface="微軟正黑體" panose="020B0604030504040204" pitchFamily="34" charset="-120"/>
              </a:rPr>
              <a:t>則會自動呼叫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AC7BCBC4-2EEB-4120-A0FB-A74D36D2B936}"/>
              </a:ext>
            </a:extLst>
          </p:cNvPr>
          <p:cNvGrpSpPr/>
          <p:nvPr/>
        </p:nvGrpSpPr>
        <p:grpSpPr>
          <a:xfrm>
            <a:off x="516281" y="1153524"/>
            <a:ext cx="6736652" cy="5017554"/>
            <a:chOff x="516281" y="1153524"/>
            <a:chExt cx="6736652" cy="5017554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6DF4EF94-2835-4ED0-8D37-91459FB07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281" y="1153524"/>
              <a:ext cx="6736652" cy="4999491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DD7684B-BF66-46C1-8BC5-92DADB62838F}"/>
                </a:ext>
              </a:extLst>
            </p:cNvPr>
            <p:cNvSpPr/>
            <p:nvPr/>
          </p:nvSpPr>
          <p:spPr>
            <a:xfrm>
              <a:off x="1800520" y="5948312"/>
              <a:ext cx="1875934" cy="22276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AB41336-275A-4A74-9CCE-5AC35785A928}"/>
                </a:ext>
              </a:extLst>
            </p:cNvPr>
            <p:cNvSpPr/>
            <p:nvPr/>
          </p:nvSpPr>
          <p:spPr>
            <a:xfrm>
              <a:off x="1640264" y="5312796"/>
              <a:ext cx="292232" cy="29615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A20C6CE-4CE8-4FB1-B910-66BF744F4FB7}"/>
                </a:ext>
              </a:extLst>
            </p:cNvPr>
            <p:cNvSpPr/>
            <p:nvPr/>
          </p:nvSpPr>
          <p:spPr>
            <a:xfrm>
              <a:off x="516281" y="2401485"/>
              <a:ext cx="1029715" cy="26630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BE1B59E-0161-4960-A686-BEBB985F7776}"/>
                </a:ext>
              </a:extLst>
            </p:cNvPr>
            <p:cNvSpPr/>
            <p:nvPr/>
          </p:nvSpPr>
          <p:spPr>
            <a:xfrm>
              <a:off x="3237010" y="4203576"/>
              <a:ext cx="1052186" cy="2930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4A72EF7-9999-4C2E-9AF2-A68C2DC27AA9}"/>
                </a:ext>
              </a:extLst>
            </p:cNvPr>
            <p:cNvSpPr/>
            <p:nvPr/>
          </p:nvSpPr>
          <p:spPr>
            <a:xfrm>
              <a:off x="3151119" y="3520118"/>
              <a:ext cx="1251199" cy="2047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EFA6C4C-AD77-4447-8373-D9306F727CE1}"/>
                </a:ext>
              </a:extLst>
            </p:cNvPr>
            <p:cNvSpPr txBox="1"/>
            <p:nvPr/>
          </p:nvSpPr>
          <p:spPr>
            <a:xfrm>
              <a:off x="1545996" y="2365358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2.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B2159A21-5EA1-439C-86F2-E6DDD37D8254}"/>
                </a:ext>
              </a:extLst>
            </p:cNvPr>
            <p:cNvSpPr txBox="1"/>
            <p:nvPr/>
          </p:nvSpPr>
          <p:spPr>
            <a:xfrm>
              <a:off x="1593131" y="4973431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3.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EAE15095-F177-44C0-88BA-AF4B2327A3C6}"/>
                </a:ext>
              </a:extLst>
            </p:cNvPr>
            <p:cNvSpPr txBox="1"/>
            <p:nvPr/>
          </p:nvSpPr>
          <p:spPr>
            <a:xfrm>
              <a:off x="1470581" y="5832524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4.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C3AB31F-F482-4D90-83F4-14703FE484D6}"/>
                </a:ext>
              </a:extLst>
            </p:cNvPr>
            <p:cNvSpPr txBox="1"/>
            <p:nvPr/>
          </p:nvSpPr>
          <p:spPr>
            <a:xfrm>
              <a:off x="2897645" y="4180804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5.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D687C1A-315A-41EE-8FA8-8F645D13C438}"/>
                </a:ext>
              </a:extLst>
            </p:cNvPr>
            <p:cNvSpPr txBox="1"/>
            <p:nvPr/>
          </p:nvSpPr>
          <p:spPr>
            <a:xfrm>
              <a:off x="2811754" y="3428999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6.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9180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B8367-7623-4882-892F-678D59BE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</a:t>
            </a:r>
            <a:r>
              <a:rPr lang="zh-TW" altLang="en-US" dirty="0"/>
              <a:t> </a:t>
            </a:r>
            <a:r>
              <a:rPr lang="en-US" altLang="zh-TW" dirty="0"/>
              <a:t>5 –</a:t>
            </a:r>
            <a:r>
              <a:rPr lang="zh-TW" altLang="en-US" dirty="0"/>
              <a:t> </a:t>
            </a:r>
            <a:r>
              <a:rPr lang="en-US" altLang="zh-TW" dirty="0"/>
              <a:t>Chatroom Settings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0C2BA9-2FF3-47A3-B2AD-FA70561823E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D773B29-2430-46E7-BB34-8A47DEA70E6D}"/>
              </a:ext>
            </a:extLst>
          </p:cNvPr>
          <p:cNvSpPr txBox="1"/>
          <p:nvPr/>
        </p:nvSpPr>
        <p:spPr>
          <a:xfrm>
            <a:off x="8568479" y="1234469"/>
            <a:ext cx="3453840" cy="37458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設定步驟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點選左上方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鉛筆符號</a:t>
            </a:r>
            <a:r>
              <a:rPr lang="zh-TW" altLang="en-US" sz="1600" dirty="0">
                <a:ea typeface="微軟正黑體" panose="020B0604030504040204" pitchFamily="34" charset="-120"/>
              </a:rPr>
              <a:t>新增聊天室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在聊天室上方選擇剛設定的 </a:t>
            </a:r>
            <a:r>
              <a:rPr lang="en-US" altLang="zh-TW" sz="1600" dirty="0">
                <a:ea typeface="微軟正黑體" panose="020B0604030504040204" pitchFamily="34" charset="-120"/>
              </a:rPr>
              <a:t>LLM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點選下方輸入欄的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工具符號</a:t>
            </a:r>
            <a:r>
              <a:rPr lang="zh-TW" altLang="en-US" sz="1600" dirty="0">
                <a:ea typeface="微軟正黑體" panose="020B0604030504040204" pitchFamily="34" charset="-120"/>
              </a:rPr>
              <a:t>，開啟想使用的 </a:t>
            </a:r>
            <a:r>
              <a:rPr lang="en-US" altLang="zh-TW" sz="1600" dirty="0">
                <a:ea typeface="微軟正黑體" panose="020B0604030504040204" pitchFamily="34" charset="-120"/>
              </a:rPr>
              <a:t>MCP</a:t>
            </a:r>
            <a:r>
              <a:rPr lang="zh-TW" altLang="en-US" sz="1600" dirty="0">
                <a:ea typeface="微軟正黑體" panose="020B0604030504040204" pitchFamily="34" charset="-120"/>
              </a:rPr>
              <a:t> 工具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TW" altLang="en-US" sz="1600" dirty="0">
                <a:ea typeface="微軟正黑體" panose="020B0604030504040204" pitchFamily="34" charset="-120"/>
              </a:rPr>
              <a:t>開始與 </a:t>
            </a:r>
            <a:r>
              <a:rPr lang="en-US" altLang="zh-TW" sz="1600" dirty="0">
                <a:ea typeface="微軟正黑體" panose="020B0604030504040204" pitchFamily="34" charset="-120"/>
              </a:rPr>
              <a:t>LLM</a:t>
            </a:r>
            <a:r>
              <a:rPr lang="zh-TW" altLang="en-US" sz="1600" dirty="0">
                <a:ea typeface="微軟正黑體" panose="020B0604030504040204" pitchFamily="34" charset="-120"/>
              </a:rPr>
              <a:t> 對話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dirty="0">
                <a:ea typeface="微軟正黑體" panose="020B0604030504040204" pitchFamily="34" charset="-120"/>
              </a:rPr>
              <a:t>(Optional) </a:t>
            </a:r>
            <a:r>
              <a:rPr lang="zh-TW" altLang="en-US" sz="1600" dirty="0">
                <a:ea typeface="微軟正黑體" panose="020B0604030504040204" pitchFamily="34" charset="-120"/>
              </a:rPr>
              <a:t>點選右上角的</a:t>
            </a:r>
            <a:r>
              <a:rPr lang="zh-TW" altLang="en-US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格子符號</a:t>
            </a:r>
            <a:r>
              <a:rPr lang="zh-TW" altLang="en-US" sz="1600" dirty="0">
                <a:ea typeface="微軟正黑體" panose="020B0604030504040204" pitchFamily="34" charset="-120"/>
              </a:rPr>
              <a:t>可進行更多設定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1600" dirty="0">
                <a:ea typeface="微軟正黑體" panose="020B0604030504040204" pitchFamily="34" charset="-120"/>
              </a:rPr>
              <a:t>(Optional) </a:t>
            </a:r>
            <a:r>
              <a:rPr lang="zh-TW" altLang="en-US" sz="1600" dirty="0">
                <a:ea typeface="微軟正黑體" panose="020B0604030504040204" pitchFamily="34" charset="-120"/>
              </a:rPr>
              <a:t>可在 </a:t>
            </a:r>
            <a:r>
              <a:rPr lang="en-US" altLang="zh-TW" sz="1600" dirty="0">
                <a:solidFill>
                  <a:srgbClr val="FF0000"/>
                </a:solidFill>
                <a:ea typeface="微軟正黑體" panose="020B0604030504040204" pitchFamily="34" charset="-120"/>
              </a:rPr>
              <a:t>System instruction </a:t>
            </a:r>
            <a:r>
              <a:rPr lang="zh-TW" altLang="en-US" sz="1600" dirty="0">
                <a:ea typeface="微軟正黑體" panose="020B0604030504040204" pitchFamily="34" charset="-120"/>
              </a:rPr>
              <a:t>設定自己要的 </a:t>
            </a:r>
            <a:r>
              <a:rPr lang="en-US" altLang="zh-TW" sz="1600" dirty="0">
                <a:ea typeface="微軟正黑體" panose="020B0604030504040204" pitchFamily="34" charset="-120"/>
              </a:rPr>
              <a:t>system prompt</a:t>
            </a: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1D797125-46E1-450F-AE57-72DB332DA741}"/>
              </a:ext>
            </a:extLst>
          </p:cNvPr>
          <p:cNvGrpSpPr/>
          <p:nvPr/>
        </p:nvGrpSpPr>
        <p:grpSpPr>
          <a:xfrm>
            <a:off x="169681" y="1091384"/>
            <a:ext cx="8230568" cy="4675232"/>
            <a:chOff x="169682" y="948298"/>
            <a:chExt cx="8230568" cy="4675232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FA6370E9-BD6B-4D21-8333-E2587D04F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682" y="1234469"/>
              <a:ext cx="8230568" cy="4389061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404C468-14CF-43C3-95F2-46089F95BE58}"/>
                </a:ext>
              </a:extLst>
            </p:cNvPr>
            <p:cNvSpPr/>
            <p:nvPr/>
          </p:nvSpPr>
          <p:spPr>
            <a:xfrm>
              <a:off x="377073" y="1266919"/>
              <a:ext cx="207389" cy="2225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DE4517-5576-4A95-902F-12B7981BD31A}"/>
                </a:ext>
              </a:extLst>
            </p:cNvPr>
            <p:cNvSpPr/>
            <p:nvPr/>
          </p:nvSpPr>
          <p:spPr>
            <a:xfrm>
              <a:off x="1442301" y="1234468"/>
              <a:ext cx="801278" cy="25496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95564CB-2E48-47F6-AA75-3D9D1C0F6F29}"/>
                </a:ext>
              </a:extLst>
            </p:cNvPr>
            <p:cNvSpPr/>
            <p:nvPr/>
          </p:nvSpPr>
          <p:spPr>
            <a:xfrm>
              <a:off x="1517715" y="4147794"/>
              <a:ext cx="1633403" cy="1475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1B8D9F3E-82CD-46FB-ADBF-D3D9ED18CF06}"/>
                </a:ext>
              </a:extLst>
            </p:cNvPr>
            <p:cNvSpPr/>
            <p:nvPr/>
          </p:nvSpPr>
          <p:spPr>
            <a:xfrm>
              <a:off x="7343480" y="1266919"/>
              <a:ext cx="235671" cy="2225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D351866-2424-40FD-A7AB-F35074C5FA38}"/>
                </a:ext>
              </a:extLst>
            </p:cNvPr>
            <p:cNvSpPr/>
            <p:nvPr/>
          </p:nvSpPr>
          <p:spPr>
            <a:xfrm>
              <a:off x="7117236" y="2050986"/>
              <a:ext cx="1283013" cy="34342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47D4575C-4BD9-4DC5-A6C7-5A6AA5BC50D6}"/>
                </a:ext>
              </a:extLst>
            </p:cNvPr>
            <p:cNvSpPr txBox="1"/>
            <p:nvPr/>
          </p:nvSpPr>
          <p:spPr>
            <a:xfrm>
              <a:off x="311084" y="948298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1.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7BAE25D-1B7B-4E78-B018-F181DFE5AFA8}"/>
                </a:ext>
              </a:extLst>
            </p:cNvPr>
            <p:cNvSpPr txBox="1"/>
            <p:nvPr/>
          </p:nvSpPr>
          <p:spPr>
            <a:xfrm>
              <a:off x="1102936" y="1192673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2.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9FF21CF-41D5-4DAC-BD9C-C6344E14CCBA}"/>
                </a:ext>
              </a:extLst>
            </p:cNvPr>
            <p:cNvSpPr txBox="1"/>
            <p:nvPr/>
          </p:nvSpPr>
          <p:spPr>
            <a:xfrm>
              <a:off x="1102936" y="4085116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3.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FA62F91-675B-4328-B45A-ED2982521097}"/>
                </a:ext>
              </a:extLst>
            </p:cNvPr>
            <p:cNvSpPr txBox="1"/>
            <p:nvPr/>
          </p:nvSpPr>
          <p:spPr>
            <a:xfrm>
              <a:off x="7004115" y="1228262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5.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AA3ABE3-A3B5-493F-86A3-83844379B7BA}"/>
                </a:ext>
              </a:extLst>
            </p:cNvPr>
            <p:cNvSpPr txBox="1"/>
            <p:nvPr/>
          </p:nvSpPr>
          <p:spPr>
            <a:xfrm>
              <a:off x="6779324" y="2055854"/>
              <a:ext cx="3393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solidFill>
                    <a:srgbClr val="FF0000"/>
                  </a:solidFill>
                </a:rPr>
                <a:t>6.</a:t>
              </a:r>
              <a:endParaRPr lang="zh-TW" altLang="en-US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821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D48364-C48D-41CF-9087-7B87B19E8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 </a:t>
            </a:r>
            <a:r>
              <a:rPr lang="en-US" altLang="zh-TW" dirty="0"/>
              <a:t>3</a:t>
            </a:r>
            <a:r>
              <a:rPr lang="zh-TW" altLang="en-US" dirty="0"/>
              <a:t> 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E94148-8BD4-4090-B576-51792D71ADB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2BC2FF6-5968-41AF-9E70-03E126CCE7A5}"/>
              </a:ext>
            </a:extLst>
          </p:cNvPr>
          <p:cNvSpPr txBox="1"/>
          <p:nvPr/>
        </p:nvSpPr>
        <p:spPr>
          <a:xfrm>
            <a:off x="456000" y="1241713"/>
            <a:ext cx="8527745" cy="37458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作業內容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在 </a:t>
            </a:r>
            <a:r>
              <a:rPr lang="en-US" altLang="zh-TW" sz="1600" dirty="0" err="1">
                <a:ea typeface="微軟正黑體" panose="020B0604030504040204" pitchFamily="34" charset="-120"/>
              </a:rPr>
              <a:t>ChatWise</a:t>
            </a:r>
            <a:r>
              <a:rPr lang="zh-TW" altLang="en-US" sz="1600" dirty="0">
                <a:ea typeface="微軟正黑體" panose="020B0604030504040204" pitchFamily="34" charset="-120"/>
              </a:rPr>
              <a:t> 聊天室中，成功呼叫 </a:t>
            </a:r>
            <a:r>
              <a:rPr lang="en-US" altLang="zh-TW" sz="1600" dirty="0">
                <a:ea typeface="微軟正黑體" panose="020B0604030504040204" pitchFamily="34" charset="-120"/>
              </a:rPr>
              <a:t>MCP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mcp</a:t>
            </a:r>
            <a:r>
              <a:rPr lang="en-US" altLang="zh-TW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-time</a:t>
            </a:r>
            <a:r>
              <a:rPr lang="en-US" altLang="zh-TW" sz="1600" dirty="0">
                <a:ea typeface="微軟正黑體" panose="020B0604030504040204" pitchFamily="34" charset="-120"/>
              </a:rPr>
              <a:t> &amp; </a:t>
            </a:r>
            <a:r>
              <a:rPr lang="en-US" altLang="zh-TW" sz="1600" dirty="0" err="1">
                <a:solidFill>
                  <a:schemeClr val="accent2"/>
                </a:solidFill>
                <a:ea typeface="微軟正黑體" panose="020B0604030504040204" pitchFamily="34" charset="-120"/>
              </a:rPr>
              <a:t>taiwan</a:t>
            </a:r>
            <a:r>
              <a:rPr lang="en-US" altLang="zh-TW" sz="1600" dirty="0">
                <a:solidFill>
                  <a:schemeClr val="accent2"/>
                </a:solidFill>
                <a:ea typeface="微軟正黑體" panose="020B0604030504040204" pitchFamily="34" charset="-120"/>
              </a:rPr>
              <a:t>-weather</a:t>
            </a:r>
            <a:r>
              <a:rPr lang="zh-TW" altLang="en-US" sz="1600" dirty="0">
                <a:ea typeface="微軟正黑體" panose="020B0604030504040204" pitchFamily="34" charset="-120"/>
              </a:rPr>
              <a:t>，並截圖上傳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兩個都要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範例題目 </a:t>
            </a:r>
            <a:r>
              <a:rPr lang="en-US" altLang="zh-TW" sz="1600" dirty="0">
                <a:ea typeface="微軟正黑體" panose="020B0604030504040204" pitchFamily="34" charset="-120"/>
              </a:rPr>
              <a:t>(</a:t>
            </a:r>
            <a:r>
              <a:rPr lang="zh-TW" altLang="en-US" sz="1600" dirty="0">
                <a:ea typeface="微軟正黑體" panose="020B0604030504040204" pitchFamily="34" charset="-120"/>
              </a:rPr>
              <a:t>可直接使用，或舉一反三</a:t>
            </a:r>
            <a:r>
              <a:rPr lang="en-US" altLang="zh-TW" sz="1600" dirty="0"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>
                <a:ea typeface="微軟正黑體" panose="020B0604030504040204" pitchFamily="34" charset="-120"/>
              </a:rPr>
              <a:t>mcp-time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zh-TW" altLang="en-US" sz="1600" dirty="0">
                <a:effectLst/>
                <a:ea typeface="微軟正黑體" panose="020B0604030504040204" pitchFamily="34" charset="-120"/>
              </a:rPr>
              <a:t>現在幾點、</a:t>
            </a:r>
            <a:r>
              <a:rPr lang="en-US" altLang="zh-TW" sz="1600" dirty="0">
                <a:effectLst/>
                <a:ea typeface="微軟正黑體" panose="020B0604030504040204" pitchFamily="34" charset="-120"/>
              </a:rPr>
              <a:t>3</a:t>
            </a:r>
            <a:r>
              <a:rPr lang="zh-TW" altLang="en-US" sz="1600" dirty="0">
                <a:effectLst/>
                <a:ea typeface="微軟正黑體" panose="020B0604030504040204" pitchFamily="34" charset="-120"/>
              </a:rPr>
              <a:t>月有幾天</a:t>
            </a:r>
            <a:endParaRPr lang="en-US" altLang="zh-TW" sz="1600" dirty="0"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b="1" dirty="0" err="1">
                <a:ea typeface="微軟正黑體" panose="020B0604030504040204" pitchFamily="34" charset="-120"/>
              </a:rPr>
              <a:t>taiwan</a:t>
            </a:r>
            <a:r>
              <a:rPr lang="en-US" altLang="zh-TW" sz="1600" b="1" dirty="0">
                <a:ea typeface="微軟正黑體" panose="020B0604030504040204" pitchFamily="34" charset="-120"/>
              </a:rPr>
              <a:t>-weather</a:t>
            </a:r>
            <a:r>
              <a:rPr lang="zh-TW" altLang="en-US" sz="1600" b="1" dirty="0">
                <a:ea typeface="微軟正黑體" panose="020B0604030504040204" pitchFamily="34" charset="-120"/>
              </a:rPr>
              <a:t>：</a:t>
            </a:r>
            <a:r>
              <a:rPr lang="en-US" altLang="zh-TW" sz="1600" b="0" i="0" dirty="0">
                <a:effectLst/>
                <a:ea typeface="微軟正黑體" panose="020B0604030504040204" pitchFamily="34" charset="-120"/>
              </a:rPr>
              <a:t>#get_taiwan_weather_forecast </a:t>
            </a:r>
            <a:r>
              <a:rPr lang="zh-TW" altLang="en-US" sz="1600" b="0" i="0" dirty="0">
                <a:effectLst/>
                <a:ea typeface="微軟正黑體" panose="020B0604030504040204" pitchFamily="34" charset="-120"/>
              </a:rPr>
              <a:t>臺北天氣 </a:t>
            </a:r>
            <a:endParaRPr lang="en-US" altLang="zh-TW" sz="1600" b="0" i="0" dirty="0">
              <a:effectLst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TW" sz="1600" dirty="0"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002060"/>
                </a:solidFill>
                <a:ea typeface="微軟正黑體" panose="020B0604030504040204" pitchFamily="34" charset="-120"/>
              </a:rPr>
              <a:t>觀察重點</a:t>
            </a:r>
            <a:endParaRPr lang="en-US" altLang="zh-TW" sz="1600" b="1" dirty="0">
              <a:solidFill>
                <a:srgbClr val="002060"/>
              </a:solidFill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呼叫了 </a:t>
            </a:r>
            <a:r>
              <a:rPr lang="en-US" altLang="zh-TW" sz="1600" dirty="0">
                <a:ea typeface="微軟正黑體" panose="020B0604030504040204" pitchFamily="34" charset="-120"/>
              </a:rPr>
              <a:t>MCP</a:t>
            </a:r>
            <a:r>
              <a:rPr lang="zh-TW" altLang="en-US" sz="1600" dirty="0">
                <a:ea typeface="微軟正黑體" panose="020B0604030504040204" pitchFamily="34" charset="-120"/>
              </a:rPr>
              <a:t> </a:t>
            </a:r>
            <a:r>
              <a:rPr lang="en-US" altLang="zh-TW" sz="1600" dirty="0">
                <a:ea typeface="微軟正黑體" panose="020B0604030504040204" pitchFamily="34" charset="-120"/>
              </a:rPr>
              <a:t>server </a:t>
            </a:r>
            <a:r>
              <a:rPr lang="zh-TW" altLang="en-US" sz="1600" dirty="0">
                <a:ea typeface="微軟正黑體" panose="020B0604030504040204" pitchFamily="34" charset="-120"/>
              </a:rPr>
              <a:t>中的哪個工具</a:t>
            </a:r>
            <a:endParaRPr lang="en-US" altLang="zh-TW" sz="1600" dirty="0"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工具是否執行成功</a:t>
            </a:r>
            <a:endParaRPr lang="en-US" altLang="zh-TW" sz="1600" dirty="0"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6F8584C0-C86C-4AC8-B843-AE483602A899}"/>
              </a:ext>
            </a:extLst>
          </p:cNvPr>
          <p:cNvGrpSpPr/>
          <p:nvPr/>
        </p:nvGrpSpPr>
        <p:grpSpPr>
          <a:xfrm>
            <a:off x="545505" y="5569253"/>
            <a:ext cx="7368247" cy="586063"/>
            <a:chOff x="456000" y="5369457"/>
            <a:chExt cx="8069345" cy="631741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652BD7E5-CF96-402C-BC26-8546EC00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000" y="5369457"/>
              <a:ext cx="8069345" cy="63174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BAA90DC-0B6A-4EE8-90EE-945C943B2D45}"/>
                </a:ext>
              </a:extLst>
            </p:cNvPr>
            <p:cNvSpPr/>
            <p:nvPr/>
          </p:nvSpPr>
          <p:spPr>
            <a:xfrm>
              <a:off x="7013541" y="5557845"/>
              <a:ext cx="669304" cy="25849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F4C79762-F964-42B8-8CD2-94B9A7C76B52}"/>
              </a:ext>
            </a:extLst>
          </p:cNvPr>
          <p:cNvGrpSpPr/>
          <p:nvPr/>
        </p:nvGrpSpPr>
        <p:grpSpPr>
          <a:xfrm>
            <a:off x="6162728" y="2270338"/>
            <a:ext cx="5823132" cy="3008772"/>
            <a:chOff x="6234838" y="2289981"/>
            <a:chExt cx="5823132" cy="300877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E922DE1A-2D3A-415C-B381-93E1B10B2FFB}"/>
                </a:ext>
              </a:extLst>
            </p:cNvPr>
            <p:cNvSpPr txBox="1"/>
            <p:nvPr/>
          </p:nvSpPr>
          <p:spPr>
            <a:xfrm>
              <a:off x="6234838" y="2289981"/>
              <a:ext cx="5823132" cy="300877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TW" altLang="en-US" sz="16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注意事項</a:t>
              </a:r>
              <a:endParaRPr lang="en-US" altLang="zh-TW" sz="16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  <a:p>
              <a:pPr>
                <a:lnSpc>
                  <a:spcPct val="150000"/>
                </a:lnSpc>
              </a:pPr>
              <a:r>
                <a:rPr lang="zh-TW" altLang="en-US" sz="1600" dirty="0">
                  <a:ea typeface="微軟正黑體" panose="020B0604030504040204" pitchFamily="34" charset="-120"/>
                </a:rPr>
                <a:t>因模型較小、能力較弱，建議：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一此只選一個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MCP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server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一個聊天室只問一個問題，或是將聊天室右邊設定的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Truncate messages 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設為 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Last 1 turn (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只保留最新一輪的對話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若出現模型直接回覆 </a:t>
              </a:r>
              <a:r>
                <a:rPr lang="en-US" altLang="zh-TW" sz="1600" dirty="0" err="1">
                  <a:ea typeface="微軟正黑體" panose="020B0604030504040204" pitchFamily="34" charset="-120"/>
                </a:rPr>
                <a:t>tool_calls</a:t>
              </a:r>
              <a:r>
                <a:rPr lang="en-US" altLang="zh-TW" sz="1600" dirty="0">
                  <a:ea typeface="微軟正黑體" panose="020B0604030504040204" pitchFamily="34" charset="-120"/>
                </a:rPr>
                <a:t> </a:t>
              </a:r>
              <a:r>
                <a:rPr lang="zh-TW" altLang="en-US" sz="1600" dirty="0">
                  <a:ea typeface="微軟正黑體" panose="020B0604030504040204" pitchFamily="34" charset="-120"/>
                </a:rPr>
                <a:t>的內容，換個問題再問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>
                <a:lnSpc>
                  <a:spcPct val="150000"/>
                </a:lnSpc>
              </a:pP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>
                <a:lnSpc>
                  <a:spcPct val="150000"/>
                </a:lnSpc>
              </a:pPr>
              <a:endParaRPr lang="en-US" altLang="zh-TW" sz="1600" dirty="0">
                <a:ea typeface="微軟正黑體" panose="020B0604030504040204" pitchFamily="34" charset="-120"/>
              </a:endParaRPr>
            </a:p>
          </p:txBody>
        </p: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23518D52-16C2-4EF4-B66E-4D7C7452F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53458" y="2709178"/>
              <a:ext cx="2610214" cy="647790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11DD542D-60F4-4C6A-B2C1-FF7681D70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8525" y="4638246"/>
              <a:ext cx="5662943" cy="4397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068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1001</Words>
  <Application>Microsoft Office PowerPoint</Application>
  <PresentationFormat>寬螢幕</PresentationFormat>
  <Paragraphs>123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Inter</vt:lpstr>
      <vt:lpstr>微軟正黑體</vt:lpstr>
      <vt:lpstr>Arial</vt:lpstr>
      <vt:lpstr>Calibri</vt:lpstr>
      <vt:lpstr>Calibri Light</vt:lpstr>
      <vt:lpstr>Verdana</vt:lpstr>
      <vt:lpstr>Office 佈景主題</vt:lpstr>
      <vt:lpstr>Lab 2: Function Calling</vt:lpstr>
      <vt:lpstr>VLLM Server with Function Calling</vt:lpstr>
      <vt:lpstr>Request to VLLM Server </vt:lpstr>
      <vt:lpstr>作業 2</vt:lpstr>
      <vt:lpstr>Lab 3: MCP 實際應用</vt:lpstr>
      <vt:lpstr>Step 1 - 安裝 Node.js</vt:lpstr>
      <vt:lpstr>Step 1 - 安裝 Node.js</vt:lpstr>
      <vt:lpstr>Step 1 - 安裝 Node.js</vt:lpstr>
      <vt:lpstr>Step 1 - 安裝 Node.js</vt:lpstr>
      <vt:lpstr>Step 2 – 安裝 ChatWise</vt:lpstr>
      <vt:lpstr>Step 3 – LLM Settings</vt:lpstr>
      <vt:lpstr>Step 3 – LLM Settings</vt:lpstr>
      <vt:lpstr>Step 4 – MCP Settings</vt:lpstr>
      <vt:lpstr>Step 5 – Chatroom Settings</vt:lpstr>
      <vt:lpstr>作業 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1: AI Agent</dc:title>
  <dc:creator>吳映萱(sarah_wu)</dc:creator>
  <cp:lastModifiedBy>吳映萱(sarah_wu)</cp:lastModifiedBy>
  <cp:revision>70</cp:revision>
  <dcterms:created xsi:type="dcterms:W3CDTF">2026-03-09T09:06:25Z</dcterms:created>
  <dcterms:modified xsi:type="dcterms:W3CDTF">2026-03-11T11:45:19Z</dcterms:modified>
</cp:coreProperties>
</file>