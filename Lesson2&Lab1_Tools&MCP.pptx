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300" r:id="rId3"/>
    <p:sldId id="287" r:id="rId4"/>
    <p:sldId id="305" r:id="rId5"/>
    <p:sldId id="272" r:id="rId6"/>
    <p:sldId id="317" r:id="rId7"/>
    <p:sldId id="299" r:id="rId8"/>
    <p:sldId id="306" r:id="rId9"/>
    <p:sldId id="301" r:id="rId10"/>
    <p:sldId id="316" r:id="rId11"/>
    <p:sldId id="302" r:id="rId12"/>
    <p:sldId id="318" r:id="rId13"/>
    <p:sldId id="319" r:id="rId14"/>
    <p:sldId id="274" r:id="rId15"/>
    <p:sldId id="275" r:id="rId16"/>
    <p:sldId id="320" r:id="rId17"/>
    <p:sldId id="321" r:id="rId18"/>
    <p:sldId id="322" r:id="rId19"/>
    <p:sldId id="323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46B25F-D96E-47A7-B930-35DF912C7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62EF227-D8E2-41AE-B547-4C334BAD3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41C2A1-0FDE-43CE-B47D-CA825E7C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100C34-C996-4A87-8930-A75FBBAE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B26BBD-15C4-4E5A-B78D-2EFF9D4B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58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F5942E-0F9D-4061-85F4-53D14A0C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9FB62D-D41E-4C3E-ADFF-4183CE763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4843D4-8BC2-451B-8EB5-1B03B18E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099E65-2C00-4480-B70C-B33C6E6C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98C101-2982-455F-95DF-6F8A8942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90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FD37F-F7A9-4F16-BD29-6250DC93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9F4640-15B3-4EF5-82E9-CC9C7C071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9749DE-F556-4F43-8F1A-E39CA81E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530FA9-F95E-4729-B2B3-68B99705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854876-D3E0-449E-9F6A-E898FE49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18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EF54D3-FB58-4FD3-A6D4-9A89DD0D6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477641-6075-4850-B676-05BE83136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F4AABF-533C-41E3-AB59-6BAD1F18A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A6F2FA-BC7B-4DD0-9219-F8DBD9CB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EF7552-040A-4AD7-8988-65F88DD8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F8D671-CFF7-41E0-822D-6C4A9A08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7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D25428-D47B-4E40-A85F-8C175E664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970C57-A2E7-4105-95D1-8945DE722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701B9E6-BE51-4798-9CA4-B1933C434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4C73E4A-B684-442A-8957-D13EC5290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7CBDC38-3997-40DA-96CA-752E54B70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1D50605-8C8C-44C4-815A-D03320A0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3BE6CAA-1B30-4280-83E9-1E3FCABE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EB91298-6846-4E9F-8123-08EA3DDC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247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5B613-D497-4BC0-8E5B-FAE0B1B2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98708CD-B2E8-467F-82EF-984416C3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B60CAC6-6794-4133-A212-B8E19F69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4C0D61-F235-4675-9B3F-D8B868D6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051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34B98B6-E0D0-4DF1-8D14-B428371D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7C0EDB6-3162-4C6F-BD64-4183667E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7449B9-B2E7-49F8-B56F-B106DC78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13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1D9D22-D48B-44AD-9B7B-F9BB94DA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AE6274-732B-46B0-A924-D77D0E1D3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F61C13-4FF7-4462-8248-717E4B964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4B00D5-5B61-4D67-85C1-4FF2F7DB8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600645-06A4-40C8-84FA-EB44570A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374819-0640-4761-A5F5-52FD6C5B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19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D67658-0429-4EEB-88AF-542CB5E3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98E5965-0918-4C34-9D4F-95E22B04A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77A8B3D-B138-45B3-A01A-A40AF90B9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132FEA-A6CE-4619-904C-4ADA7FC7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26EC41-D73A-4BD8-ACDF-43BF99BE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317308-821D-45B0-8152-B464B87F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2928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6ABAF5-78FD-4C1F-B381-B6F26666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375A9E4-36C6-41A1-8F21-BB3923C62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624B8C-BA2C-4F22-90AE-C43C74BC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025C5B-CD3B-4E0E-823D-3348A662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E8C916-A5C6-43F9-A6EE-6C5802E6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87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16DF9ED-BE0F-4F62-9240-1E35CD99D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28D2BB-22D8-4108-AEFE-9C61FE7FD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C2BCFC-633D-450D-807A-9230CB1F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1849E5-7AE7-4959-B637-342E2AEA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B3F2CB-885C-4CCA-9679-1D8DD07E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9269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A picture containing white, black and white, design, art&#10;&#10;Description automatically generated">
            <a:extLst>
              <a:ext uri="{FF2B5EF4-FFF2-40B4-BE49-F238E27FC236}">
                <a16:creationId xmlns:a16="http://schemas.microsoft.com/office/drawing/2014/main" id="{44421972-C57C-A887-8FFE-A0ACE52BED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-1" y="0"/>
            <a:ext cx="12189631" cy="675838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6000" y="365125"/>
            <a:ext cx="10897800" cy="720000"/>
          </a:xfrm>
        </p:spPr>
        <p:txBody>
          <a:bodyPr>
            <a:normAutofit/>
          </a:bodyPr>
          <a:lstStyle>
            <a:lvl1pPr>
              <a:defRPr lang="en-US" sz="2667" b="1" kern="1200" dirty="0">
                <a:solidFill>
                  <a:srgbClr val="13295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pPr marL="0" lv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FA58-57C5-4E70-9489-90A970138A3C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451B-18F2-46CA-8EB8-6249CA8937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8AE6D7-2560-0505-293F-2C27409205DC}"/>
              </a:ext>
            </a:extLst>
          </p:cNvPr>
          <p:cNvSpPr/>
          <p:nvPr userDrawn="1"/>
        </p:nvSpPr>
        <p:spPr>
          <a:xfrm rot="5400000">
            <a:off x="989850" y="-478269"/>
            <a:ext cx="162729" cy="1119263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8" name="Picture 19" descr="A picture containing logo&#10;&#10;Description automatically generated">
            <a:extLst>
              <a:ext uri="{FF2B5EF4-FFF2-40B4-BE49-F238E27FC236}">
                <a16:creationId xmlns:a16="http://schemas.microsoft.com/office/drawing/2014/main" id="{6531A58A-1210-16EB-98A8-4045DAEF5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6383046"/>
            <a:ext cx="12215445" cy="474955"/>
          </a:xfrm>
          <a:prstGeom prst="rect">
            <a:avLst/>
          </a:prstGeom>
        </p:spPr>
      </p:pic>
      <p:pic>
        <p:nvPicPr>
          <p:cNvPr id="9" name="Graphic 20">
            <a:extLst>
              <a:ext uri="{FF2B5EF4-FFF2-40B4-BE49-F238E27FC236}">
                <a16:creationId xmlns:a16="http://schemas.microsoft.com/office/drawing/2014/main" id="{8BCFE683-3CFA-F703-841D-7DBC12C784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  <p:sp>
        <p:nvSpPr>
          <p:cNvPr id="10" name="TextBox 21">
            <a:extLst>
              <a:ext uri="{FF2B5EF4-FFF2-40B4-BE49-F238E27FC236}">
                <a16:creationId xmlns:a16="http://schemas.microsoft.com/office/drawing/2014/main" id="{756FAE72-220F-7F03-A50E-5F4AA875B136}"/>
              </a:ext>
            </a:extLst>
          </p:cNvPr>
          <p:cNvSpPr txBox="1"/>
          <p:nvPr userDrawn="1"/>
        </p:nvSpPr>
        <p:spPr>
          <a:xfrm>
            <a:off x="462435" y="6383045"/>
            <a:ext cx="2686316" cy="47495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spc="6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CD7A373-688F-F794-2189-835EA25C31F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1119" y="6383045"/>
            <a:ext cx="5923175" cy="47495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50" b="0" i="1" spc="300">
                <a:solidFill>
                  <a:schemeClr val="bg1"/>
                </a:solidFill>
                <a:latin typeface="+mn-lt"/>
                <a:ea typeface="Roboto" panose="02000000000000000000" pitchFamily="2" charset="0"/>
              </a:defRPr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endParaRPr lang="en-US"/>
          </a:p>
        </p:txBody>
      </p:sp>
      <p:pic>
        <p:nvPicPr>
          <p:cNvPr id="12" name="Graphic 24">
            <a:extLst>
              <a:ext uri="{FF2B5EF4-FFF2-40B4-BE49-F238E27FC236}">
                <a16:creationId xmlns:a16="http://schemas.microsoft.com/office/drawing/2014/main" id="{AB50E332-CD18-AF4C-6ACD-BD31EF08D9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  <p:pic>
        <p:nvPicPr>
          <p:cNvPr id="13" name="Graphic 26">
            <a:extLst>
              <a:ext uri="{FF2B5EF4-FFF2-40B4-BE49-F238E27FC236}">
                <a16:creationId xmlns:a16="http://schemas.microsoft.com/office/drawing/2014/main" id="{9553E116-8FD8-4E8A-1C6A-66FB5FFE56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94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44BD97F-2FEA-48AE-B873-1F187A71C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29DD5D-B36B-4946-8145-86E1AAFC6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5778DF-497B-4F02-AA9B-1DFBE4FEB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BE5AE-CA0D-4FF8-8681-D1C62A915231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FAB17C-2B72-4AAA-98B0-5C755E941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A976CB-948A-4630-9A9D-8DD5C8CDA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9466F-5909-4408-9D98-8CEE3D1FC3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2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postman.com/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data.cwa.gov.tw/api/v1/rest/datastore/F-C0032-001" TargetMode="External"/><Relationship Id="rId2" Type="http://schemas.openxmlformats.org/officeDocument/2006/relationships/hyperlink" Target="https://opendata.cwa.gov.tw/dist/opendata-swagger.html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8559A-AB4A-49F3-AE38-0C35173E8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5000" b="1" dirty="0">
                <a:solidFill>
                  <a:srgbClr val="002060"/>
                </a:solidFill>
                <a:latin typeface="+mn-lt"/>
                <a:ea typeface="微軟正黑體" panose="020B0604030504040204" pitchFamily="34" charset="-120"/>
              </a:rPr>
              <a:t>Lesson 2: Tools &amp; MCP</a:t>
            </a:r>
            <a:endParaRPr lang="zh-TW" altLang="en-US" sz="5000" b="1" dirty="0">
              <a:solidFill>
                <a:srgbClr val="002060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6A754C-D017-4B3D-90C9-F17E42B3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0305" y="3868181"/>
            <a:ext cx="9144000" cy="536329"/>
          </a:xfrm>
        </p:spPr>
        <p:txBody>
          <a:bodyPr>
            <a:normAutofit/>
          </a:bodyPr>
          <a:lstStyle/>
          <a:p>
            <a:r>
              <a:rPr lang="zh-TW" altLang="en-US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講師：吳映萱 </a:t>
            </a:r>
            <a:r>
              <a:rPr lang="en-US" altLang="zh-TW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Sarah</a:t>
            </a:r>
            <a:endParaRPr lang="zh-TW" altLang="en-US" sz="2200" b="1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512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3AE5ED5-4070-4F21-A9BA-2339DCF24D99}"/>
              </a:ext>
            </a:extLst>
          </p:cNvPr>
          <p:cNvSpPr txBox="1"/>
          <p:nvPr/>
        </p:nvSpPr>
        <p:spPr>
          <a:xfrm>
            <a:off x="2502240" y="2782669"/>
            <a:ext cx="7220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工具可以是什麼？</a:t>
            </a:r>
            <a:endParaRPr lang="en-US" altLang="zh-TW" sz="3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483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740D62-A573-49C8-A8D9-2B6F59AB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Q:</a:t>
            </a:r>
            <a:r>
              <a:rPr lang="zh-TW" altLang="en-US" dirty="0"/>
              <a:t> 工具可以是什麼？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CED797-4ABC-4C0E-9E32-EF49180A0F9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12E471D-EC94-42EF-9E98-D0FE19305F73}"/>
              </a:ext>
            </a:extLst>
          </p:cNvPr>
          <p:cNvSpPr txBox="1">
            <a:spLocks/>
          </p:cNvSpPr>
          <p:nvPr/>
        </p:nvSpPr>
        <p:spPr>
          <a:xfrm>
            <a:off x="456000" y="913451"/>
            <a:ext cx="108978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67" b="1" kern="1200" dirty="0">
                <a:solidFill>
                  <a:srgbClr val="13295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r>
              <a:rPr lang="en-US" altLang="zh-TW" dirty="0">
                <a:solidFill>
                  <a:schemeClr val="accent2"/>
                </a:solidFill>
              </a:rPr>
              <a:t>A: </a:t>
            </a:r>
            <a:r>
              <a:rPr lang="zh-TW" altLang="en-US" dirty="0">
                <a:solidFill>
                  <a:schemeClr val="accent2"/>
                </a:solidFill>
              </a:rPr>
              <a:t>什麼都可以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0E99141-8A74-4363-AA3E-058669838C08}"/>
              </a:ext>
            </a:extLst>
          </p:cNvPr>
          <p:cNvGrpSpPr/>
          <p:nvPr/>
        </p:nvGrpSpPr>
        <p:grpSpPr>
          <a:xfrm>
            <a:off x="456000" y="2522484"/>
            <a:ext cx="10724211" cy="2228079"/>
            <a:chOff x="378262" y="1730632"/>
            <a:chExt cx="10724211" cy="222807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2D1809B-70FF-4A4A-8C4C-1F39B5768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836" b="94536" l="9732" r="89933">
                          <a14:foregroundMark x1="89597" y1="64481" x2="89597" y2="64481"/>
                          <a14:foregroundMark x1="50336" y1="94536" x2="50336" y2="9453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8262" y="2057850"/>
              <a:ext cx="1503619" cy="1846728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90672F0-B3F7-48F8-94E5-DFEDAE5C7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8784" b="90878" l="5650" r="93503">
                          <a14:foregroundMark x1="5650" y1="45270" x2="5650" y2="45270"/>
                          <a14:foregroundMark x1="93785" y1="40878" x2="93785" y2="40878"/>
                          <a14:foregroundMark x1="49435" y1="91216" x2="49435" y2="91216"/>
                          <a14:foregroundMark x1="50565" y1="8784" x2="50565" y2="878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338508" y="2161520"/>
              <a:ext cx="2149343" cy="1797191"/>
            </a:xfrm>
            <a:prstGeom prst="rect">
              <a:avLst/>
            </a:prstGeom>
          </p:spPr>
        </p:pic>
        <p:pic>
          <p:nvPicPr>
            <p:cNvPr id="7170" name="Picture 2" descr="NANO-BANANA : photo editor - 在Windows 上下載並安裝| Microsoft Store">
              <a:extLst>
                <a:ext uri="{FF2B5EF4-FFF2-40B4-BE49-F238E27FC236}">
                  <a16:creationId xmlns:a16="http://schemas.microsoft.com/office/drawing/2014/main" id="{6662E1BF-6558-4328-A808-7A0A2F25B2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1095" y="2209704"/>
              <a:ext cx="1567608" cy="1567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36315D33-9A91-435A-AF69-D22957A51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5B9BD5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211" b="93421" l="7483" r="89796">
                          <a14:foregroundMark x1="7483" y1="47368" x2="7483" y2="47368"/>
                          <a14:foregroundMark x1="31973" y1="44079" x2="31973" y2="44079"/>
                          <a14:foregroundMark x1="62585" y1="51974" x2="62585" y2="51974"/>
                          <a14:foregroundMark x1="63265" y1="12500" x2="63265" y2="12500"/>
                          <a14:foregroundMark x1="42177" y1="90789" x2="42177" y2="90789"/>
                          <a14:foregroundMark x1="62585" y1="93421" x2="62585" y2="93421"/>
                          <a14:foregroundMark x1="42857" y1="89474" x2="42857" y2="894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21947" y="2161520"/>
              <a:ext cx="1475864" cy="1526064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4C76364-865B-4832-8D26-8711A9875898}"/>
                </a:ext>
              </a:extLst>
            </p:cNvPr>
            <p:cNvSpPr txBox="1"/>
            <p:nvPr/>
          </p:nvSpPr>
          <p:spPr>
            <a:xfrm>
              <a:off x="764822" y="1733907"/>
              <a:ext cx="73049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200" b="1" dirty="0"/>
                <a:t>RAG</a:t>
              </a:r>
              <a:endParaRPr lang="zh-TW" altLang="en-US" sz="2200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44DB076-8ACC-4012-B142-BA5AF277F9A9}"/>
                </a:ext>
              </a:extLst>
            </p:cNvPr>
            <p:cNvSpPr txBox="1"/>
            <p:nvPr/>
          </p:nvSpPr>
          <p:spPr>
            <a:xfrm>
              <a:off x="2525565" y="1730633"/>
              <a:ext cx="177522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200" b="1" dirty="0"/>
                <a:t>Web Search</a:t>
              </a:r>
              <a:endParaRPr lang="zh-TW" altLang="en-US" sz="2200" b="1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7416B6A-9576-468C-89FB-52C09134BABB}"/>
                </a:ext>
              </a:extLst>
            </p:cNvPr>
            <p:cNvSpPr txBox="1"/>
            <p:nvPr/>
          </p:nvSpPr>
          <p:spPr>
            <a:xfrm>
              <a:off x="4944478" y="1730633"/>
              <a:ext cx="19208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200" b="1" dirty="0"/>
                <a:t>Image Creator</a:t>
              </a:r>
              <a:endParaRPr lang="zh-TW" altLang="en-US" sz="2200" b="1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D990F818-5A62-4B05-B97A-2B190323057A}"/>
                </a:ext>
              </a:extLst>
            </p:cNvPr>
            <p:cNvSpPr txBox="1"/>
            <p:nvPr/>
          </p:nvSpPr>
          <p:spPr>
            <a:xfrm>
              <a:off x="7694630" y="1730632"/>
              <a:ext cx="73049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200" b="1" dirty="0"/>
                <a:t>LLM</a:t>
              </a:r>
              <a:endParaRPr lang="zh-TW" altLang="en-US" sz="2200" b="1" dirty="0"/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5C88A591-8D4B-4AA8-84CB-1B41E9F32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31055" y="2187607"/>
              <a:ext cx="1567608" cy="1603236"/>
            </a:xfrm>
            <a:prstGeom prst="rect">
              <a:avLst/>
            </a:prstGeom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C41D656B-A828-48B8-9DFB-4F1966D6F541}"/>
                </a:ext>
              </a:extLst>
            </p:cNvPr>
            <p:cNvSpPr txBox="1"/>
            <p:nvPr/>
          </p:nvSpPr>
          <p:spPr>
            <a:xfrm>
              <a:off x="9327244" y="1730632"/>
              <a:ext cx="177522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200" b="1" dirty="0"/>
                <a:t>AI Agent</a:t>
              </a:r>
              <a:endParaRPr lang="zh-TW" alt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4808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FFB1DA-9B39-401B-B5AD-C827C6D77A0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C7DE929F-2578-43A7-9E5C-4037B3CBDDEA}"/>
              </a:ext>
            </a:extLst>
          </p:cNvPr>
          <p:cNvGrpSpPr/>
          <p:nvPr/>
        </p:nvGrpSpPr>
        <p:grpSpPr>
          <a:xfrm>
            <a:off x="4426043" y="714641"/>
            <a:ext cx="3339913" cy="5428717"/>
            <a:chOff x="4426043" y="714641"/>
            <a:chExt cx="3339913" cy="5428717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ADB9DEA1-F497-44A4-89C3-2A8C61F0C63E}"/>
                </a:ext>
              </a:extLst>
            </p:cNvPr>
            <p:cNvGrpSpPr/>
            <p:nvPr/>
          </p:nvGrpSpPr>
          <p:grpSpPr>
            <a:xfrm>
              <a:off x="4426043" y="714641"/>
              <a:ext cx="3339913" cy="5428717"/>
              <a:chOff x="7705872" y="605523"/>
              <a:chExt cx="3339913" cy="5428717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4D96B4B3-4D79-49F3-9090-D0C0EF9F00E0}"/>
                  </a:ext>
                </a:extLst>
              </p:cNvPr>
              <p:cNvGrpSpPr/>
              <p:nvPr/>
            </p:nvGrpSpPr>
            <p:grpSpPr>
              <a:xfrm>
                <a:off x="8063952" y="1339129"/>
                <a:ext cx="1252524" cy="1603520"/>
                <a:chOff x="557422" y="3613157"/>
                <a:chExt cx="1252524" cy="1603520"/>
              </a:xfrm>
            </p:grpSpPr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43135FD4-EE27-40B7-B97F-D1DF8E4D7A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422" y="3921550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874F54F5-5A5D-4D19-8308-61477868023F}"/>
                    </a:ext>
                  </a:extLst>
                </p:cNvPr>
                <p:cNvSpPr txBox="1"/>
                <p:nvPr/>
              </p:nvSpPr>
              <p:spPr>
                <a:xfrm>
                  <a:off x="723054" y="3613157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07C4C51B-5996-433E-9835-D3030A5551B0}"/>
                  </a:ext>
                </a:extLst>
              </p:cNvPr>
              <p:cNvGrpSpPr/>
              <p:nvPr/>
            </p:nvGrpSpPr>
            <p:grpSpPr>
              <a:xfrm>
                <a:off x="9701395" y="2295085"/>
                <a:ext cx="1237626" cy="1603521"/>
                <a:chOff x="8821286" y="1944613"/>
                <a:chExt cx="1237626" cy="1603521"/>
              </a:xfrm>
            </p:grpSpPr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8FE8150-594F-49F1-B40D-7CBE1485CB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471" b="96100" l="10000" r="90000">
                              <a14:foregroundMark x1="13889" y1="21170" x2="13889" y2="21170"/>
                              <a14:foregroundMark x1="24444" y1="24234" x2="24444" y2="24234"/>
                              <a14:foregroundMark x1="30000" y1="22006" x2="30000" y2="22006"/>
                              <a14:foregroundMark x1="39722" y1="81616" x2="39722" y2="81616"/>
                              <a14:foregroundMark x1="19444" y1="92201" x2="19444" y2="92201"/>
                              <a14:foregroundMark x1="28889" y1="96100" x2="28889" y2="96100"/>
                              <a14:foregroundMark x1="23056" y1="79666" x2="23056" y2="79666"/>
                              <a14:foregroundMark x1="75556" y1="10306" x2="75556" y2="10306"/>
                              <a14:foregroundMark x1="76667" y1="9749" x2="76667" y2="9749"/>
                              <a14:foregroundMark x1="23333" y1="9749" x2="23333" y2="974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21286" y="2313946"/>
                  <a:ext cx="1237626" cy="1234188"/>
                </a:xfrm>
                <a:prstGeom prst="rect">
                  <a:avLst/>
                </a:prstGeom>
              </p:spPr>
            </p:pic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C996E07F-2F7D-42DB-9589-6362573AA8D0}"/>
                    </a:ext>
                  </a:extLst>
                </p:cNvPr>
                <p:cNvSpPr txBox="1"/>
                <p:nvPr/>
              </p:nvSpPr>
              <p:spPr>
                <a:xfrm>
                  <a:off x="8916230" y="1944613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C35710"/>
                      </a:solidFill>
                    </a:rPr>
                    <a:t>Tool</a:t>
                  </a:r>
                  <a:endParaRPr lang="zh-TW" altLang="en-US" sz="2000" b="1" dirty="0">
                    <a:solidFill>
                      <a:srgbClr val="C35710"/>
                    </a:solidFill>
                  </a:endParaRPr>
                </a:p>
              </p:txBody>
            </p:sp>
          </p:grpSp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0828828A-1EE6-4F0B-A98F-E9336FD0641E}"/>
                  </a:ext>
                </a:extLst>
              </p:cNvPr>
              <p:cNvGrpSpPr/>
              <p:nvPr/>
            </p:nvGrpSpPr>
            <p:grpSpPr>
              <a:xfrm>
                <a:off x="8123306" y="3576115"/>
                <a:ext cx="1252524" cy="1603520"/>
                <a:chOff x="557422" y="3613157"/>
                <a:chExt cx="1252524" cy="1603520"/>
              </a:xfrm>
            </p:grpSpPr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60ED289F-64C6-4104-A7CF-A73923490B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422" y="3921550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B9307505-EA65-4193-AB25-8FC02E71A4C9}"/>
                    </a:ext>
                  </a:extLst>
                </p:cNvPr>
                <p:cNvSpPr txBox="1"/>
                <p:nvPr/>
              </p:nvSpPr>
              <p:spPr>
                <a:xfrm>
                  <a:off x="723054" y="3613157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cxnSp>
            <p:nvCxnSpPr>
              <p:cNvPr id="8" name="接點: 肘形 7">
                <a:extLst>
                  <a:ext uri="{FF2B5EF4-FFF2-40B4-BE49-F238E27FC236}">
                    <a16:creationId xmlns:a16="http://schemas.microsoft.com/office/drawing/2014/main" id="{014C9ADC-6CA6-4F80-8524-C4EFE054474A}"/>
                  </a:ext>
                </a:extLst>
              </p:cNvPr>
              <p:cNvCxnSpPr>
                <a:stCxn id="20" idx="2"/>
              </p:cNvCxnSpPr>
              <p:nvPr/>
            </p:nvCxnSpPr>
            <p:spPr>
              <a:xfrm rot="16200000" flipH="1">
                <a:off x="9173318" y="2459544"/>
                <a:ext cx="139916" cy="1106125"/>
              </a:xfrm>
              <a:prstGeom prst="bentConnector2">
                <a:avLst/>
              </a:prstGeom>
              <a:ln w="28575">
                <a:solidFill>
                  <a:srgbClr val="3471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接點: 肘形 8">
                <a:extLst>
                  <a:ext uri="{FF2B5EF4-FFF2-40B4-BE49-F238E27FC236}">
                    <a16:creationId xmlns:a16="http://schemas.microsoft.com/office/drawing/2014/main" id="{7414421E-83F6-46D7-8516-5205B459D236}"/>
                  </a:ext>
                </a:extLst>
              </p:cNvPr>
              <p:cNvCxnSpPr>
                <a:cxnSpLocks/>
                <a:stCxn id="18" idx="1"/>
                <a:endCxn id="17" idx="0"/>
              </p:cNvCxnSpPr>
              <p:nvPr/>
            </p:nvCxnSpPr>
            <p:spPr>
              <a:xfrm rot="10800000" flipV="1">
                <a:off x="8749569" y="3281511"/>
                <a:ext cx="951827" cy="294603"/>
              </a:xfrm>
              <a:prstGeom prst="bentConnector2">
                <a:avLst/>
              </a:prstGeom>
              <a:ln w="28575">
                <a:solidFill>
                  <a:srgbClr val="C3571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68E4DA1F-2DA0-4986-96B7-5D6477F1822B}"/>
                  </a:ext>
                </a:extLst>
              </p:cNvPr>
              <p:cNvSpPr/>
              <p:nvPr/>
            </p:nvSpPr>
            <p:spPr>
              <a:xfrm>
                <a:off x="7988431" y="1085125"/>
                <a:ext cx="2950590" cy="4373628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2D9A556-5A17-41FC-9EED-79F172A3C603}"/>
                  </a:ext>
                </a:extLst>
              </p:cNvPr>
              <p:cNvSpPr txBox="1"/>
              <p:nvPr/>
            </p:nvSpPr>
            <p:spPr>
              <a:xfrm>
                <a:off x="7900535" y="605523"/>
                <a:ext cx="29505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/>
                  <a:t>Request</a:t>
                </a:r>
                <a:endParaRPr lang="zh-TW" altLang="en-US" b="1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1B0E49E-9CF9-461A-AACC-D9FEBDE995E3}"/>
                  </a:ext>
                </a:extLst>
              </p:cNvPr>
              <p:cNvSpPr txBox="1"/>
              <p:nvPr/>
            </p:nvSpPr>
            <p:spPr>
              <a:xfrm>
                <a:off x="7705872" y="5664908"/>
                <a:ext cx="3339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/>
                  <a:t>Response</a:t>
                </a:r>
                <a:endParaRPr lang="zh-TW" altLang="en-US" b="1" dirty="0"/>
              </a:p>
            </p:txBody>
          </p:sp>
          <p:cxnSp>
            <p:nvCxnSpPr>
              <p:cNvPr id="13" name="接點: 肘形 12">
                <a:extLst>
                  <a:ext uri="{FF2B5EF4-FFF2-40B4-BE49-F238E27FC236}">
                    <a16:creationId xmlns:a16="http://schemas.microsoft.com/office/drawing/2014/main" id="{8A782512-2EB7-4BB8-B1C3-7FD57506EF93}"/>
                  </a:ext>
                </a:extLst>
              </p:cNvPr>
              <p:cNvCxnSpPr>
                <a:cxnSpLocks/>
                <a:stCxn id="11" idx="2"/>
                <a:endCxn id="21" idx="0"/>
              </p:cNvCxnSpPr>
              <p:nvPr/>
            </p:nvCxnSpPr>
            <p:spPr>
              <a:xfrm rot="5400000">
                <a:off x="8850885" y="814184"/>
                <a:ext cx="364274" cy="685616"/>
              </a:xfrm>
              <a:prstGeom prst="bentConnector3">
                <a:avLst>
                  <a:gd name="adj1" fmla="val 57764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接點: 肘形 13">
                <a:extLst>
                  <a:ext uri="{FF2B5EF4-FFF2-40B4-BE49-F238E27FC236}">
                    <a16:creationId xmlns:a16="http://schemas.microsoft.com/office/drawing/2014/main" id="{00ABE8CF-49C1-4E9D-9380-A4EF075114D3}"/>
                  </a:ext>
                </a:extLst>
              </p:cNvPr>
              <p:cNvCxnSpPr>
                <a:cxnSpLocks/>
                <a:stCxn id="16" idx="2"/>
                <a:endCxn id="12" idx="0"/>
              </p:cNvCxnSpPr>
              <p:nvPr/>
            </p:nvCxnSpPr>
            <p:spPr>
              <a:xfrm rot="16200000" flipH="1">
                <a:off x="8820062" y="5109140"/>
                <a:ext cx="485273" cy="626261"/>
              </a:xfrm>
              <a:prstGeom prst="bentConnector3">
                <a:avLst>
                  <a:gd name="adj1" fmla="val 26689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9E9829E-BB1B-424F-94C7-B6E7146D7FEA}"/>
                  </a:ext>
                </a:extLst>
              </p:cNvPr>
              <p:cNvSpPr txBox="1"/>
              <p:nvPr/>
            </p:nvSpPr>
            <p:spPr>
              <a:xfrm>
                <a:off x="9796339" y="1154763"/>
                <a:ext cx="921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Agent</a:t>
                </a:r>
                <a:endParaRPr lang="zh-TW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86F5D6A-BCC1-4F0F-B3AA-A2ACCDE19063}"/>
                </a:ext>
              </a:extLst>
            </p:cNvPr>
            <p:cNvSpPr/>
            <p:nvPr/>
          </p:nvSpPr>
          <p:spPr>
            <a:xfrm>
              <a:off x="5231412" y="2985712"/>
              <a:ext cx="1355786" cy="76822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4" name="標題 1">
            <a:extLst>
              <a:ext uri="{FF2B5EF4-FFF2-40B4-BE49-F238E27FC236}">
                <a16:creationId xmlns:a16="http://schemas.microsoft.com/office/drawing/2014/main" id="{61F8FDF7-0B74-414B-AC16-D3B9539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365125"/>
            <a:ext cx="10897800" cy="720000"/>
          </a:xfrm>
        </p:spPr>
        <p:txBody>
          <a:bodyPr/>
          <a:lstStyle/>
          <a:p>
            <a:r>
              <a:rPr lang="en-US" altLang="zh-TW" dirty="0"/>
              <a:t>Architecture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2896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6EE029-DD30-4FE3-8B5C-E6BF743B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zh-TW" altLang="en-US" dirty="0"/>
              <a:t>讓工具可以跟外界溝通的利器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8A8D32-B08F-4D52-86AF-68B59454776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AA5F6A-AE40-4186-8499-6A73142F771F}"/>
              </a:ext>
            </a:extLst>
          </p:cNvPr>
          <p:cNvSpPr txBox="1"/>
          <p:nvPr/>
        </p:nvSpPr>
        <p:spPr>
          <a:xfrm>
            <a:off x="436774" y="3623580"/>
            <a:ext cx="5630207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相關術語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Client (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客戶端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：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有需求的人</a:t>
            </a:r>
            <a:r>
              <a:rPr lang="zh-TW" altLang="en-US" sz="1600" dirty="0">
                <a:ea typeface="微軟正黑體" panose="020B0604030504040204" pitchFamily="34" charset="-120"/>
              </a:rPr>
              <a:t>，就像點餐的</a:t>
            </a:r>
            <a:r>
              <a:rPr lang="zh-TW" altLang="en-US" sz="1600" b="1" dirty="0">
                <a:ea typeface="微軟正黑體" panose="020B0604030504040204" pitchFamily="34" charset="-120"/>
              </a:rPr>
              <a:t>顧客</a:t>
            </a:r>
            <a:r>
              <a:rPr lang="zh-TW" altLang="en-US" sz="1600" dirty="0">
                <a:ea typeface="微軟正黑體" panose="020B0604030504040204" pitchFamily="34" charset="-120"/>
              </a:rPr>
              <a:t>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Server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伺服器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：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服務本體，</a:t>
            </a:r>
            <a:r>
              <a:rPr lang="zh-TW" altLang="en-US" sz="1600" dirty="0">
                <a:ea typeface="微軟正黑體" panose="020B0604030504040204" pitchFamily="34" charset="-120"/>
              </a:rPr>
              <a:t>就像準備餐點的</a:t>
            </a:r>
            <a:r>
              <a:rPr lang="zh-TW" altLang="en-US" sz="1600" b="1" dirty="0">
                <a:ea typeface="微軟正黑體" panose="020B0604030504040204" pitchFamily="34" charset="-120"/>
              </a:rPr>
              <a:t>廚房</a:t>
            </a:r>
            <a:r>
              <a:rPr lang="zh-TW" altLang="en-US" sz="1600" dirty="0">
                <a:ea typeface="微軟正黑體" panose="020B0604030504040204" pitchFamily="34" charset="-120"/>
              </a:rPr>
              <a:t>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Request (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請求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：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需求內容</a:t>
            </a:r>
            <a:r>
              <a:rPr lang="zh-TW" altLang="en-US" sz="1600" dirty="0">
                <a:ea typeface="微軟正黑體" panose="020B0604030504040204" pitchFamily="34" charset="-120"/>
              </a:rPr>
              <a:t>，就像</a:t>
            </a:r>
            <a:r>
              <a:rPr lang="zh-TW" altLang="en-US" sz="1600" b="1" dirty="0">
                <a:ea typeface="微軟正黑體" panose="020B0604030504040204" pitchFamily="34" charset="-120"/>
              </a:rPr>
              <a:t>顧客點的菜單</a:t>
            </a:r>
            <a:r>
              <a:rPr lang="zh-TW" altLang="en-US" sz="1600" dirty="0">
                <a:ea typeface="微軟正黑體" panose="020B0604030504040204" pitchFamily="34" charset="-120"/>
              </a:rPr>
              <a:t>，由客戶端發送給伺服器。</a:t>
            </a:r>
            <a:endParaRPr lang="en-US" altLang="zh-TW" sz="1600" b="1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Response (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回應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：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結果內容</a:t>
            </a:r>
            <a:r>
              <a:rPr lang="zh-TW" altLang="en-US" sz="1600" b="1" dirty="0">
                <a:ea typeface="微軟正黑體" panose="020B0604030504040204" pitchFamily="34" charset="-120"/>
              </a:rPr>
              <a:t>，</a:t>
            </a:r>
            <a:r>
              <a:rPr lang="zh-TW" altLang="en-US" sz="1600" dirty="0">
                <a:ea typeface="微軟正黑體" panose="020B0604030504040204" pitchFamily="34" charset="-120"/>
              </a:rPr>
              <a:t>就像廚房送出的</a:t>
            </a:r>
            <a:r>
              <a:rPr lang="zh-TW" altLang="en-US" sz="1600" b="1" dirty="0">
                <a:ea typeface="微軟正黑體" panose="020B0604030504040204" pitchFamily="34" charset="-120"/>
              </a:rPr>
              <a:t>料理</a:t>
            </a:r>
            <a:r>
              <a:rPr lang="zh-TW" altLang="en-US" sz="1600" dirty="0">
                <a:ea typeface="微軟正黑體" panose="020B0604030504040204" pitchFamily="34" charset="-120"/>
              </a:rPr>
              <a:t>，是伺服器處理後，回傳給客戶端的結果。</a:t>
            </a:r>
            <a:endParaRPr lang="en-US" altLang="zh-TW" sz="1600" b="1" dirty="0">
              <a:ea typeface="微軟正黑體" panose="020B0604030504040204" pitchFamily="34" charset="-12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AA093D6C-4C1F-4F51-8A53-9C00D61471AD}"/>
              </a:ext>
            </a:extLst>
          </p:cNvPr>
          <p:cNvGrpSpPr/>
          <p:nvPr/>
        </p:nvGrpSpPr>
        <p:grpSpPr>
          <a:xfrm>
            <a:off x="6350479" y="3454924"/>
            <a:ext cx="5447629" cy="2728664"/>
            <a:chOff x="6599829" y="3292947"/>
            <a:chExt cx="5447629" cy="2728664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9E4D7E89-AB7F-4615-9716-EDBFD4C79324}"/>
                </a:ext>
              </a:extLst>
            </p:cNvPr>
            <p:cNvGrpSpPr/>
            <p:nvPr/>
          </p:nvGrpSpPr>
          <p:grpSpPr>
            <a:xfrm>
              <a:off x="6599829" y="3292947"/>
              <a:ext cx="5447629" cy="2728664"/>
              <a:chOff x="349857" y="3249593"/>
              <a:chExt cx="5447629" cy="2728664"/>
            </a:xfrm>
          </p:grpSpPr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D8C13F31-7DBE-4555-870F-720C873471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896" b="94010" l="6704" r="93855">
                            <a14:foregroundMark x1="6983" y1="41927" x2="6983" y2="41927"/>
                            <a14:foregroundMark x1="92179" y1="32031" x2="92179" y2="32031"/>
                            <a14:foregroundMark x1="94134" y1="59896" x2="94134" y2="59896"/>
                            <a14:foregroundMark x1="82123" y1="94010" x2="82123" y2="94010"/>
                            <a14:foregroundMark x1="93855" y1="42708" x2="93855" y2="42708"/>
                          </a14:backgroundRemoval>
                        </a14:imgEffect>
                      </a14:imgLayer>
                    </a14:imgProps>
                  </a:ext>
                </a:extLst>
              </a:blip>
              <a:srcRect t="8422"/>
              <a:stretch/>
            </p:blipFill>
            <p:spPr>
              <a:xfrm>
                <a:off x="4055587" y="4201704"/>
                <a:ext cx="1645569" cy="1616424"/>
              </a:xfrm>
              <a:prstGeom prst="rect">
                <a:avLst/>
              </a:prstGeom>
            </p:spPr>
          </p:pic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EC84019E-E460-4C22-AE34-0C822FA93CD0}"/>
                  </a:ext>
                </a:extLst>
              </p:cNvPr>
              <p:cNvSpPr/>
              <p:nvPr/>
            </p:nvSpPr>
            <p:spPr>
              <a:xfrm>
                <a:off x="3959258" y="3555345"/>
                <a:ext cx="1838228" cy="2327594"/>
              </a:xfrm>
              <a:prstGeom prst="round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18CDBE91-EC6D-4C69-85B4-94E71687B54B}"/>
                  </a:ext>
                </a:extLst>
              </p:cNvPr>
              <p:cNvGrpSpPr/>
              <p:nvPr/>
            </p:nvGrpSpPr>
            <p:grpSpPr>
              <a:xfrm>
                <a:off x="349857" y="3560956"/>
                <a:ext cx="2465244" cy="2417301"/>
                <a:chOff x="349857" y="3560956"/>
                <a:chExt cx="2465244" cy="2417301"/>
              </a:xfrm>
            </p:grpSpPr>
            <p:grpSp>
              <p:nvGrpSpPr>
                <p:cNvPr id="11" name="群組 10">
                  <a:extLst>
                    <a:ext uri="{FF2B5EF4-FFF2-40B4-BE49-F238E27FC236}">
                      <a16:creationId xmlns:a16="http://schemas.microsoft.com/office/drawing/2014/main" id="{E9F49827-5D44-4007-96DD-06F79CFE7595}"/>
                    </a:ext>
                  </a:extLst>
                </p:cNvPr>
                <p:cNvGrpSpPr/>
                <p:nvPr/>
              </p:nvGrpSpPr>
              <p:grpSpPr>
                <a:xfrm>
                  <a:off x="349857" y="3855329"/>
                  <a:ext cx="2374158" cy="2122928"/>
                  <a:chOff x="6666147" y="3811740"/>
                  <a:chExt cx="2958619" cy="2510542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3B9E220C-4007-4C18-B9B6-2DC8649177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11474" t="15354" r="6106" b="11052"/>
                  <a:stretch/>
                </p:blipFill>
                <p:spPr>
                  <a:xfrm>
                    <a:off x="6666147" y="3811740"/>
                    <a:ext cx="2958619" cy="2510542"/>
                  </a:xfrm>
                  <a:prstGeom prst="rect">
                    <a:avLst/>
                  </a:prstGeom>
                </p:spPr>
              </p:pic>
              <p:sp>
                <p:nvSpPr>
                  <p:cNvPr id="10" name="矩形 9">
                    <a:extLst>
                      <a:ext uri="{FF2B5EF4-FFF2-40B4-BE49-F238E27FC236}">
                        <a16:creationId xmlns:a16="http://schemas.microsoft.com/office/drawing/2014/main" id="{11BC5479-87EA-4A13-9C52-B7BC1994EF3C}"/>
                      </a:ext>
                    </a:extLst>
                  </p:cNvPr>
                  <p:cNvSpPr/>
                  <p:nvPr/>
                </p:nvSpPr>
                <p:spPr>
                  <a:xfrm>
                    <a:off x="6881567" y="3987538"/>
                    <a:ext cx="2450969" cy="163083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pic>
                <p:nvPicPr>
                  <p:cNvPr id="6" name="圖片 5">
                    <a:extLst>
                      <a:ext uri="{FF2B5EF4-FFF2-40B4-BE49-F238E27FC236}">
                        <a16:creationId xmlns:a16="http://schemas.microsoft.com/office/drawing/2014/main" id="{1C628CB0-375A-4739-B9FD-B7EEA50FA0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32594" t="6828" r="30652" b="72259"/>
                  <a:stretch/>
                </p:blipFill>
                <p:spPr>
                  <a:xfrm>
                    <a:off x="7484883" y="4329369"/>
                    <a:ext cx="1234912" cy="473587"/>
                  </a:xfrm>
                  <a:prstGeom prst="rect">
                    <a:avLst/>
                  </a:prstGeom>
                </p:spPr>
              </p:pic>
              <p:sp>
                <p:nvSpPr>
                  <p:cNvPr id="9" name="矩形: 圓角 8">
                    <a:extLst>
                      <a:ext uri="{FF2B5EF4-FFF2-40B4-BE49-F238E27FC236}">
                        <a16:creationId xmlns:a16="http://schemas.microsoft.com/office/drawing/2014/main" id="{34A24AD0-5CBE-4E09-B828-5A5923AE19DB}"/>
                      </a:ext>
                    </a:extLst>
                  </p:cNvPr>
                  <p:cNvSpPr/>
                  <p:nvPr/>
                </p:nvSpPr>
                <p:spPr>
                  <a:xfrm>
                    <a:off x="7142664" y="4930986"/>
                    <a:ext cx="1919350" cy="467681"/>
                  </a:xfrm>
                  <a:prstGeom prst="round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TW" altLang="en-US" sz="16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交大 交通資訊</a:t>
                    </a:r>
                    <a:endParaRPr lang="en-US" altLang="zh-TW" sz="1600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24F9B970-63E0-4532-9426-09454A339272}"/>
                    </a:ext>
                  </a:extLst>
                </p:cNvPr>
                <p:cNvSpPr txBox="1"/>
                <p:nvPr/>
              </p:nvSpPr>
              <p:spPr>
                <a:xfrm>
                  <a:off x="349857" y="3560956"/>
                  <a:ext cx="246524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600" b="1" dirty="0">
                      <a:ea typeface="微軟正黑體" panose="020B0604030504040204" pitchFamily="34" charset="-120"/>
                    </a:rPr>
                    <a:t>Client </a:t>
                  </a:r>
                  <a:r>
                    <a:rPr lang="zh-TW" altLang="en-US" sz="1600" b="1" dirty="0">
                      <a:ea typeface="微軟正黑體" panose="020B0604030504040204" pitchFamily="34" charset="-120"/>
                    </a:rPr>
                    <a:t>端：</a:t>
                  </a:r>
                  <a:r>
                    <a:rPr lang="zh-TW" altLang="en-US" sz="1600" dirty="0">
                      <a:ea typeface="微軟正黑體" panose="020B0604030504040204" pitchFamily="34" charset="-120"/>
                    </a:rPr>
                    <a:t>前端網站頁面</a:t>
                  </a:r>
                </a:p>
              </p:txBody>
            </p:sp>
          </p:grp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18AC4B4-53F9-497F-9CED-315519C8EAB8}"/>
                  </a:ext>
                </a:extLst>
              </p:cNvPr>
              <p:cNvSpPr txBox="1"/>
              <p:nvPr/>
            </p:nvSpPr>
            <p:spPr>
              <a:xfrm>
                <a:off x="3959256" y="3636945"/>
                <a:ext cx="183822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b="1" dirty="0">
                    <a:ea typeface="微軟正黑體" panose="020B0604030504040204" pitchFamily="34" charset="-120"/>
                  </a:rPr>
                  <a:t>Server 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端：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Google </a:t>
                </a:r>
                <a:r>
                  <a:rPr lang="zh-TW" altLang="en-US" sz="1600" dirty="0">
                    <a:ea typeface="微軟正黑體" panose="020B0604030504040204" pitchFamily="34" charset="-120"/>
                  </a:rPr>
                  <a:t>搜尋引擎伺服器</a:t>
                </a:r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CC81CD9-C2D6-4195-A80D-5C9E6926E369}"/>
                  </a:ext>
                </a:extLst>
              </p:cNvPr>
              <p:cNvSpPr txBox="1"/>
              <p:nvPr/>
            </p:nvSpPr>
            <p:spPr>
              <a:xfrm>
                <a:off x="4626136" y="3249593"/>
                <a:ext cx="5044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b="1" dirty="0">
                    <a:solidFill>
                      <a:schemeClr val="accent2"/>
                    </a:solidFill>
                    <a:ea typeface="微軟正黑體" panose="020B0604030504040204" pitchFamily="34" charset="-120"/>
                  </a:rPr>
                  <a:t>API</a:t>
                </a:r>
                <a:endParaRPr lang="zh-TW" altLang="en-US" sz="1600" dirty="0">
                  <a:solidFill>
                    <a:schemeClr val="accent2"/>
                  </a:solidFill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22" name="直線單箭頭接點 21">
                <a:extLst>
                  <a:ext uri="{FF2B5EF4-FFF2-40B4-BE49-F238E27FC236}">
                    <a16:creationId xmlns:a16="http://schemas.microsoft.com/office/drawing/2014/main" id="{CB0FBF82-DF8B-4A26-BF55-9E1D1FEBC9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82944" y="4371390"/>
                <a:ext cx="1357458" cy="0"/>
              </a:xfrm>
              <a:prstGeom prst="straightConnector1">
                <a:avLst/>
              </a:prstGeom>
              <a:ln w="28575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單箭頭接點 23">
                <a:extLst>
                  <a:ext uri="{FF2B5EF4-FFF2-40B4-BE49-F238E27FC236}">
                    <a16:creationId xmlns:a16="http://schemas.microsoft.com/office/drawing/2014/main" id="{20095DE5-958E-41C7-BFEB-816B923167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74357" y="5190173"/>
                <a:ext cx="1357200" cy="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E70E91A4-58C4-4A52-8307-9F159AB1D427}"/>
                  </a:ext>
                </a:extLst>
              </p:cNvPr>
              <p:cNvSpPr txBox="1"/>
              <p:nvPr/>
            </p:nvSpPr>
            <p:spPr>
              <a:xfrm>
                <a:off x="2820344" y="4886879"/>
                <a:ext cx="9058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b="1" dirty="0">
                    <a:solidFill>
                      <a:schemeClr val="accent2"/>
                    </a:solidFill>
                    <a:ea typeface="微軟正黑體" panose="020B0604030504040204" pitchFamily="34" charset="-120"/>
                  </a:rPr>
                  <a:t>Response</a:t>
                </a:r>
                <a:endParaRPr lang="zh-TW" altLang="en-US" sz="1400" dirty="0">
                  <a:solidFill>
                    <a:schemeClr val="accent2"/>
                  </a:solidFill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1149F7A-80AA-44E8-8C0A-C4258A9BE9AB}"/>
                  </a:ext>
                </a:extLst>
              </p:cNvPr>
              <p:cNvSpPr txBox="1"/>
              <p:nvPr/>
            </p:nvSpPr>
            <p:spPr>
              <a:xfrm>
                <a:off x="2808858" y="4059751"/>
                <a:ext cx="9058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b="1" dirty="0">
                    <a:solidFill>
                      <a:schemeClr val="accent1"/>
                    </a:solidFill>
                    <a:ea typeface="微軟正黑體" panose="020B0604030504040204" pitchFamily="34" charset="-120"/>
                  </a:rPr>
                  <a:t>Request</a:t>
                </a:r>
                <a:endParaRPr lang="zh-TW" altLang="en-US" sz="1400" dirty="0">
                  <a:solidFill>
                    <a:schemeClr val="accent1"/>
                  </a:solidFill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5BD167C8-0F00-4CFC-9E27-D1492C79AA88}"/>
                </a:ext>
              </a:extLst>
            </p:cNvPr>
            <p:cNvSpPr txBox="1"/>
            <p:nvPr/>
          </p:nvSpPr>
          <p:spPr>
            <a:xfrm>
              <a:off x="8842602" y="4443365"/>
              <a:ext cx="13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chemeClr val="accent1"/>
                  </a:solidFill>
                  <a:ea typeface="微軟正黑體" panose="020B0604030504040204" pitchFamily="34" charset="-120"/>
                </a:rPr>
                <a:t>關鍵字</a:t>
              </a:r>
              <a:endParaRPr lang="zh-TW" altLang="en-US" sz="1400" dirty="0">
                <a:solidFill>
                  <a:schemeClr val="accent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B5E3C0C4-1C48-4DB1-BF98-58D076A754CA}"/>
                </a:ext>
              </a:extLst>
            </p:cNvPr>
            <p:cNvSpPr txBox="1"/>
            <p:nvPr/>
          </p:nvSpPr>
          <p:spPr>
            <a:xfrm>
              <a:off x="9058830" y="5286485"/>
              <a:ext cx="9058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搜尋結果</a:t>
              </a:r>
              <a:endParaRPr lang="zh-TW" altLang="en-US" sz="1400" dirty="0">
                <a:solidFill>
                  <a:schemeClr val="accent2"/>
                </a:solidFill>
                <a:ea typeface="微軟正黑體" panose="020B0604030504040204" pitchFamily="34" charset="-120"/>
              </a:endParaRPr>
            </a:p>
          </p:txBody>
        </p:sp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F24FCA9-4C1C-47AA-9462-1C17813F4D7D}"/>
              </a:ext>
            </a:extLst>
          </p:cNvPr>
          <p:cNvSpPr txBox="1"/>
          <p:nvPr/>
        </p:nvSpPr>
        <p:spPr>
          <a:xfrm>
            <a:off x="456000" y="1145554"/>
            <a:ext cx="11495128" cy="2268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API (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應用程式介面，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Application Programming Interface)</a:t>
            </a: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一組定義好的規則與協定，允許不同的軟體、應用程式或伺服器相互溝通、交換資料並執行功能。</a:t>
            </a:r>
            <a:r>
              <a:rPr lang="zh-TW" altLang="en-US" sz="1600" dirty="0">
                <a:ea typeface="微軟正黑體" panose="020B0604030504040204" pitchFamily="34" charset="-120"/>
              </a:rPr>
              <a:t>它如同一個「中間人」，讓開發者無需從零建立所有功能，即可整合現有服務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如地圖、支付、數據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，大幅加速開發流程。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核心概念</a:t>
            </a:r>
            <a:endParaRPr lang="zh-TW" altLang="en-US" sz="1600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ea typeface="微軟正黑體" panose="020B0604030504040204" pitchFamily="34" charset="-120"/>
              </a:rPr>
              <a:t>介面 </a:t>
            </a:r>
            <a:r>
              <a:rPr lang="en-US" altLang="zh-TW" sz="1600" b="1" dirty="0">
                <a:ea typeface="微軟正黑體" panose="020B0604030504040204" pitchFamily="34" charset="-120"/>
              </a:rPr>
              <a:t>(Interface)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ea typeface="微軟正黑體" panose="020B0604030504040204" pitchFamily="34" charset="-120"/>
              </a:rPr>
              <a:t> 像餐廳的菜單，顧客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用戶端</a:t>
            </a:r>
            <a:r>
              <a:rPr lang="en-US" altLang="zh-TW" sz="1600" dirty="0">
                <a:ea typeface="微軟正黑體" panose="020B0604030504040204" pitchFamily="34" charset="-120"/>
              </a:rPr>
              <a:t>) </a:t>
            </a:r>
            <a:r>
              <a:rPr lang="zh-TW" altLang="en-US" sz="1600" dirty="0">
                <a:ea typeface="微軟正黑體" panose="020B0604030504040204" pitchFamily="34" charset="-120"/>
              </a:rPr>
              <a:t>只需點餐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發送請求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，不需知道廚房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伺服器</a:t>
            </a:r>
            <a:r>
              <a:rPr lang="en-US" altLang="zh-TW" sz="1600" dirty="0">
                <a:ea typeface="微軟正黑體" panose="020B0604030504040204" pitchFamily="34" charset="-120"/>
              </a:rPr>
              <a:t>) </a:t>
            </a:r>
            <a:r>
              <a:rPr lang="zh-TW" altLang="en-US" sz="1600" dirty="0">
                <a:ea typeface="微軟正黑體" panose="020B0604030504040204" pitchFamily="34" charset="-120"/>
              </a:rPr>
              <a:t>如何做菜。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ea typeface="微軟正黑體" panose="020B0604030504040204" pitchFamily="34" charset="-120"/>
              </a:rPr>
              <a:t>資料傳輸：</a:t>
            </a:r>
            <a:r>
              <a:rPr lang="zh-TW" altLang="en-US" sz="1600" dirty="0">
                <a:ea typeface="微軟正黑體" panose="020B0604030504040204" pitchFamily="34" charset="-120"/>
              </a:rPr>
              <a:t> 允許軟體 </a:t>
            </a:r>
            <a:r>
              <a:rPr lang="en-US" altLang="zh-TW" sz="1600" dirty="0">
                <a:ea typeface="微軟正黑體" panose="020B0604030504040204" pitchFamily="34" charset="-120"/>
              </a:rPr>
              <a:t>A </a:t>
            </a:r>
            <a:r>
              <a:rPr lang="zh-TW" altLang="en-US" sz="1600" dirty="0">
                <a:ea typeface="微軟正黑體" panose="020B0604030504040204" pitchFamily="34" charset="-120"/>
              </a:rPr>
              <a:t>將請求發送給軟體 </a:t>
            </a:r>
            <a:r>
              <a:rPr lang="en-US" altLang="zh-TW" sz="1600" dirty="0">
                <a:ea typeface="微軟正黑體" panose="020B0604030504040204" pitchFamily="34" charset="-120"/>
              </a:rPr>
              <a:t>B</a:t>
            </a:r>
            <a:r>
              <a:rPr lang="zh-TW" altLang="en-US" sz="1600" dirty="0">
                <a:ea typeface="微軟正黑體" panose="020B0604030504040204" pitchFamily="34" charset="-120"/>
              </a:rPr>
              <a:t>，並接收返回的資料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如常見的 </a:t>
            </a:r>
            <a:r>
              <a:rPr lang="en-US" altLang="zh-TW" sz="1600" dirty="0">
                <a:ea typeface="微軟正黑體" panose="020B0604030504040204" pitchFamily="34" charset="-120"/>
              </a:rPr>
              <a:t>JSON </a:t>
            </a:r>
            <a:r>
              <a:rPr lang="zh-TW" altLang="en-US" sz="1600" dirty="0">
                <a:ea typeface="微軟正黑體" panose="020B0604030504040204" pitchFamily="34" charset="-120"/>
              </a:rPr>
              <a:t>格式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。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214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8559A-AB4A-49F3-AE38-0C35173E8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5000" b="1" dirty="0">
                <a:solidFill>
                  <a:srgbClr val="002060"/>
                </a:solidFill>
                <a:latin typeface="+mn-lt"/>
                <a:ea typeface="微軟正黑體" panose="020B0604030504040204" pitchFamily="34" charset="-120"/>
              </a:rPr>
              <a:t>Lab 1: Call Tools</a:t>
            </a:r>
            <a:endParaRPr lang="zh-TW" altLang="en-US" sz="5000" b="1" dirty="0">
              <a:solidFill>
                <a:srgbClr val="002060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6A754C-D017-4B3D-90C9-F17E42B3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0305" y="3868181"/>
            <a:ext cx="9144000" cy="536329"/>
          </a:xfrm>
        </p:spPr>
        <p:txBody>
          <a:bodyPr>
            <a:normAutofit/>
          </a:bodyPr>
          <a:lstStyle/>
          <a:p>
            <a:r>
              <a:rPr lang="zh-TW" altLang="en-US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講師：吳映萱 </a:t>
            </a:r>
            <a:r>
              <a:rPr lang="en-US" altLang="zh-TW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Sarah</a:t>
            </a:r>
            <a:endParaRPr lang="zh-TW" altLang="en-US" sz="2200" b="1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2211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032AB7-3401-476E-9BD9-9336790D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 </a:t>
            </a:r>
            <a:r>
              <a:rPr lang="zh-TW" altLang="en-US" dirty="0"/>
              <a:t>平台 </a:t>
            </a:r>
            <a:r>
              <a:rPr lang="en-US" altLang="zh-TW" dirty="0"/>
              <a:t>- Postman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4DBE3C-8D5A-47E4-BD88-89599CF2E0B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C599E62-3744-4C37-9D89-C829CAC5B488}"/>
              </a:ext>
            </a:extLst>
          </p:cNvPr>
          <p:cNvSpPr txBox="1"/>
          <p:nvPr/>
        </p:nvSpPr>
        <p:spPr>
          <a:xfrm>
            <a:off x="484488" y="1201493"/>
            <a:ext cx="5420412" cy="116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安裝 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Postman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到官網下載 </a:t>
            </a:r>
            <a:r>
              <a:rPr lang="en-US" altLang="zh-TW" sz="1600" dirty="0">
                <a:ea typeface="微軟正黑體" panose="020B0604030504040204" pitchFamily="34" charset="-120"/>
              </a:rPr>
              <a:t>Postman: </a:t>
            </a:r>
            <a:r>
              <a:rPr lang="en-US" altLang="zh-TW" sz="1600" dirty="0">
                <a:ea typeface="微軟正黑體" panose="020B0604030504040204" pitchFamily="34" charset="-120"/>
                <a:hlinkClick r:id="rId2"/>
              </a:rPr>
              <a:t>https://www.postman.com/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雙擊執行下載下來的 </a:t>
            </a:r>
            <a:r>
              <a:rPr lang="en-US" altLang="zh-TW" sz="1600" dirty="0">
                <a:ea typeface="微軟正黑體" panose="020B0604030504040204" pitchFamily="34" charset="-120"/>
              </a:rPr>
              <a:t>.exe</a:t>
            </a:r>
            <a:r>
              <a:rPr lang="zh-TW" altLang="en-US" sz="1600" dirty="0">
                <a:ea typeface="微軟正黑體" panose="020B0604030504040204" pitchFamily="34" charset="-120"/>
              </a:rPr>
              <a:t>，一路點選繼續 </a:t>
            </a:r>
            <a:r>
              <a:rPr lang="en-US" altLang="zh-TW" sz="1600" dirty="0">
                <a:ea typeface="微軟正黑體" panose="020B0604030504040204" pitchFamily="34" charset="-120"/>
              </a:rPr>
              <a:t>&amp;</a:t>
            </a:r>
            <a:r>
              <a:rPr lang="zh-TW" altLang="en-US" sz="1600" dirty="0">
                <a:ea typeface="微軟正黑體" panose="020B0604030504040204" pitchFamily="34" charset="-120"/>
              </a:rPr>
              <a:t> 同意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2E6E32B-3262-47F2-86C2-53652B1DEA1D}"/>
              </a:ext>
            </a:extLst>
          </p:cNvPr>
          <p:cNvGrpSpPr/>
          <p:nvPr/>
        </p:nvGrpSpPr>
        <p:grpSpPr>
          <a:xfrm>
            <a:off x="603314" y="2471791"/>
            <a:ext cx="6655325" cy="3393073"/>
            <a:chOff x="3355941" y="1732463"/>
            <a:chExt cx="6655325" cy="339307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266D1583-2BB7-42F8-A5B0-C0CA4B7AF5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4194"/>
            <a:stretch/>
          </p:blipFill>
          <p:spPr>
            <a:xfrm>
              <a:off x="3355941" y="1732463"/>
              <a:ext cx="6655325" cy="3393073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DD42A07-1E0A-413F-AC45-672BE2A21184}"/>
                </a:ext>
              </a:extLst>
            </p:cNvPr>
            <p:cNvSpPr/>
            <p:nvPr/>
          </p:nvSpPr>
          <p:spPr>
            <a:xfrm>
              <a:off x="3544479" y="4622300"/>
              <a:ext cx="2130458" cy="47495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819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CD5873-17F4-417A-A14A-F7740D72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Postman </a:t>
            </a:r>
            <a:r>
              <a:rPr lang="zh-TW" altLang="en-US" dirty="0"/>
              <a:t>頁面導覽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5B3B5D-C321-4E39-9274-EE9DE9AF146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DA56038-CB51-4F9D-941A-A3052FC83975}"/>
              </a:ext>
            </a:extLst>
          </p:cNvPr>
          <p:cNvGrpSpPr/>
          <p:nvPr/>
        </p:nvGrpSpPr>
        <p:grpSpPr>
          <a:xfrm>
            <a:off x="480952" y="3228441"/>
            <a:ext cx="7012568" cy="3059237"/>
            <a:chOff x="3136402" y="1847652"/>
            <a:chExt cx="8882317" cy="305923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1192705D-C793-4C83-A033-876DA1B163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300" b="11012"/>
            <a:stretch/>
          </p:blipFill>
          <p:spPr>
            <a:xfrm>
              <a:off x="3136402" y="1847652"/>
              <a:ext cx="8882317" cy="305923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DCCA63C-24B2-4F14-81DA-C908B7396357}"/>
                </a:ext>
              </a:extLst>
            </p:cNvPr>
            <p:cNvSpPr/>
            <p:nvPr/>
          </p:nvSpPr>
          <p:spPr>
            <a:xfrm>
              <a:off x="3188827" y="1866507"/>
              <a:ext cx="8764361" cy="57503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1B92C04-5E77-4747-8FD8-2023985E9F93}"/>
                </a:ext>
              </a:extLst>
            </p:cNvPr>
            <p:cNvSpPr/>
            <p:nvPr/>
          </p:nvSpPr>
          <p:spPr>
            <a:xfrm>
              <a:off x="3195379" y="2479250"/>
              <a:ext cx="8764362" cy="1937209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8D1B65D-5C01-4297-8322-CA4D7F03850C}"/>
                </a:ext>
              </a:extLst>
            </p:cNvPr>
            <p:cNvSpPr/>
            <p:nvPr/>
          </p:nvSpPr>
          <p:spPr>
            <a:xfrm>
              <a:off x="3195379" y="4501243"/>
              <a:ext cx="8764362" cy="38040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BA1C620B-0684-49A1-8B5A-EBC6A8726BA5}"/>
                </a:ext>
              </a:extLst>
            </p:cNvPr>
            <p:cNvSpPr txBox="1"/>
            <p:nvPr/>
          </p:nvSpPr>
          <p:spPr>
            <a:xfrm>
              <a:off x="6776736" y="1983964"/>
              <a:ext cx="1588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網址區塊</a:t>
              </a: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BD8F7A31-9945-486B-99E3-0E3769863E57}"/>
                </a:ext>
              </a:extLst>
            </p:cNvPr>
            <p:cNvSpPr txBox="1"/>
            <p:nvPr/>
          </p:nvSpPr>
          <p:spPr>
            <a:xfrm>
              <a:off x="6724434" y="3411304"/>
              <a:ext cx="1706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參數區塊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CB55863-5CD1-4074-8FAA-A15CC9F6AE43}"/>
                </a:ext>
              </a:extLst>
            </p:cNvPr>
            <p:cNvSpPr txBox="1"/>
            <p:nvPr/>
          </p:nvSpPr>
          <p:spPr>
            <a:xfrm>
              <a:off x="6788533" y="4519650"/>
              <a:ext cx="1576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rgbClr val="00B05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回應區塊</a:t>
              </a: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29F243-326A-4EF2-8D62-0DD75B60AE9E}"/>
              </a:ext>
            </a:extLst>
          </p:cNvPr>
          <p:cNvSpPr txBox="1"/>
          <p:nvPr/>
        </p:nvSpPr>
        <p:spPr>
          <a:xfrm>
            <a:off x="7923436" y="1349514"/>
            <a:ext cx="3881060" cy="15299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新增 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Request 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頁籤的方式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擇一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點選左上角的 </a:t>
            </a:r>
            <a:r>
              <a:rPr lang="en-US" altLang="zh-TW" sz="1600" dirty="0">
                <a:ea typeface="微軟正黑體" panose="020B0604030504040204" pitchFamily="34" charset="-120"/>
              </a:rPr>
              <a:t>New &gt; </a:t>
            </a:r>
            <a:r>
              <a:rPr lang="zh-TW" altLang="en-US" sz="1600" dirty="0">
                <a:ea typeface="微軟正黑體" panose="020B0604030504040204" pitchFamily="34" charset="-120"/>
              </a:rPr>
              <a:t>選擇 </a:t>
            </a:r>
            <a:r>
              <a:rPr lang="en-US" altLang="zh-TW" sz="1600" dirty="0">
                <a:ea typeface="微軟正黑體" panose="020B0604030504040204" pitchFamily="34" charset="-120"/>
              </a:rPr>
              <a:t>HTTP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若已有 </a:t>
            </a:r>
            <a:r>
              <a:rPr lang="en-US" altLang="zh-TW" sz="1600" dirty="0">
                <a:ea typeface="微軟正黑體" panose="020B0604030504040204" pitchFamily="34" charset="-120"/>
              </a:rPr>
              <a:t>request </a:t>
            </a:r>
            <a:r>
              <a:rPr lang="zh-TW" altLang="en-US" sz="1600" dirty="0">
                <a:ea typeface="微軟正黑體" panose="020B0604030504040204" pitchFamily="34" charset="-120"/>
              </a:rPr>
              <a:t>頁籤，則點選右側 </a:t>
            </a:r>
            <a:r>
              <a:rPr lang="en-US" altLang="zh-TW" sz="1600" dirty="0">
                <a:ea typeface="微軟正黑體" panose="020B0604030504040204" pitchFamily="34" charset="-120"/>
              </a:rPr>
              <a:t>+</a:t>
            </a:r>
            <a:r>
              <a:rPr lang="zh-TW" altLang="en-US" sz="1600" dirty="0">
                <a:ea typeface="微軟正黑體" panose="020B0604030504040204" pitchFamily="34" charset="-120"/>
              </a:rPr>
              <a:t> 號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新增即可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0C7B682-B372-4858-A1B7-0E4E0F148E23}"/>
              </a:ext>
            </a:extLst>
          </p:cNvPr>
          <p:cNvSpPr txBox="1"/>
          <p:nvPr/>
        </p:nvSpPr>
        <p:spPr>
          <a:xfrm>
            <a:off x="7585824" y="3860039"/>
            <a:ext cx="4556284" cy="15299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Request </a:t>
            </a:r>
            <a:r>
              <a:rPr lang="zh-TW" altLang="en-US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頁面介紹</a:t>
            </a:r>
            <a:endParaRPr lang="en-US" altLang="zh-TW" sz="1600" b="1" i="0" dirty="0">
              <a:solidFill>
                <a:srgbClr val="002060"/>
              </a:solidFill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網址區塊：選擇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API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的方法、請求路徑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URL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參數區塊：詳細設定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API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三大部分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回應區塊：檢視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API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回應的資料、回應的資訊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FAC325B-EE0F-4BB1-8FC9-83CC18CCE977}"/>
              </a:ext>
            </a:extLst>
          </p:cNvPr>
          <p:cNvGrpSpPr/>
          <p:nvPr/>
        </p:nvGrpSpPr>
        <p:grpSpPr>
          <a:xfrm>
            <a:off x="134726" y="872525"/>
            <a:ext cx="7404069" cy="2271284"/>
            <a:chOff x="134726" y="872525"/>
            <a:chExt cx="7404069" cy="2271284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2CA94848-95DD-42D0-90A3-11EE8FA07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952" y="1188611"/>
              <a:ext cx="7012568" cy="1955198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4D0AA76-43A5-4D41-B92B-9E47A6325DEF}"/>
                </a:ext>
              </a:extLst>
            </p:cNvPr>
            <p:cNvSpPr/>
            <p:nvPr/>
          </p:nvSpPr>
          <p:spPr>
            <a:xfrm>
              <a:off x="480953" y="1202777"/>
              <a:ext cx="358034" cy="24895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9134803-2751-4006-8494-F0EDD078885E}"/>
                </a:ext>
              </a:extLst>
            </p:cNvPr>
            <p:cNvSpPr/>
            <p:nvPr/>
          </p:nvSpPr>
          <p:spPr>
            <a:xfrm>
              <a:off x="1842359" y="2187379"/>
              <a:ext cx="910268" cy="94569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977DD63-6689-4E11-967A-0D8012276C29}"/>
                </a:ext>
              </a:extLst>
            </p:cNvPr>
            <p:cNvSpPr/>
            <p:nvPr/>
          </p:nvSpPr>
          <p:spPr>
            <a:xfrm>
              <a:off x="7224155" y="1199397"/>
              <a:ext cx="269365" cy="24895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0D15279-0535-4211-8358-3577017109E8}"/>
                </a:ext>
              </a:extLst>
            </p:cNvPr>
            <p:cNvSpPr txBox="1"/>
            <p:nvPr/>
          </p:nvSpPr>
          <p:spPr>
            <a:xfrm>
              <a:off x="134726" y="1154595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1.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1D8EC713-977F-4A54-B51C-AE49143240E6}"/>
                </a:ext>
              </a:extLst>
            </p:cNvPr>
            <p:cNvSpPr txBox="1"/>
            <p:nvPr/>
          </p:nvSpPr>
          <p:spPr>
            <a:xfrm>
              <a:off x="7199430" y="872525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2.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3311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A2D29-A40A-4CAD-9DA4-D895E2C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442613"/>
            <a:ext cx="10897800" cy="720000"/>
          </a:xfrm>
        </p:spPr>
        <p:txBody>
          <a:bodyPr/>
          <a:lstStyle/>
          <a:p>
            <a:r>
              <a:rPr lang="en-US" altLang="zh-TW" dirty="0"/>
              <a:t>Request </a:t>
            </a:r>
            <a:r>
              <a:rPr lang="zh-TW" altLang="en-US" dirty="0"/>
              <a:t>組成 </a:t>
            </a:r>
            <a:r>
              <a:rPr lang="en-US" altLang="zh-TW" dirty="0"/>
              <a:t>&amp;</a:t>
            </a:r>
            <a:r>
              <a:rPr lang="zh-TW" altLang="en-US" dirty="0"/>
              <a:t> 網址區塊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A88E10-6F4D-4AB1-AD68-3B61A7230A2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C1524D71-806B-4852-8393-33C76834A0E5}"/>
              </a:ext>
            </a:extLst>
          </p:cNvPr>
          <p:cNvGrpSpPr/>
          <p:nvPr/>
        </p:nvGrpSpPr>
        <p:grpSpPr>
          <a:xfrm>
            <a:off x="5288738" y="1462152"/>
            <a:ext cx="6720907" cy="3938908"/>
            <a:chOff x="5194469" y="1032389"/>
            <a:chExt cx="6720907" cy="3938908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045703A7-4DE6-4ED7-8FC4-7DF0EA8D2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4469" y="1396509"/>
              <a:ext cx="6720907" cy="357478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BFCD2B4-F6B2-474B-9EDE-7EF58F25607A}"/>
                </a:ext>
              </a:extLst>
            </p:cNvPr>
            <p:cNvSpPr/>
            <p:nvPr/>
          </p:nvSpPr>
          <p:spPr>
            <a:xfrm>
              <a:off x="5222750" y="1424790"/>
              <a:ext cx="1347733" cy="308122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E7A9FA-0040-4266-8035-CAF51C96D9CF}"/>
                </a:ext>
              </a:extLst>
            </p:cNvPr>
            <p:cNvSpPr/>
            <p:nvPr/>
          </p:nvSpPr>
          <p:spPr>
            <a:xfrm>
              <a:off x="6579910" y="1480009"/>
              <a:ext cx="2301443" cy="474956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F42B0A5-0609-4F8C-8507-88C70FF88439}"/>
                </a:ext>
              </a:extLst>
            </p:cNvPr>
            <p:cNvSpPr txBox="1"/>
            <p:nvPr/>
          </p:nvSpPr>
          <p:spPr>
            <a:xfrm>
              <a:off x="5316371" y="1032389"/>
              <a:ext cx="11604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請求方法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D73E7DD9-FEBA-4BE9-AF7E-1D185A871416}"/>
                </a:ext>
              </a:extLst>
            </p:cNvPr>
            <p:cNvSpPr txBox="1"/>
            <p:nvPr/>
          </p:nvSpPr>
          <p:spPr>
            <a:xfrm>
              <a:off x="8881353" y="1545558"/>
              <a:ext cx="11604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URL</a:t>
              </a:r>
              <a:r>
                <a:rPr lang="zh-TW" altLang="en-US" sz="1600" b="1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網址</a:t>
              </a:r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D949C69-4975-4CD6-97D5-D5C8FAF29064}"/>
              </a:ext>
            </a:extLst>
          </p:cNvPr>
          <p:cNvSpPr txBox="1"/>
          <p:nvPr/>
        </p:nvSpPr>
        <p:spPr>
          <a:xfrm>
            <a:off x="456000" y="1345882"/>
            <a:ext cx="4719315" cy="4484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Request </a:t>
            </a:r>
            <a:r>
              <a:rPr lang="zh-TW" altLang="en-US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的三大部分</a:t>
            </a:r>
            <a:endParaRPr lang="en-US" altLang="zh-TW" sz="1600" b="1" i="0" dirty="0">
              <a:solidFill>
                <a:srgbClr val="002060"/>
              </a:solidFill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URL</a:t>
            </a:r>
            <a:r>
              <a:rPr lang="zh-TW" altLang="en-US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 網址：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可加上兩種參數 </a:t>
            </a:r>
            <a:r>
              <a:rPr lang="en-US" altLang="zh-TW" sz="1600" i="0" dirty="0">
                <a:effectLst/>
                <a:ea typeface="微軟正黑體" panose="020B0604030504040204" pitchFamily="34" charset="-120"/>
              </a:rPr>
              <a:t>Query Params (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搜尋參數</a:t>
            </a:r>
            <a:r>
              <a:rPr lang="en-US" altLang="zh-TW" sz="1600" i="0" dirty="0">
                <a:effectLst/>
                <a:ea typeface="微軟正黑體" panose="020B0604030504040204" pitchFamily="34" charset="-120"/>
              </a:rPr>
              <a:t>)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i="0" dirty="0">
                <a:effectLst/>
                <a:ea typeface="微軟正黑體" panose="020B0604030504040204" pitchFamily="34" charset="-120"/>
              </a:rPr>
              <a:t>&amp;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i="0" dirty="0">
                <a:effectLst/>
                <a:ea typeface="微軟正黑體" panose="020B0604030504040204" pitchFamily="34" charset="-120"/>
              </a:rPr>
              <a:t>Path Variables (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路徑變數</a:t>
            </a:r>
            <a:r>
              <a:rPr lang="en-US" altLang="zh-TW" sz="1600" i="0" dirty="0">
                <a:effectLst/>
                <a:ea typeface="微軟正黑體" panose="020B0604030504040204" pitchFamily="34" charset="-120"/>
              </a:rPr>
              <a:t>)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，兩者搭配使用以進行資料篩選</a:t>
            </a:r>
            <a:endParaRPr lang="en-US" altLang="zh-TW" sz="1600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Header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ea typeface="微軟正黑體" panose="020B0604030504040204" pitchFamily="34" charset="-120"/>
              </a:rPr>
              <a:t>關於請求的標示、設定會放在這裡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Body</a:t>
            </a:r>
            <a:r>
              <a:rPr lang="zh-TW" altLang="en-US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：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API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要提交給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的資料會放在這裡</a:t>
            </a:r>
            <a:endParaRPr lang="en-US" altLang="zh-TW" sz="1600" i="0" dirty="0">
              <a:effectLst/>
              <a:ea typeface="微軟正黑體" panose="020B0604030504040204" pitchFamily="34" charset="-120"/>
            </a:endParaRPr>
          </a:p>
          <a:p>
            <a:pPr algn="l">
              <a:lnSpc>
                <a:spcPct val="150000"/>
              </a:lnSpc>
            </a:pPr>
            <a:endParaRPr lang="en-US" altLang="zh-TW" sz="1600" b="1" i="0" dirty="0">
              <a:solidFill>
                <a:srgbClr val="002060"/>
              </a:solidFill>
              <a:effectLst/>
              <a:ea typeface="微軟正黑體" panose="020B06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zh-TW" altLang="en-US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常見請求方法 </a:t>
            </a: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(Methods)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GET</a:t>
            </a:r>
            <a:r>
              <a:rPr lang="zh-TW" altLang="en-US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：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取得 </a:t>
            </a:r>
            <a:r>
              <a:rPr lang="en-US" altLang="zh-TW" sz="1600" i="0" dirty="0">
                <a:effectLst/>
                <a:ea typeface="微軟正黑體" panose="020B0604030504040204" pitchFamily="34" charset="-120"/>
              </a:rPr>
              <a:t>(GET) 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資料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POST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新增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(Create)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資料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PUT</a:t>
            </a:r>
            <a:r>
              <a:rPr lang="zh-TW" altLang="en-US" sz="1600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更新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(Update)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資料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DELETE</a:t>
            </a:r>
            <a:r>
              <a:rPr lang="zh-TW" altLang="en-US" sz="1600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刪除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(Delete)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資料</a:t>
            </a:r>
          </a:p>
        </p:txBody>
      </p:sp>
    </p:spTree>
    <p:extLst>
      <p:ext uri="{BB962C8B-B14F-4D97-AF65-F5344CB8AC3E}">
        <p14:creationId xmlns:p14="http://schemas.microsoft.com/office/powerpoint/2010/main" val="5102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8CC0E6-B64C-44CE-9392-F41190D7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參數區塊 </a:t>
            </a:r>
            <a:r>
              <a:rPr lang="en-US" altLang="zh-TW" dirty="0"/>
              <a:t>– Headers &amp; Authorization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27484D-4B85-40B1-8A6A-689F4E4391D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C3E73FD-C7B7-43C9-BF03-DDE8A5EF5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00"/>
          <a:stretch/>
        </p:blipFill>
        <p:spPr>
          <a:xfrm>
            <a:off x="5693790" y="1562878"/>
            <a:ext cx="6422796" cy="150517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147352A-7D6A-4005-949C-1E802D069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522" y="3993938"/>
            <a:ext cx="8164064" cy="118942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B10EAC-94A1-4FA3-9C89-DBD9941DDE47}"/>
              </a:ext>
            </a:extLst>
          </p:cNvPr>
          <p:cNvSpPr txBox="1"/>
          <p:nvPr/>
        </p:nvSpPr>
        <p:spPr>
          <a:xfrm>
            <a:off x="455999" y="1365845"/>
            <a:ext cx="4917280" cy="18992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Headers</a:t>
            </a:r>
          </a:p>
          <a:p>
            <a:pPr algn="l">
              <a:lnSpc>
                <a:spcPct val="150000"/>
              </a:lnSpc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以 </a:t>
            </a:r>
            <a:r>
              <a:rPr lang="en-US" altLang="zh-TW" sz="1600" dirty="0">
                <a:ea typeface="微軟正黑體" panose="020B0604030504040204" pitchFamily="34" charset="-120"/>
              </a:rPr>
              <a:t>k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ey-value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的方式記錄請求的標記，常見的有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Authorization</a:t>
            </a:r>
            <a:r>
              <a:rPr lang="zh-TW" altLang="en-US" sz="1600" dirty="0">
                <a:ea typeface="微軟正黑體" panose="020B0604030504040204" pitchFamily="34" charset="-120"/>
              </a:rPr>
              <a:t>：驗證金鑰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Accept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：告知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server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ea typeface="微軟正黑體" panose="020B0604030504040204" pitchFamily="34" charset="-120"/>
              </a:rPr>
              <a:t>c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lient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可以解讀的內容類型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Content-type</a:t>
            </a:r>
            <a:r>
              <a:rPr lang="zh-TW" altLang="en-US" sz="1600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告知 </a:t>
            </a:r>
            <a:r>
              <a:rPr lang="en-US" altLang="zh-TW" sz="1600" dirty="0">
                <a:ea typeface="微軟正黑體" panose="020B0604030504040204" pitchFamily="34" charset="-120"/>
              </a:rPr>
              <a:t>s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erver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ea typeface="微軟正黑體" panose="020B0604030504040204" pitchFamily="34" charset="-120"/>
              </a:rPr>
              <a:t>c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lient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提交內容</a:t>
            </a:r>
            <a:r>
              <a:rPr lang="zh-TW" altLang="en-US" sz="1600" dirty="0">
                <a:ea typeface="微軟正黑體" panose="020B0604030504040204" pitchFamily="34" charset="-120"/>
              </a:rPr>
              <a:t>的類型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09E409D-6259-45B4-8A08-D3549B7462CA}"/>
              </a:ext>
            </a:extLst>
          </p:cNvPr>
          <p:cNvSpPr txBox="1"/>
          <p:nvPr/>
        </p:nvSpPr>
        <p:spPr>
          <a:xfrm>
            <a:off x="455999" y="3822926"/>
            <a:ext cx="3361857" cy="15314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Authorization</a:t>
            </a:r>
          </a:p>
          <a:p>
            <a:pPr algn="l">
              <a:lnSpc>
                <a:spcPct val="150000"/>
              </a:lnSpc>
            </a:pPr>
            <a:r>
              <a:rPr lang="zh-TW" altLang="en-US" sz="1600" i="0" u="none" strike="noStrike" dirty="0">
                <a:solidFill>
                  <a:srgbClr val="333333"/>
                </a:solidFill>
                <a:effectLst/>
                <a:ea typeface="微軟正黑體" panose="020B0604030504040204" pitchFamily="34" charset="-120"/>
              </a:rPr>
              <a:t>用來設定 </a:t>
            </a:r>
            <a:r>
              <a:rPr lang="en-US" altLang="zh-TW" sz="1600" i="0" u="none" strike="noStrike" dirty="0">
                <a:solidFill>
                  <a:srgbClr val="333333"/>
                </a:solidFill>
                <a:effectLst/>
                <a:ea typeface="微軟正黑體" panose="020B0604030504040204" pitchFamily="34" charset="-120"/>
              </a:rPr>
              <a:t>Headers </a:t>
            </a:r>
            <a:r>
              <a:rPr lang="zh-TW" altLang="en-US" sz="1600" i="0" u="none" strike="noStrike" dirty="0">
                <a:solidFill>
                  <a:srgbClr val="333333"/>
                </a:solidFill>
                <a:effectLst/>
                <a:ea typeface="微軟正黑體" panose="020B0604030504040204" pitchFamily="34" charset="-120"/>
              </a:rPr>
              <a:t>中的 </a:t>
            </a:r>
            <a:r>
              <a:rPr lang="en-US" altLang="zh-TW" sz="1600" i="0" u="none" strike="noStrike" dirty="0">
                <a:solidFill>
                  <a:srgbClr val="333333"/>
                </a:solidFill>
                <a:effectLst/>
                <a:ea typeface="微軟正黑體" panose="020B0604030504040204" pitchFamily="34" charset="-120"/>
              </a:rPr>
              <a:t>Authorization </a:t>
            </a:r>
            <a:r>
              <a:rPr lang="zh-TW" altLang="en-US" sz="1600" i="0" u="none" strike="noStrike" dirty="0">
                <a:solidFill>
                  <a:srgbClr val="333333"/>
                </a:solidFill>
                <a:effectLst/>
                <a:ea typeface="微軟正黑體" panose="020B0604030504040204" pitchFamily="34" charset="-120"/>
              </a:rPr>
              <a:t>參數</a:t>
            </a:r>
            <a:r>
              <a:rPr lang="zh-TW" altLang="en-US" sz="1600" dirty="0">
                <a:solidFill>
                  <a:srgbClr val="333333"/>
                </a:solidFill>
                <a:ea typeface="微軟正黑體" panose="020B0604030504040204" pitchFamily="34" charset="-120"/>
              </a:rPr>
              <a:t>，可以選擇不同類型 </a:t>
            </a:r>
            <a:r>
              <a:rPr lang="en-US" altLang="zh-TW" sz="1600" dirty="0">
                <a:solidFill>
                  <a:srgbClr val="333333"/>
                </a:solidFill>
                <a:ea typeface="微軟正黑體" panose="020B0604030504040204" pitchFamily="34" charset="-120"/>
              </a:rPr>
              <a:t>(e.g. Bearer Token, API Key)</a:t>
            </a:r>
            <a:endParaRPr lang="zh-TW" altLang="en-US" sz="1600" i="0" u="none" strike="noStrike" dirty="0">
              <a:solidFill>
                <a:srgbClr val="333333"/>
              </a:solidFill>
              <a:effectLst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3582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B98B6C-BEB6-40A3-B9D2-6DC20802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參數區塊 </a:t>
            </a:r>
            <a:r>
              <a:rPr lang="en-US" altLang="zh-TW" dirty="0"/>
              <a:t>– Params &amp; Body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4CE657-2E4A-4247-BC68-06F4F398DC3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C2D9D49-4CF6-484A-A68E-DE071E900D8A}"/>
              </a:ext>
            </a:extLst>
          </p:cNvPr>
          <p:cNvSpPr txBox="1"/>
          <p:nvPr/>
        </p:nvSpPr>
        <p:spPr>
          <a:xfrm>
            <a:off x="456000" y="1492977"/>
            <a:ext cx="6108568" cy="3378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Params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預設只有  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Query Params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搜尋參數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設定方式都是採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Key – value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，輸入後會自動</a:t>
            </a:r>
            <a:r>
              <a:rPr lang="zh-TW" altLang="en-US" sz="1600" b="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加到 </a:t>
            </a:r>
            <a:r>
              <a:rPr lang="en-US" altLang="zh-TW" sz="1600" b="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URL </a:t>
            </a:r>
            <a:r>
              <a:rPr lang="zh-TW" altLang="en-US" sz="1600" b="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上</a:t>
            </a:r>
            <a:endParaRPr lang="en-US" altLang="zh-TW" sz="1600" dirty="0">
              <a:solidFill>
                <a:srgbClr val="FF0000"/>
              </a:solidFill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1600" dirty="0">
              <a:solidFill>
                <a:srgbClr val="FF0000"/>
              </a:solidFill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Body</a:t>
            </a:r>
          </a:p>
          <a:p>
            <a:pPr>
              <a:lnSpc>
                <a:spcPct val="150000"/>
              </a:lnSpc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要提交給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的資料，常見格式有：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form-data</a:t>
            </a:r>
            <a:r>
              <a:rPr lang="zh-TW" altLang="en-US" sz="1600" dirty="0">
                <a:ea typeface="微軟正黑體" panose="020B0604030504040204" pitchFamily="34" charset="-120"/>
              </a:rPr>
              <a:t>：以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Key – value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 方式</a:t>
            </a:r>
            <a:r>
              <a:rPr lang="zh-TW" altLang="en-US" sz="1600" dirty="0">
                <a:ea typeface="微軟正黑體" panose="020B0604030504040204" pitchFamily="34" charset="-120"/>
              </a:rPr>
              <a:t>提交表單資料，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raw</a:t>
            </a:r>
            <a:r>
              <a:rPr lang="zh-TW" altLang="en-US" sz="1600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供較彈性的資料格式，大部分會使用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JSON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 格式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通常搭配 </a:t>
            </a:r>
            <a:r>
              <a:rPr lang="en-US" altLang="zh-TW" sz="1600" b="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POST</a:t>
            </a:r>
            <a:r>
              <a:rPr lang="zh-TW" altLang="en-US" sz="1600" b="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 使用，無法搭配 </a:t>
            </a:r>
            <a:r>
              <a:rPr lang="en-US" altLang="zh-TW" sz="1600" b="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GET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686DF17-F42B-4295-9427-3BD74F563632}"/>
              </a:ext>
            </a:extLst>
          </p:cNvPr>
          <p:cNvGrpSpPr/>
          <p:nvPr/>
        </p:nvGrpSpPr>
        <p:grpSpPr>
          <a:xfrm>
            <a:off x="5932059" y="561420"/>
            <a:ext cx="5572058" cy="1916162"/>
            <a:chOff x="5932059" y="576711"/>
            <a:chExt cx="5572058" cy="1916162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B32D041E-CE3D-4F32-924D-F01A91027B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680"/>
            <a:stretch/>
          </p:blipFill>
          <p:spPr>
            <a:xfrm>
              <a:off x="5932059" y="576711"/>
              <a:ext cx="5572058" cy="1916162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ED242FC-B383-4B0D-8957-A5C7F2D0391D}"/>
                </a:ext>
              </a:extLst>
            </p:cNvPr>
            <p:cNvSpPr/>
            <p:nvPr/>
          </p:nvSpPr>
          <p:spPr>
            <a:xfrm>
              <a:off x="10774836" y="820133"/>
              <a:ext cx="710425" cy="16025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92A16A29-727B-4C27-BF33-A2045179B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059" y="2996594"/>
            <a:ext cx="5398242" cy="329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64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09954-1715-4128-A562-14FBDFC3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Response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535C03-6F08-4AE4-B020-CFCCF7064B1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0F4E578-EFAD-49FC-88F4-42BAC24329B8}"/>
              </a:ext>
            </a:extLst>
          </p:cNvPr>
          <p:cNvSpPr txBox="1"/>
          <p:nvPr/>
        </p:nvSpPr>
        <p:spPr>
          <a:xfrm>
            <a:off x="456000" y="1085125"/>
            <a:ext cx="9093353" cy="2637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S</a:t>
            </a: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tatus Code</a:t>
            </a:r>
            <a:r>
              <a:rPr lang="zh-TW" altLang="en-US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(</a:t>
            </a:r>
            <a:r>
              <a:rPr lang="zh-TW" altLang="en-US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狀態碼</a:t>
            </a: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送出請求後，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API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 會回傳狀態碼表示</a:t>
            </a:r>
            <a:r>
              <a:rPr lang="zh-TW" altLang="en-US" sz="1600" b="1" i="0" dirty="0">
                <a:effectLst/>
                <a:ea typeface="微軟正黑體" panose="020B0604030504040204" pitchFamily="34" charset="-120"/>
              </a:rPr>
              <a:t>請求成功與否及錯誤原因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，常見狀態碼如下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solidFill>
                  <a:srgbClr val="00B050"/>
                </a:solidFill>
                <a:effectLst/>
                <a:ea typeface="微軟正黑體" panose="020B0604030504040204" pitchFamily="34" charset="-120"/>
              </a:rPr>
              <a:t>200</a:t>
            </a:r>
            <a:r>
              <a:rPr lang="zh-TW" altLang="en-US" sz="1600" b="0" i="0" dirty="0">
                <a:solidFill>
                  <a:srgbClr val="00B050"/>
                </a:solidFill>
                <a:effectLst/>
                <a:ea typeface="微軟正黑體" panose="020B0604030504040204" pitchFamily="34" charset="-120"/>
              </a:rPr>
              <a:t>：成功取得回應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400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：請求參數錯誤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401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：未認證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</a:t>
            </a:r>
            <a:r>
              <a:rPr lang="en-US" altLang="zh-TW" sz="1600" b="0" i="0" dirty="0">
                <a:effectLst/>
                <a:latin typeface="Inter"/>
              </a:rPr>
              <a:t>Authorization </a:t>
            </a:r>
            <a:r>
              <a:rPr lang="zh-TW" altLang="en-US" sz="1600" b="0" i="0" dirty="0">
                <a:effectLst/>
                <a:latin typeface="Inter"/>
              </a:rPr>
              <a:t>錯誤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）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404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：請求的資源不存在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(URL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錯誤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)</a:t>
            </a:r>
            <a:endParaRPr lang="zh-TW" altLang="en-US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500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：內部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出錯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5CB0D38-3B88-4682-924B-9237118A23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096"/>
          <a:stretch/>
        </p:blipFill>
        <p:spPr>
          <a:xfrm>
            <a:off x="456000" y="3777064"/>
            <a:ext cx="7888457" cy="244387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85A4D81-ACAB-4395-A6B7-BC7D9B1B8D14}"/>
              </a:ext>
            </a:extLst>
          </p:cNvPr>
          <p:cNvSpPr/>
          <p:nvPr/>
        </p:nvSpPr>
        <p:spPr>
          <a:xfrm>
            <a:off x="7634032" y="3777064"/>
            <a:ext cx="710425" cy="295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5637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986433-E5B7-45FB-A857-D925ACDA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- </a:t>
            </a:r>
            <a:r>
              <a:rPr lang="zh-TW" altLang="en-US" dirty="0"/>
              <a:t>呼叫天氣查詢工具 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01AEDC-233F-4F6F-A876-D9EE37FA0D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97D7F0E-26BB-480F-88CB-E60BDC4F23BD}"/>
              </a:ext>
            </a:extLst>
          </p:cNvPr>
          <p:cNvSpPr txBox="1"/>
          <p:nvPr/>
        </p:nvSpPr>
        <p:spPr>
          <a:xfrm>
            <a:off x="548905" y="1023920"/>
            <a:ext cx="10804895" cy="30072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作業內容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ea typeface="微軟正黑體" panose="020B0604030504040204" pitchFamily="34" charset="-120"/>
              </a:rPr>
              <a:t>使用 </a:t>
            </a:r>
            <a:r>
              <a:rPr lang="en-US" altLang="zh-TW" sz="1600" dirty="0">
                <a:ea typeface="微軟正黑體" panose="020B0604030504040204" pitchFamily="34" charset="-120"/>
              </a:rPr>
              <a:t>Postman </a:t>
            </a:r>
            <a:r>
              <a:rPr lang="zh-TW" altLang="en-US" sz="1600" dirty="0">
                <a:ea typeface="微軟正黑體" panose="020B0604030504040204" pitchFamily="34" charset="-120"/>
              </a:rPr>
              <a:t>送 </a:t>
            </a:r>
            <a:r>
              <a:rPr lang="en-US" altLang="zh-TW" sz="1600" dirty="0">
                <a:ea typeface="微軟正黑體" panose="020B0604030504040204" pitchFamily="34" charset="-120"/>
              </a:rPr>
              <a:t>request </a:t>
            </a:r>
            <a:r>
              <a:rPr lang="zh-TW" altLang="en-US" sz="1600" dirty="0">
                <a:ea typeface="微軟正黑體" panose="020B0604030504040204" pitchFamily="34" charset="-120"/>
              </a:rPr>
              <a:t>給</a:t>
            </a:r>
            <a:r>
              <a:rPr lang="zh-TW" altLang="en-US" sz="1600" dirty="0">
                <a:ea typeface="微軟正黑體" panose="020B0604030504040204" pitchFamily="34" charset="-120"/>
                <a:hlinkClick r:id="rId2"/>
              </a:rPr>
              <a:t>中央氣象署提供的天氣預測 </a:t>
            </a:r>
            <a:r>
              <a:rPr lang="en-US" altLang="zh-TW" sz="1600" dirty="0">
                <a:ea typeface="微軟正黑體" panose="020B0604030504040204" pitchFamily="34" charset="-120"/>
                <a:hlinkClick r:id="rId2"/>
              </a:rPr>
              <a:t>API</a:t>
            </a:r>
            <a:r>
              <a:rPr lang="zh-TW" altLang="en-US" sz="1600" dirty="0">
                <a:ea typeface="微軟正黑體" panose="020B0604030504040204" pitchFamily="34" charset="-120"/>
              </a:rPr>
              <a:t>，查詢特定縣市的天氣預報，成功後截圖整個畫面上傳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URL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en-US" altLang="zh-TW" sz="1600" b="0" i="0" dirty="0">
                <a:effectLst/>
                <a:latin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https://opendata.cwa.gov.tw/api/v1/rest/datastore/F-C0032-001</a:t>
            </a:r>
            <a:endParaRPr lang="en-US" altLang="zh-TW" sz="1600" b="0" i="0" dirty="0">
              <a:effectLst/>
              <a:latin typeface="Inte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Inter"/>
              </a:rPr>
              <a:t>Methods</a:t>
            </a:r>
            <a:r>
              <a:rPr lang="zh-TW" altLang="en-US" sz="1600" b="1" dirty="0">
                <a:latin typeface="Inter"/>
              </a:rPr>
              <a:t>：</a:t>
            </a:r>
            <a:r>
              <a:rPr lang="en-US" altLang="zh-TW" sz="1600" dirty="0">
                <a:latin typeface="Inter"/>
              </a:rPr>
              <a:t>GET</a:t>
            </a:r>
            <a:endParaRPr lang="en-US" altLang="zh-TW" sz="1600" b="0" i="0" dirty="0">
              <a:effectLst/>
              <a:latin typeface="Inte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effectLst/>
                <a:latin typeface="Inter"/>
              </a:rPr>
              <a:t>Authorization</a:t>
            </a:r>
            <a:r>
              <a:rPr lang="zh-TW" altLang="en-US" sz="1600" b="1" i="0" dirty="0">
                <a:effectLst/>
                <a:latin typeface="Inter"/>
              </a:rPr>
              <a:t> </a:t>
            </a:r>
            <a:r>
              <a:rPr lang="en-US" altLang="zh-TW" sz="1600" b="1" i="0" dirty="0">
                <a:effectLst/>
                <a:latin typeface="Inter"/>
              </a:rPr>
              <a:t>(API</a:t>
            </a:r>
            <a:r>
              <a:rPr lang="zh-TW" altLang="en-US" sz="1600" b="1" i="0" dirty="0">
                <a:effectLst/>
                <a:latin typeface="Inter"/>
              </a:rPr>
              <a:t> </a:t>
            </a:r>
            <a:r>
              <a:rPr lang="en-US" altLang="zh-TW" sz="1600" b="1" i="0" dirty="0">
                <a:effectLst/>
                <a:latin typeface="Inter"/>
              </a:rPr>
              <a:t>key</a:t>
            </a:r>
            <a:r>
              <a:rPr lang="en-US" altLang="zh-TW" sz="1600" b="1" dirty="0">
                <a:latin typeface="Inter"/>
              </a:rPr>
              <a:t>)</a:t>
            </a:r>
            <a:r>
              <a:rPr lang="zh-TW" altLang="en-US" sz="1600" b="1" i="0" dirty="0">
                <a:effectLst/>
                <a:latin typeface="Inter"/>
                <a:ea typeface="微軟正黑體" panose="020B0604030504040204" pitchFamily="34" charset="-120"/>
              </a:rPr>
              <a:t>：</a:t>
            </a:r>
            <a:r>
              <a:rPr lang="en-US" altLang="zh-TW" sz="1600" b="0" i="0" dirty="0">
                <a:effectLst/>
                <a:latin typeface="Inter"/>
              </a:rPr>
              <a:t>CWA-B5E7308B-56CB-48B0-A1EE-D3179FC57968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effectLst/>
                <a:latin typeface="Inter"/>
                <a:ea typeface="微軟正黑體" panose="020B0604030504040204" pitchFamily="34" charset="-120"/>
              </a:rPr>
              <a:t>Params</a:t>
            </a:r>
            <a:r>
              <a:rPr lang="zh-TW" altLang="en-US" sz="1600" b="1" i="0" dirty="0">
                <a:effectLst/>
                <a:latin typeface="Inter"/>
                <a:ea typeface="微軟正黑體" panose="020B0604030504040204" pitchFamily="34" charset="-120"/>
              </a:rPr>
              <a:t>：</a:t>
            </a:r>
            <a:endParaRPr lang="en-US" altLang="zh-TW" sz="1600" b="1" i="0" dirty="0">
              <a:effectLst/>
              <a:latin typeface="Inter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dirty="0">
                <a:latin typeface="Inter"/>
                <a:ea typeface="微軟正黑體" panose="020B0604030504040204" pitchFamily="34" charset="-120"/>
              </a:rPr>
              <a:t>Key</a:t>
            </a:r>
            <a:r>
              <a:rPr lang="zh-TW" altLang="en-US" sz="1600" dirty="0">
                <a:latin typeface="Inter"/>
                <a:ea typeface="微軟正黑體" panose="020B0604030504040204" pitchFamily="34" charset="-120"/>
              </a:rPr>
              <a:t>：</a:t>
            </a:r>
            <a:r>
              <a:rPr lang="en-US" altLang="zh-TW" sz="1600" b="0" i="0" dirty="0" err="1">
                <a:effectLst/>
                <a:latin typeface="Inter"/>
              </a:rPr>
              <a:t>locationName</a:t>
            </a:r>
            <a:endParaRPr lang="en-US" altLang="zh-TW" sz="1600" b="0" i="0" dirty="0">
              <a:effectLst/>
              <a:latin typeface="Inter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dirty="0">
                <a:latin typeface="Inter"/>
                <a:ea typeface="微軟正黑體" panose="020B0604030504040204" pitchFamily="34" charset="-120"/>
              </a:rPr>
              <a:t>Value</a:t>
            </a:r>
            <a:r>
              <a:rPr lang="zh-TW" altLang="en-US" sz="1600" dirty="0">
                <a:latin typeface="Inter"/>
                <a:ea typeface="微軟正黑體" panose="020B0604030504040204" pitchFamily="34" charset="-120"/>
              </a:rPr>
              <a:t>：臺灣任一縣市名稱 </a:t>
            </a:r>
            <a:r>
              <a:rPr lang="en-US" altLang="zh-TW" sz="1600" dirty="0">
                <a:latin typeface="Inter"/>
                <a:ea typeface="微軟正黑體" panose="020B0604030504040204" pitchFamily="34" charset="-120"/>
              </a:rPr>
              <a:t>(e.g. </a:t>
            </a:r>
            <a:r>
              <a:rPr lang="zh-TW" altLang="en-US" sz="1600" dirty="0">
                <a:latin typeface="Inter"/>
                <a:ea typeface="微軟正黑體" panose="020B0604030504040204" pitchFamily="34" charset="-120"/>
              </a:rPr>
              <a:t>臺北市</a:t>
            </a:r>
            <a:r>
              <a:rPr lang="en-US" altLang="zh-TW" sz="1600" dirty="0">
                <a:latin typeface="Inter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latin typeface="Inter"/>
                <a:ea typeface="微軟正黑體" panose="020B0604030504040204" pitchFamily="34" charset="-120"/>
              </a:rPr>
              <a:t>，注意輸入要打「臺」，不能是「台」</a:t>
            </a:r>
            <a:endParaRPr lang="en-US" altLang="zh-TW" sz="1600" b="0" i="0" dirty="0">
              <a:effectLst/>
              <a:latin typeface="Inter"/>
              <a:ea typeface="微軟正黑體" panose="020B0604030504040204" pitchFamily="34" charset="-12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7AFBA49-4F94-426A-B4DC-C78C7AE4EB53}"/>
              </a:ext>
            </a:extLst>
          </p:cNvPr>
          <p:cNvGrpSpPr/>
          <p:nvPr/>
        </p:nvGrpSpPr>
        <p:grpSpPr>
          <a:xfrm>
            <a:off x="548904" y="4289232"/>
            <a:ext cx="8197938" cy="1835733"/>
            <a:chOff x="548905" y="4411699"/>
            <a:chExt cx="8197938" cy="1835733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16234C1D-A1DC-43AD-BA49-872385C8A1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559"/>
            <a:stretch/>
          </p:blipFill>
          <p:spPr>
            <a:xfrm>
              <a:off x="548905" y="4411700"/>
              <a:ext cx="8197937" cy="1835732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DEEF046-6CA9-4068-A638-653BEB0CCE2E}"/>
                </a:ext>
              </a:extLst>
            </p:cNvPr>
            <p:cNvSpPr/>
            <p:nvPr/>
          </p:nvSpPr>
          <p:spPr>
            <a:xfrm>
              <a:off x="8036418" y="4411699"/>
              <a:ext cx="710425" cy="33648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2D7B3F8-CE45-4C59-933F-BBD0EC0E5083}"/>
                </a:ext>
              </a:extLst>
            </p:cNvPr>
            <p:cNvSpPr/>
            <p:nvPr/>
          </p:nvSpPr>
          <p:spPr>
            <a:xfrm>
              <a:off x="1467507" y="5329566"/>
              <a:ext cx="1485234" cy="33301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B90782E-F17E-4E9F-BB08-5B36BB527A93}"/>
              </a:ext>
            </a:extLst>
          </p:cNvPr>
          <p:cNvSpPr txBox="1"/>
          <p:nvPr/>
        </p:nvSpPr>
        <p:spPr>
          <a:xfrm>
            <a:off x="8746841" y="4914711"/>
            <a:ext cx="3366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ea typeface="微軟正黑體" panose="020B0604030504040204" pitchFamily="34" charset="-120"/>
              </a:rPr>
              <a:t>若成功會顯示 </a:t>
            </a:r>
            <a:r>
              <a:rPr lang="en-US" altLang="zh-TW" sz="16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200 OK</a:t>
            </a:r>
            <a:r>
              <a:rPr lang="zh-TW" altLang="en-US" sz="1600" b="1" dirty="0">
                <a:ea typeface="微軟正黑體" panose="020B0604030504040204" pitchFamily="34" charset="-120"/>
              </a:rPr>
              <a:t>，且</a:t>
            </a:r>
            <a:endParaRPr lang="en-US" altLang="zh-TW" sz="1600" b="1" dirty="0">
              <a:ea typeface="微軟正黑體" panose="020B0604030504040204" pitchFamily="34" charset="-120"/>
            </a:endParaRPr>
          </a:p>
          <a:p>
            <a:r>
              <a:rPr lang="en-US" altLang="zh-TW" sz="1600" b="1" dirty="0">
                <a:ea typeface="微軟正黑體" panose="020B0604030504040204" pitchFamily="34" charset="-120"/>
              </a:rPr>
              <a:t>response data </a:t>
            </a:r>
            <a:r>
              <a:rPr lang="zh-TW" altLang="en-US" sz="1600" b="1" dirty="0">
                <a:ea typeface="微軟正黑體" panose="020B0604030504040204" pitchFamily="34" charset="-120"/>
              </a:rPr>
              <a:t>會含 </a:t>
            </a:r>
            <a:r>
              <a:rPr lang="en-US" altLang="zh-TW" sz="1600" b="1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"success": "true"</a:t>
            </a:r>
          </a:p>
        </p:txBody>
      </p:sp>
    </p:spTree>
    <p:extLst>
      <p:ext uri="{BB962C8B-B14F-4D97-AF65-F5344CB8AC3E}">
        <p14:creationId xmlns:p14="http://schemas.microsoft.com/office/powerpoint/2010/main" val="1299738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73F137-3875-471D-ADA2-B51B3873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Agent </a:t>
            </a:r>
            <a:r>
              <a:rPr lang="zh-TW" altLang="en-US" dirty="0"/>
              <a:t>串接工具，需要 </a:t>
            </a:r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596FFF-4A23-488C-BDBB-8A15064888E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FB5C459-24F4-4AFC-B27F-CEFC604F747B}"/>
              </a:ext>
            </a:extLst>
          </p:cNvPr>
          <p:cNvSpPr txBox="1"/>
          <p:nvPr/>
        </p:nvSpPr>
        <p:spPr>
          <a:xfrm>
            <a:off x="597401" y="1452770"/>
            <a:ext cx="3512685" cy="44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Deploy a Server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線上</a:t>
            </a:r>
            <a:r>
              <a:rPr lang="zh-TW" altLang="en-US" sz="1600" dirty="0">
                <a:ea typeface="微軟正黑體" panose="020B0604030504040204" pitchFamily="34" charset="-120"/>
              </a:rPr>
              <a:t>：直接獲取線上服務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線下：需自行部署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algn="l">
              <a:lnSpc>
                <a:spcPct val="150000"/>
              </a:lnSpc>
            </a:pP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Developer / Client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Need Knows …</a:t>
            </a:r>
            <a:endParaRPr lang="en-US" altLang="zh-TW" sz="1600" b="1" i="0" dirty="0">
              <a:solidFill>
                <a:srgbClr val="002060"/>
              </a:solidFill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URL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Methods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Authorization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Parameters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Tool &amp; parameters description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Response</a:t>
            </a:r>
            <a:r>
              <a:rPr lang="zh-TW" altLang="en-US" sz="1600" dirty="0">
                <a:ea typeface="微軟正黑體" panose="020B0604030504040204" pitchFamily="34" charset="-120"/>
              </a:rPr>
              <a:t> 形式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通訊協定 </a:t>
            </a:r>
            <a:r>
              <a:rPr lang="en-US" altLang="zh-TW" sz="1600" dirty="0">
                <a:ea typeface="微軟正黑體" panose="020B0604030504040204" pitchFamily="34" charset="-120"/>
              </a:rPr>
              <a:t>(e.g. HTTP, 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1A2A9E-F0FD-4EEA-98DD-66FBF0F630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555" b="8645"/>
          <a:stretch/>
        </p:blipFill>
        <p:spPr>
          <a:xfrm>
            <a:off x="5202810" y="275274"/>
            <a:ext cx="4619136" cy="286385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4662DE2-2102-462F-85E8-0ADB58B341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14" b="89785" l="9769" r="89974">
                        <a14:foregroundMark x1="27763" y1="39516" x2="27763" y2="39516"/>
                        <a14:foregroundMark x1="33676" y1="55914" x2="33676" y2="55914"/>
                        <a14:foregroundMark x1="41902" y1="10753" x2="41902" y2="10753"/>
                        <a14:foregroundMark x1="35733" y1="23656" x2="35733" y2="23656"/>
                        <a14:foregroundMark x1="49357" y1="15054" x2="49357" y2="15054"/>
                        <a14:foregroundMark x1="71722" y1="39516" x2="71722" y2="39516"/>
                        <a14:foregroundMark x1="71465" y1="54301" x2="71465" y2="54301"/>
                        <a14:foregroundMark x1="52442" y1="5914" x2="52442" y2="5914"/>
                        <a14:backgroundMark x1="33676" y1="56183" x2="33676" y2="56183"/>
                      </a14:backgroundRemoval>
                    </a14:imgEffect>
                  </a14:imgLayer>
                </a14:imgProps>
              </a:ext>
            </a:extLst>
          </a:blip>
          <a:srcRect l="19408" r="18305" b="9224"/>
          <a:stretch/>
        </p:blipFill>
        <p:spPr>
          <a:xfrm>
            <a:off x="10136958" y="3759857"/>
            <a:ext cx="1593130" cy="222034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600AF05-CDD4-45ED-823B-6949C0D8A7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05" t="34634"/>
          <a:stretch/>
        </p:blipFill>
        <p:spPr>
          <a:xfrm>
            <a:off x="5266441" y="3210123"/>
            <a:ext cx="4619136" cy="304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86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082A11-3F51-467B-85B9-7724852F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(Model Context Protocol)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5FAD6F-D0F1-4D51-9D82-D849565DD25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AC187FE4-8499-4749-B13F-A19714B78CED}"/>
              </a:ext>
            </a:extLst>
          </p:cNvPr>
          <p:cNvGrpSpPr/>
          <p:nvPr/>
        </p:nvGrpSpPr>
        <p:grpSpPr>
          <a:xfrm>
            <a:off x="7054669" y="2498242"/>
            <a:ext cx="4988352" cy="2509997"/>
            <a:chOff x="593888" y="2769013"/>
            <a:chExt cx="4988352" cy="250999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73F17A8-4678-421C-A99D-F4E3E1B7C856}"/>
                </a:ext>
              </a:extLst>
            </p:cNvPr>
            <p:cNvSpPr/>
            <p:nvPr/>
          </p:nvSpPr>
          <p:spPr>
            <a:xfrm>
              <a:off x="593888" y="2957660"/>
              <a:ext cx="1555424" cy="23213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MCP Client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97D183F-42FF-42AC-A317-B3E42D42749B}"/>
                </a:ext>
              </a:extLst>
            </p:cNvPr>
            <p:cNvSpPr/>
            <p:nvPr/>
          </p:nvSpPr>
          <p:spPr>
            <a:xfrm>
              <a:off x="4026816" y="2957660"/>
              <a:ext cx="1555424" cy="2321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MCP Server</a:t>
              </a:r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AA44F477-8C93-456B-9788-E53B289911D9}"/>
                </a:ext>
              </a:extLst>
            </p:cNvPr>
            <p:cNvCxnSpPr/>
            <p:nvPr/>
          </p:nvCxnSpPr>
          <p:spPr>
            <a:xfrm>
              <a:off x="2149312" y="3091992"/>
              <a:ext cx="1877504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6A9D3286-B095-4AF6-87F0-4C86D9D67204}"/>
                </a:ext>
              </a:extLst>
            </p:cNvPr>
            <p:cNvCxnSpPr/>
            <p:nvPr/>
          </p:nvCxnSpPr>
          <p:spPr>
            <a:xfrm flipH="1">
              <a:off x="2149312" y="4044100"/>
              <a:ext cx="1877504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7117DEA-BAD0-4989-8620-19009B0101AA}"/>
                </a:ext>
              </a:extLst>
            </p:cNvPr>
            <p:cNvCxnSpPr/>
            <p:nvPr/>
          </p:nvCxnSpPr>
          <p:spPr>
            <a:xfrm>
              <a:off x="2149312" y="3560975"/>
              <a:ext cx="1877504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5F34BB3-E3F0-4DA7-905C-E0A1874110EA}"/>
                </a:ext>
              </a:extLst>
            </p:cNvPr>
            <p:cNvCxnSpPr/>
            <p:nvPr/>
          </p:nvCxnSpPr>
          <p:spPr>
            <a:xfrm>
              <a:off x="2149312" y="4533508"/>
              <a:ext cx="1877504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128FDA35-9993-4F2B-BA0E-1E1880EF5F1C}"/>
                </a:ext>
              </a:extLst>
            </p:cNvPr>
            <p:cNvCxnSpPr/>
            <p:nvPr/>
          </p:nvCxnSpPr>
          <p:spPr>
            <a:xfrm flipH="1">
              <a:off x="2149312" y="5007204"/>
              <a:ext cx="1877504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1D645E4-202C-4630-B4B1-B4931627947A}"/>
                </a:ext>
              </a:extLst>
            </p:cNvPr>
            <p:cNvSpPr txBox="1"/>
            <p:nvPr/>
          </p:nvSpPr>
          <p:spPr>
            <a:xfrm>
              <a:off x="2630864" y="2769013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accent1"/>
                  </a:solidFill>
                  <a:ea typeface="微軟正黑體" panose="020B0604030504040204" pitchFamily="34" charset="-120"/>
                </a:rPr>
                <a:t>1.</a:t>
              </a:r>
              <a:r>
                <a:rPr lang="zh-TW" altLang="en-US" sz="1600" b="1" dirty="0">
                  <a:solidFill>
                    <a:schemeClr val="accent1"/>
                  </a:solidFill>
                  <a:ea typeface="微軟正黑體" panose="020B0604030504040204" pitchFamily="34" charset="-120"/>
                </a:rPr>
                <a:t> 連線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1B3074E3-797A-4692-91F6-4D6D8E967E2C}"/>
                </a:ext>
              </a:extLst>
            </p:cNvPr>
            <p:cNvSpPr txBox="1"/>
            <p:nvPr/>
          </p:nvSpPr>
          <p:spPr>
            <a:xfrm>
              <a:off x="2098642" y="3258687"/>
              <a:ext cx="19788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accent1"/>
                  </a:solidFill>
                  <a:ea typeface="微軟正黑體" panose="020B0604030504040204" pitchFamily="34" charset="-120"/>
                </a:rPr>
                <a:t>2.</a:t>
              </a:r>
              <a:r>
                <a:rPr lang="zh-TW" altLang="en-US" sz="1600" b="1" dirty="0">
                  <a:solidFill>
                    <a:schemeClr val="accent1"/>
                  </a:solidFill>
                  <a:ea typeface="微軟正黑體" panose="020B0604030504040204" pitchFamily="34" charset="-120"/>
                </a:rPr>
                <a:t> 取得工具清單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3C4E6779-A406-453E-829E-A7D3EFCCFB6A}"/>
                </a:ext>
              </a:extLst>
            </p:cNvPr>
            <p:cNvSpPr txBox="1"/>
            <p:nvPr/>
          </p:nvSpPr>
          <p:spPr>
            <a:xfrm>
              <a:off x="2272644" y="4226104"/>
              <a:ext cx="1630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accent1"/>
                  </a:solidFill>
                  <a:ea typeface="微軟正黑體" panose="020B0604030504040204" pitchFamily="34" charset="-120"/>
                </a:rPr>
                <a:t>4.</a:t>
              </a:r>
              <a:r>
                <a:rPr lang="zh-TW" altLang="en-US" sz="1600" b="1" dirty="0">
                  <a:solidFill>
                    <a:schemeClr val="accent1"/>
                  </a:solidFill>
                  <a:ea typeface="微軟正黑體" panose="020B0604030504040204" pitchFamily="34" charset="-120"/>
                </a:rPr>
                <a:t> 發送執行請求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42DC79FF-AC55-4FFA-87D5-64247AF3D8CD}"/>
                </a:ext>
              </a:extLst>
            </p:cNvPr>
            <p:cNvSpPr txBox="1"/>
            <p:nvPr/>
          </p:nvSpPr>
          <p:spPr>
            <a:xfrm>
              <a:off x="2273428" y="3708034"/>
              <a:ext cx="1630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3.</a:t>
              </a:r>
              <a:r>
                <a:rPr lang="zh-TW" altLang="en-US" sz="16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 回傳工具清單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C45801DB-204A-46DE-B0FC-466FFC1AEF58}"/>
                </a:ext>
              </a:extLst>
            </p:cNvPr>
            <p:cNvSpPr txBox="1"/>
            <p:nvPr/>
          </p:nvSpPr>
          <p:spPr>
            <a:xfrm>
              <a:off x="2272644" y="4658479"/>
              <a:ext cx="16308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5.</a:t>
              </a:r>
              <a:r>
                <a:rPr lang="zh-TW" altLang="en-US" sz="16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 回傳執行結果</a:t>
              </a: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F315202-C18C-4FD9-9A1C-5ADB222E7519}"/>
              </a:ext>
            </a:extLst>
          </p:cNvPr>
          <p:cNvSpPr txBox="1"/>
          <p:nvPr/>
        </p:nvSpPr>
        <p:spPr>
          <a:xfrm>
            <a:off x="432040" y="2269712"/>
            <a:ext cx="6381853" cy="3007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MCP Client &amp; Server 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的互動</a:t>
            </a:r>
            <a:r>
              <a:rPr lang="zh-TW" altLang="en-US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流程</a:t>
            </a:r>
            <a:endParaRPr lang="en-US" altLang="zh-TW" sz="1600" b="1" i="0" dirty="0">
              <a:solidFill>
                <a:srgbClr val="002060"/>
              </a:solidFill>
              <a:effectLst/>
              <a:ea typeface="微軟正黑體" panose="020B0604030504040204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i="0" dirty="0">
                <a:effectLst/>
                <a:ea typeface="微軟正黑體" panose="020B0604030504040204" pitchFamily="34" charset="-120"/>
              </a:rPr>
              <a:t>Initialize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MCP Client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與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MCP 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建立連線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(HTTP/SSE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或透過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mcp-remote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，連線成功後，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Server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處於待命狀態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dirty="0">
                <a:ea typeface="微軟正黑體" panose="020B0604030504040204" pitchFamily="34" charset="-120"/>
              </a:rPr>
              <a:t>Tool Discovery</a:t>
            </a:r>
            <a:r>
              <a:rPr lang="zh-TW" altLang="en-US" sz="1600" dirty="0">
                <a:ea typeface="微軟正黑體" panose="020B0604030504040204" pitchFamily="34" charset="-120"/>
              </a:rPr>
              <a:t>：</a:t>
            </a:r>
            <a:r>
              <a:rPr lang="en-US" altLang="zh-TW" sz="1600" dirty="0">
                <a:ea typeface="微軟正黑體" panose="020B0604030504040204" pitchFamily="34" charset="-120"/>
              </a:rPr>
              <a:t>Client </a:t>
            </a:r>
            <a:r>
              <a:rPr lang="zh-TW" altLang="en-US" sz="1600" dirty="0">
                <a:ea typeface="微軟正黑體" panose="020B0604030504040204" pitchFamily="34" charset="-120"/>
              </a:rPr>
              <a:t>發送 </a:t>
            </a:r>
            <a:r>
              <a:rPr lang="en-US" altLang="zh-TW" sz="1600" b="0" i="0" dirty="0">
                <a:effectLst/>
              </a:rPr>
              <a:t>tools/list</a:t>
            </a:r>
            <a:r>
              <a:rPr lang="zh-TW" altLang="en-US" sz="1600" b="0" i="0" dirty="0">
                <a:effectLst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的請求給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Server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MCP 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收到 </a:t>
            </a:r>
            <a:r>
              <a:rPr lang="en-US" altLang="zh-TW" sz="1600" b="0" i="0" dirty="0">
                <a:effectLst/>
              </a:rPr>
              <a:t>tools/list</a:t>
            </a:r>
            <a:r>
              <a:rPr lang="zh-TW" altLang="en-US" sz="1600" b="0" i="0" dirty="0">
                <a:effectLst/>
              </a:rPr>
              <a:t>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請求後會回傳所有工具的清單，</a:t>
            </a:r>
            <a:r>
              <a:rPr lang="zh-TW" altLang="en-US" sz="1600" dirty="0">
                <a:ea typeface="微軟正黑體" panose="020B0604030504040204" pitchFamily="34" charset="-120"/>
              </a:rPr>
              <a:t>包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含每個工具的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schema (JSON, include description, parameters, …)</a:t>
            </a:r>
            <a:endParaRPr lang="zh-TW" altLang="en-US" sz="1600" b="0" i="0" dirty="0">
              <a:effectLst/>
              <a:ea typeface="微軟正黑體" panose="020B0604030504040204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若要呼叫某個工具，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 MCP Client </a:t>
            </a:r>
            <a:r>
              <a:rPr lang="zh-TW" altLang="en-US" sz="1600" dirty="0">
                <a:ea typeface="微軟正黑體" panose="020B0604030504040204" pitchFamily="34" charset="-120"/>
              </a:rPr>
              <a:t>發送執行請求給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Server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MCP 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執行指定工具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(tools/call)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 後回傳結果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D832385-C84E-4C56-8962-1F3A7F4ADB32}"/>
              </a:ext>
            </a:extLst>
          </p:cNvPr>
          <p:cNvSpPr txBox="1"/>
          <p:nvPr/>
        </p:nvSpPr>
        <p:spPr>
          <a:xfrm>
            <a:off x="456000" y="1271280"/>
            <a:ext cx="868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MCP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(</a:t>
            </a: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Model Context Protocol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，是一種用於將 </a:t>
            </a: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AI </a:t>
            </a:r>
            <a:r>
              <a:rPr lang="zh-TW" altLang="en-US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應用程式連接到外部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工具</a:t>
            </a:r>
            <a:r>
              <a:rPr lang="zh-TW" altLang="en-US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的開源標準</a:t>
            </a:r>
            <a:endParaRPr lang="en-US" altLang="zh-TW" sz="1600" b="1" i="0" dirty="0">
              <a:solidFill>
                <a:schemeClr val="accent2"/>
              </a:solidFill>
              <a:effectLst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0579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082A11-3F51-467B-85B9-7724852F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Architecture of MCP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5FAD6F-D0F1-4D51-9D82-D849565DD25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62AF747A-E1AE-43E2-AE15-664BD691153D}"/>
              </a:ext>
            </a:extLst>
          </p:cNvPr>
          <p:cNvGrpSpPr/>
          <p:nvPr/>
        </p:nvGrpSpPr>
        <p:grpSpPr>
          <a:xfrm>
            <a:off x="180103" y="1264890"/>
            <a:ext cx="8379436" cy="5015889"/>
            <a:chOff x="659878" y="1085125"/>
            <a:chExt cx="8650138" cy="5015889"/>
          </a:xfrm>
        </p:grpSpPr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C60B57A8-BAB2-4D5B-B6D8-CA8D7A4438DA}"/>
                </a:ext>
              </a:extLst>
            </p:cNvPr>
            <p:cNvGrpSpPr/>
            <p:nvPr/>
          </p:nvGrpSpPr>
          <p:grpSpPr>
            <a:xfrm>
              <a:off x="659878" y="1085125"/>
              <a:ext cx="8650138" cy="5015889"/>
              <a:chOff x="457881" y="1215722"/>
              <a:chExt cx="8650138" cy="5015889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E6ACD8B1-7EAA-46FD-BD9C-71BF883ED15F}"/>
                  </a:ext>
                </a:extLst>
              </p:cNvPr>
              <p:cNvGrpSpPr/>
              <p:nvPr/>
            </p:nvGrpSpPr>
            <p:grpSpPr>
              <a:xfrm>
                <a:off x="457881" y="1215722"/>
                <a:ext cx="8650138" cy="5015889"/>
                <a:chOff x="470933" y="1217644"/>
                <a:chExt cx="8650138" cy="5015889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DB2C8A81-709F-4371-BE40-E29641E8BEF5}"/>
                    </a:ext>
                  </a:extLst>
                </p:cNvPr>
                <p:cNvGrpSpPr/>
                <p:nvPr/>
              </p:nvGrpSpPr>
              <p:grpSpPr>
                <a:xfrm>
                  <a:off x="470933" y="1217644"/>
                  <a:ext cx="8650138" cy="5015889"/>
                  <a:chOff x="3298974" y="716214"/>
                  <a:chExt cx="8650138" cy="5015889"/>
                </a:xfrm>
              </p:grpSpPr>
              <p:grpSp>
                <p:nvGrpSpPr>
                  <p:cNvPr id="34" name="群組 33">
                    <a:extLst>
                      <a:ext uri="{FF2B5EF4-FFF2-40B4-BE49-F238E27FC236}">
                        <a16:creationId xmlns:a16="http://schemas.microsoft.com/office/drawing/2014/main" id="{4A3A1DDE-5F11-4AE5-B327-B834CFB42433}"/>
                      </a:ext>
                    </a:extLst>
                  </p:cNvPr>
                  <p:cNvGrpSpPr/>
                  <p:nvPr/>
                </p:nvGrpSpPr>
                <p:grpSpPr>
                  <a:xfrm>
                    <a:off x="3298974" y="717043"/>
                    <a:ext cx="8650138" cy="5015060"/>
                    <a:chOff x="2554628" y="723071"/>
                    <a:chExt cx="8650138" cy="5015060"/>
                  </a:xfrm>
                </p:grpSpPr>
                <p:sp>
                  <p:nvSpPr>
                    <p:cNvPr id="5" name="矩形: 圓角 4">
                      <a:extLst>
                        <a:ext uri="{FF2B5EF4-FFF2-40B4-BE49-F238E27FC236}">
                          <a16:creationId xmlns:a16="http://schemas.microsoft.com/office/drawing/2014/main" id="{5BFAFDEF-A3C3-4889-BDBC-CBAFA71AE3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54628" y="723071"/>
                      <a:ext cx="8650138" cy="5015060"/>
                    </a:xfrm>
                    <a:prstGeom prst="round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  <p:sp>
                  <p:nvSpPr>
                    <p:cNvPr id="10" name="矩形: 圓角 9">
                      <a:extLst>
                        <a:ext uri="{FF2B5EF4-FFF2-40B4-BE49-F238E27FC236}">
                          <a16:creationId xmlns:a16="http://schemas.microsoft.com/office/drawing/2014/main" id="{50BA287E-EBFF-4335-A01E-BEB750493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52589" y="1330794"/>
                      <a:ext cx="8208892" cy="4184187"/>
                    </a:xfrm>
                    <a:prstGeom prst="round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/>
                    </a:p>
                  </p:txBody>
                </p:sp>
                <p:sp>
                  <p:nvSpPr>
                    <p:cNvPr id="8" name="矩形 7">
                      <a:extLst>
                        <a:ext uri="{FF2B5EF4-FFF2-40B4-BE49-F238E27FC236}">
                          <a16:creationId xmlns:a16="http://schemas.microsoft.com/office/drawing/2014/main" id="{5AFE22B6-9923-4321-830B-3BAFD147BF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55001" y="2872067"/>
                      <a:ext cx="1555424" cy="537570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MCP Server 2</a:t>
                      </a:r>
                    </a:p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(Local)</a:t>
                      </a:r>
                    </a:p>
                  </p:txBody>
                </p:sp>
                <p:sp>
                  <p:nvSpPr>
                    <p:cNvPr id="9" name="流程圖: 磁碟 8">
                      <a:extLst>
                        <a:ext uri="{FF2B5EF4-FFF2-40B4-BE49-F238E27FC236}">
                          <a16:creationId xmlns:a16="http://schemas.microsoft.com/office/drawing/2014/main" id="{C29B0073-40C3-42F6-9B22-9412834A84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227" y="1473355"/>
                      <a:ext cx="1231954" cy="1051467"/>
                    </a:xfrm>
                    <a:prstGeom prst="flowChartMagneticDisk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Resources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" name="流程圖: 多重文件 11">
                      <a:extLst>
                        <a:ext uri="{FF2B5EF4-FFF2-40B4-BE49-F238E27FC236}">
                          <a16:creationId xmlns:a16="http://schemas.microsoft.com/office/drawing/2014/main" id="{3297064C-837E-47EF-96B3-02ECAA7B72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46071" y="4191356"/>
                      <a:ext cx="1640264" cy="1206631"/>
                    </a:xfrm>
                    <a:prstGeom prst="flowChartMultidocumen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Prompts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" name="矩形 13">
                      <a:extLst>
                        <a:ext uri="{FF2B5EF4-FFF2-40B4-BE49-F238E27FC236}">
                          <a16:creationId xmlns:a16="http://schemas.microsoft.com/office/drawing/2014/main" id="{59B37C5C-F849-4DF9-BCE0-BAE9449739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24627" y="2649112"/>
                      <a:ext cx="2619993" cy="1206631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ea typeface="微軟正黑體" panose="020B0604030504040204" pitchFamily="34" charset="-120"/>
                        </a:rPr>
                        <a:t>Tools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ea typeface="微軟正黑體" panose="020B0604030504040204" pitchFamily="34" charset="-120"/>
                        </a:rPr>
                        <a:t>全臺各縣市天氣預報</a:t>
                      </a:r>
                      <a:endParaRPr lang="en-US" altLang="zh-TW" sz="16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ea typeface="微軟正黑體" panose="020B0604030504040204" pitchFamily="34" charset="-120"/>
                        </a:rPr>
                        <a:t>臺北市各鄉鎮天氣預報</a:t>
                      </a:r>
                      <a:endParaRPr lang="en-US" altLang="zh-TW" sz="16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ea typeface="微軟正黑體" panose="020B0604030504040204" pitchFamily="34" charset="-120"/>
                        </a:rPr>
                        <a:t>高雄市各鄉鎮天氣預報</a:t>
                      </a:r>
                      <a:endParaRPr lang="en-US" altLang="zh-TW" sz="16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33" name="文字方塊 32">
                      <a:extLst>
                        <a:ext uri="{FF2B5EF4-FFF2-40B4-BE49-F238E27FC236}">
                          <a16:creationId xmlns:a16="http://schemas.microsoft.com/office/drawing/2014/main" id="{FA2E5182-A651-4DEB-BA5B-0C780E903A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4660" y="1331733"/>
                      <a:ext cx="14764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Data Layer</a:t>
                      </a:r>
                      <a:endParaRPr lang="zh-TW" altLang="en-US" b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35" name="文字方塊 34">
                      <a:extLst>
                        <a:ext uri="{FF2B5EF4-FFF2-40B4-BE49-F238E27FC236}">
                          <a16:creationId xmlns:a16="http://schemas.microsoft.com/office/drawing/2014/main" id="{50665293-31DB-499D-9D5F-859DD473F7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13305" y="817553"/>
                      <a:ext cx="182905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b="1" dirty="0"/>
                        <a:t>Transport Layer</a:t>
                      </a:r>
                      <a:endParaRPr lang="zh-TW" altLang="en-US" b="1" dirty="0"/>
                    </a:p>
                  </p:txBody>
                </p:sp>
              </p:grpSp>
              <p:sp>
                <p:nvSpPr>
                  <p:cNvPr id="37" name="矩形 36">
                    <a:extLst>
                      <a:ext uri="{FF2B5EF4-FFF2-40B4-BE49-F238E27FC236}">
                        <a16:creationId xmlns:a16="http://schemas.microsoft.com/office/drawing/2014/main" id="{DDBB301D-875B-4A3E-93D4-72653E06D66E}"/>
                      </a:ext>
                    </a:extLst>
                  </p:cNvPr>
                  <p:cNvSpPr/>
                  <p:nvPr/>
                </p:nvSpPr>
                <p:spPr>
                  <a:xfrm>
                    <a:off x="5521161" y="716214"/>
                    <a:ext cx="3111795" cy="58517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lang="en-US" altLang="zh-TW" sz="1600" i="0" dirty="0">
                        <a:solidFill>
                          <a:schemeClr val="tx1"/>
                        </a:solidFill>
                        <a:effectLst/>
                        <a:latin typeface="Inter"/>
                      </a:rPr>
                      <a:t>Stdio transport</a:t>
                    </a:r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lang="en-US" altLang="zh-TW" sz="1600" i="0" dirty="0" err="1">
                        <a:solidFill>
                          <a:schemeClr val="tx1"/>
                        </a:solidFill>
                        <a:effectLst/>
                        <a:latin typeface="Inter"/>
                      </a:rPr>
                      <a:t>Streamable</a:t>
                    </a:r>
                    <a:r>
                      <a:rPr lang="en-US" altLang="zh-TW" sz="1600" i="0" dirty="0">
                        <a:solidFill>
                          <a:schemeClr val="tx1"/>
                        </a:solidFill>
                        <a:effectLst/>
                        <a:latin typeface="Inter"/>
                      </a:rPr>
                      <a:t> HTTP transport</a:t>
                    </a:r>
                    <a:endParaRPr lang="en-US" altLang="zh-TW" sz="1600" dirty="0">
                      <a:solidFill>
                        <a:schemeClr val="tx1"/>
                      </a:solidFill>
                      <a:ea typeface="微軟正黑體" panose="020B0604030504040204" pitchFamily="34" charset="-120"/>
                    </a:endParaRPr>
                  </a:p>
                </p:txBody>
              </p:sp>
            </p:grpSp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A8A633D2-4B23-4167-AFBE-0289906A823D}"/>
                    </a:ext>
                  </a:extLst>
                </p:cNvPr>
                <p:cNvSpPr/>
                <p:nvPr/>
              </p:nvSpPr>
              <p:spPr>
                <a:xfrm>
                  <a:off x="907652" y="2110090"/>
                  <a:ext cx="1930101" cy="348873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3FE4B000-9BCF-49D9-8838-961C503EC50A}"/>
                  </a:ext>
                </a:extLst>
              </p:cNvPr>
              <p:cNvSpPr txBox="1"/>
              <p:nvPr/>
            </p:nvSpPr>
            <p:spPr>
              <a:xfrm>
                <a:off x="894600" y="2135270"/>
                <a:ext cx="19883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/>
                  <a:t>MCP Host (AI Agent)</a:t>
                </a:r>
                <a:endParaRPr lang="zh-TW" altLang="en-US" sz="1600" dirty="0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793A013-B07F-4D8C-A20B-A06FF837441A}"/>
                  </a:ext>
                </a:extLst>
              </p:cNvPr>
              <p:cNvSpPr/>
              <p:nvPr/>
            </p:nvSpPr>
            <p:spPr>
              <a:xfrm>
                <a:off x="1163529" y="3456253"/>
                <a:ext cx="1377934" cy="3561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MCP Client 2</a:t>
                </a: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4FBCFACB-0F31-4315-A31D-2F21D7C0C6C3}"/>
                  </a:ext>
                </a:extLst>
              </p:cNvPr>
              <p:cNvSpPr/>
              <p:nvPr/>
            </p:nvSpPr>
            <p:spPr>
              <a:xfrm>
                <a:off x="1134913" y="2705863"/>
                <a:ext cx="1377934" cy="3561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MCP Client 1</a:t>
                </a:r>
              </a:p>
            </p:txBody>
          </p:sp>
          <p:cxnSp>
            <p:nvCxnSpPr>
              <p:cNvPr id="1061" name="直線單箭頭接點 1060">
                <a:extLst>
                  <a:ext uri="{FF2B5EF4-FFF2-40B4-BE49-F238E27FC236}">
                    <a16:creationId xmlns:a16="http://schemas.microsoft.com/office/drawing/2014/main" id="{A23C0E6A-18E3-4DAC-94A4-2591375BF6A9}"/>
                  </a:ext>
                </a:extLst>
              </p:cNvPr>
              <p:cNvCxnSpPr>
                <a:cxnSpLocks/>
                <a:stCxn id="91" idx="3"/>
                <a:endCxn id="157" idx="1"/>
              </p:cNvCxnSpPr>
              <p:nvPr/>
            </p:nvCxnSpPr>
            <p:spPr>
              <a:xfrm>
                <a:off x="2512847" y="2883943"/>
                <a:ext cx="945407" cy="4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>
                <a:extLst>
                  <a:ext uri="{FF2B5EF4-FFF2-40B4-BE49-F238E27FC236}">
                    <a16:creationId xmlns:a16="http://schemas.microsoft.com/office/drawing/2014/main" id="{90B791D3-F881-4FFF-88F5-DDAB6D8EC38C}"/>
                  </a:ext>
                </a:extLst>
              </p:cNvPr>
              <p:cNvCxnSpPr>
                <a:cxnSpLocks/>
                <a:stCxn id="54" idx="3"/>
                <a:endCxn id="8" idx="1"/>
              </p:cNvCxnSpPr>
              <p:nvPr/>
            </p:nvCxnSpPr>
            <p:spPr>
              <a:xfrm flipV="1">
                <a:off x="2541463" y="3634332"/>
                <a:ext cx="916791" cy="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線單箭頭接點 107">
                <a:extLst>
                  <a:ext uri="{FF2B5EF4-FFF2-40B4-BE49-F238E27FC236}">
                    <a16:creationId xmlns:a16="http://schemas.microsoft.com/office/drawing/2014/main" id="{B878688E-9C16-4BA6-A79B-13FEBE892772}"/>
                  </a:ext>
                </a:extLst>
              </p:cNvPr>
              <p:cNvCxnSpPr>
                <a:cxnSpLocks/>
                <a:stCxn id="8" idx="3"/>
                <a:endCxn id="9" idx="2"/>
              </p:cNvCxnSpPr>
              <p:nvPr/>
            </p:nvCxnSpPr>
            <p:spPr>
              <a:xfrm flipV="1">
                <a:off x="5013679" y="2492569"/>
                <a:ext cx="1039801" cy="11417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單箭頭接點 110">
                <a:extLst>
                  <a:ext uri="{FF2B5EF4-FFF2-40B4-BE49-F238E27FC236}">
                    <a16:creationId xmlns:a16="http://schemas.microsoft.com/office/drawing/2014/main" id="{99A3DC54-D3A4-431A-BA0C-FE35446E527B}"/>
                  </a:ext>
                </a:extLst>
              </p:cNvPr>
              <p:cNvCxnSpPr>
                <a:cxnSpLocks/>
                <a:stCxn id="8" idx="3"/>
                <a:endCxn id="14" idx="1"/>
              </p:cNvCxnSpPr>
              <p:nvPr/>
            </p:nvCxnSpPr>
            <p:spPr>
              <a:xfrm>
                <a:off x="5013679" y="3634332"/>
                <a:ext cx="1014202" cy="11157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單箭頭接點 116">
                <a:extLst>
                  <a:ext uri="{FF2B5EF4-FFF2-40B4-BE49-F238E27FC236}">
                    <a16:creationId xmlns:a16="http://schemas.microsoft.com/office/drawing/2014/main" id="{3C5BF149-467D-445B-9E32-0B734F6AF612}"/>
                  </a:ext>
                </a:extLst>
              </p:cNvPr>
              <p:cNvCxnSpPr>
                <a:cxnSpLocks/>
                <a:stCxn id="8" idx="3"/>
                <a:endCxn id="12" idx="1"/>
              </p:cNvCxnSpPr>
              <p:nvPr/>
            </p:nvCxnSpPr>
            <p:spPr>
              <a:xfrm>
                <a:off x="5013679" y="3634332"/>
                <a:ext cx="835645" cy="165382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7B6CAE42-EEA3-432C-9011-73002C3CF93E}"/>
                  </a:ext>
                </a:extLst>
              </p:cNvPr>
              <p:cNvSpPr/>
              <p:nvPr/>
            </p:nvSpPr>
            <p:spPr>
              <a:xfrm>
                <a:off x="3458254" y="2615649"/>
                <a:ext cx="1555424" cy="5375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MCP Server 1</a:t>
                </a:r>
              </a:p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(Local)</a:t>
                </a:r>
              </a:p>
            </p:txBody>
          </p: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C0D027E1-B342-45A9-AA48-8F427C651B1B}"/>
                  </a:ext>
                </a:extLst>
              </p:cNvPr>
              <p:cNvSpPr/>
              <p:nvPr/>
            </p:nvSpPr>
            <p:spPr>
              <a:xfrm>
                <a:off x="1163528" y="4218347"/>
                <a:ext cx="1377934" cy="3561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MCP Client 3</a:t>
                </a:r>
              </a:p>
            </p:txBody>
          </p:sp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700F7E79-44FE-4AC2-A030-7CA27ECD6A57}"/>
                  </a:ext>
                </a:extLst>
              </p:cNvPr>
              <p:cNvSpPr/>
              <p:nvPr/>
            </p:nvSpPr>
            <p:spPr>
              <a:xfrm>
                <a:off x="1163528" y="4931993"/>
                <a:ext cx="1377934" cy="3561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MCP Client 4</a:t>
                </a:r>
              </a:p>
            </p:txBody>
          </p:sp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0A91BC4D-193B-4991-B9A7-6BCEFE4C893C}"/>
                  </a:ext>
                </a:extLst>
              </p:cNvPr>
              <p:cNvSpPr/>
              <p:nvPr/>
            </p:nvSpPr>
            <p:spPr>
              <a:xfrm>
                <a:off x="3458254" y="4485611"/>
                <a:ext cx="1555424" cy="5375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MCP Server 3</a:t>
                </a:r>
              </a:p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(Remote)</a:t>
                </a:r>
              </a:p>
            </p:txBody>
          </p:sp>
          <p:cxnSp>
            <p:nvCxnSpPr>
              <p:cNvPr id="169" name="直線單箭頭接點 168">
                <a:extLst>
                  <a:ext uri="{FF2B5EF4-FFF2-40B4-BE49-F238E27FC236}">
                    <a16:creationId xmlns:a16="http://schemas.microsoft.com/office/drawing/2014/main" id="{EB03928B-AB5C-4B00-832A-3173C560F479}"/>
                  </a:ext>
                </a:extLst>
              </p:cNvPr>
              <p:cNvCxnSpPr>
                <a:cxnSpLocks/>
                <a:stCxn id="164" idx="3"/>
                <a:endCxn id="166" idx="1"/>
              </p:cNvCxnSpPr>
              <p:nvPr/>
            </p:nvCxnSpPr>
            <p:spPr>
              <a:xfrm>
                <a:off x="2541462" y="4396427"/>
                <a:ext cx="916792" cy="35796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線單箭頭接點 172">
                <a:extLst>
                  <a:ext uri="{FF2B5EF4-FFF2-40B4-BE49-F238E27FC236}">
                    <a16:creationId xmlns:a16="http://schemas.microsoft.com/office/drawing/2014/main" id="{CFE247FA-5035-472A-8E58-9451E43860C2}"/>
                  </a:ext>
                </a:extLst>
              </p:cNvPr>
              <p:cNvCxnSpPr>
                <a:cxnSpLocks/>
                <a:stCxn id="165" idx="3"/>
                <a:endCxn id="166" idx="1"/>
              </p:cNvCxnSpPr>
              <p:nvPr/>
            </p:nvCxnSpPr>
            <p:spPr>
              <a:xfrm flipV="1">
                <a:off x="2541462" y="4754396"/>
                <a:ext cx="916792" cy="3556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6C121B0C-52AF-4C0F-AC50-5C05CE660142}"/>
                </a:ext>
              </a:extLst>
            </p:cNvPr>
            <p:cNvSpPr txBox="1"/>
            <p:nvPr/>
          </p:nvSpPr>
          <p:spPr>
            <a:xfrm>
              <a:off x="2695214" y="2295160"/>
              <a:ext cx="10008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Dedicated </a:t>
              </a:r>
            </a:p>
            <a:p>
              <a:pPr algn="ctr"/>
              <a:r>
                <a:rPr lang="en-US" altLang="zh-TW" sz="1200" dirty="0"/>
                <a:t>Connection</a:t>
              </a:r>
              <a:endParaRPr lang="zh-TW" altLang="en-US" sz="1200" dirty="0"/>
            </a:p>
          </p:txBody>
        </p:sp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2DCEDE59-F2A4-42D6-BBC7-2D7CF2BC14FD}"/>
                </a:ext>
              </a:extLst>
            </p:cNvPr>
            <p:cNvSpPr txBox="1"/>
            <p:nvPr/>
          </p:nvSpPr>
          <p:spPr>
            <a:xfrm>
              <a:off x="2717156" y="3015019"/>
              <a:ext cx="10008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Dedicated </a:t>
              </a:r>
            </a:p>
            <a:p>
              <a:pPr algn="ctr"/>
              <a:r>
                <a:rPr lang="en-US" altLang="zh-TW" sz="1200" dirty="0"/>
                <a:t>Connection</a:t>
              </a:r>
              <a:endParaRPr lang="zh-TW" altLang="en-US" sz="1200" dirty="0"/>
            </a:p>
          </p:txBody>
        </p:sp>
        <p:sp>
          <p:nvSpPr>
            <p:cNvPr id="180" name="文字方塊 179">
              <a:extLst>
                <a:ext uri="{FF2B5EF4-FFF2-40B4-BE49-F238E27FC236}">
                  <a16:creationId xmlns:a16="http://schemas.microsoft.com/office/drawing/2014/main" id="{0C835558-5037-415D-9143-3738BC4E2375}"/>
                </a:ext>
              </a:extLst>
            </p:cNvPr>
            <p:cNvSpPr txBox="1"/>
            <p:nvPr/>
          </p:nvSpPr>
          <p:spPr>
            <a:xfrm>
              <a:off x="2729148" y="3893542"/>
              <a:ext cx="10008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Dedicated </a:t>
              </a:r>
            </a:p>
            <a:p>
              <a:pPr algn="ctr"/>
              <a:r>
                <a:rPr lang="en-US" altLang="zh-TW" sz="1200" dirty="0"/>
                <a:t>Connection</a:t>
              </a:r>
              <a:endParaRPr lang="zh-TW" altLang="en-US" sz="1200" dirty="0"/>
            </a:p>
          </p:txBody>
        </p:sp>
        <p:sp>
          <p:nvSpPr>
            <p:cNvPr id="181" name="文字方塊 180">
              <a:extLst>
                <a:ext uri="{FF2B5EF4-FFF2-40B4-BE49-F238E27FC236}">
                  <a16:creationId xmlns:a16="http://schemas.microsoft.com/office/drawing/2014/main" id="{70447D1A-340D-4721-8B4D-55072C7D3E23}"/>
                </a:ext>
              </a:extLst>
            </p:cNvPr>
            <p:cNvSpPr txBox="1"/>
            <p:nvPr/>
          </p:nvSpPr>
          <p:spPr>
            <a:xfrm>
              <a:off x="2716408" y="4877277"/>
              <a:ext cx="10008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Dedicated </a:t>
              </a:r>
            </a:p>
            <a:p>
              <a:pPr algn="ctr"/>
              <a:r>
                <a:rPr lang="en-US" altLang="zh-TW" sz="1200" dirty="0"/>
                <a:t>Connection</a:t>
              </a:r>
              <a:endParaRPr lang="zh-TW" altLang="en-US" sz="1200" dirty="0"/>
            </a:p>
          </p:txBody>
        </p:sp>
      </p:grp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8BA40852-1F58-47D5-A86E-32FE31A4DF88}"/>
              </a:ext>
            </a:extLst>
          </p:cNvPr>
          <p:cNvSpPr txBox="1"/>
          <p:nvPr/>
        </p:nvSpPr>
        <p:spPr>
          <a:xfrm>
            <a:off x="8653280" y="832865"/>
            <a:ext cx="3538720" cy="522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Layers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ffectLst/>
                <a:ea typeface="微軟正黑體" panose="020B0604030504040204" pitchFamily="34" charset="-120"/>
              </a:rPr>
              <a:t>Data Layer</a:t>
            </a:r>
            <a:r>
              <a:rPr lang="zh-TW" altLang="en-US" sz="1600" b="1" dirty="0">
                <a:effectLst/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latin typeface="Inter"/>
              </a:rPr>
              <a:t>定義了基於 </a:t>
            </a:r>
            <a:r>
              <a:rPr lang="en-US" altLang="zh-TW" sz="1600" b="0" i="0" dirty="0">
                <a:effectLst/>
                <a:latin typeface="Inter"/>
              </a:rPr>
              <a:t>JSON-RPC </a:t>
            </a:r>
            <a:r>
              <a:rPr lang="zh-TW" altLang="en-US" sz="1600" b="0" i="0" dirty="0">
                <a:effectLst/>
                <a:latin typeface="Inter"/>
              </a:rPr>
              <a:t>的 </a:t>
            </a:r>
            <a:r>
              <a:rPr lang="en-US" altLang="zh-TW" sz="1600" b="0" i="0" dirty="0">
                <a:effectLst/>
                <a:latin typeface="Inter"/>
              </a:rPr>
              <a:t>client-server </a:t>
            </a:r>
            <a:r>
              <a:rPr lang="zh-TW" altLang="en-US" sz="1600" b="0" i="0" dirty="0">
                <a:effectLst/>
                <a:latin typeface="Inter"/>
              </a:rPr>
              <a:t>通訊協定，包括生命週期管理和核心單位 </a:t>
            </a:r>
            <a:r>
              <a:rPr lang="en-US" altLang="zh-TW" sz="1600" b="0" i="0" dirty="0">
                <a:effectLst/>
                <a:latin typeface="Inter"/>
              </a:rPr>
              <a:t>(</a:t>
            </a:r>
            <a:r>
              <a:rPr lang="en-US" altLang="zh-TW" sz="1600" dirty="0">
                <a:latin typeface="Inter"/>
              </a:rPr>
              <a:t>e.g. resource, tools, prompts)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effectLst/>
                <a:ea typeface="微軟正黑體" panose="020B0604030504040204" pitchFamily="34" charset="-120"/>
              </a:rPr>
              <a:t>Transport Layer</a:t>
            </a:r>
            <a:r>
              <a:rPr lang="zh-TW" altLang="en-US" sz="1600" b="1" i="0" dirty="0">
                <a:effectLst/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latin typeface="Inter"/>
              </a:rPr>
              <a:t>定義了 </a:t>
            </a:r>
            <a:r>
              <a:rPr lang="en-US" altLang="zh-TW" sz="1600" b="0" i="0" dirty="0">
                <a:effectLst/>
                <a:latin typeface="Inter"/>
              </a:rPr>
              <a:t>client </a:t>
            </a:r>
            <a:r>
              <a:rPr lang="zh-TW" altLang="en-US" sz="1600" dirty="0">
                <a:latin typeface="Inter"/>
              </a:rPr>
              <a:t>和 </a:t>
            </a:r>
            <a:r>
              <a:rPr lang="en-US" altLang="zh-TW" sz="1600" dirty="0">
                <a:latin typeface="Inter"/>
              </a:rPr>
              <a:t>server </a:t>
            </a:r>
            <a:r>
              <a:rPr lang="zh-TW" altLang="en-US" sz="1600" b="0" i="0" dirty="0">
                <a:effectLst/>
                <a:latin typeface="Inter"/>
              </a:rPr>
              <a:t>之間的通訊機制和通道。</a:t>
            </a:r>
            <a:endParaRPr lang="en-US" altLang="zh-TW" sz="1600" i="0" dirty="0">
              <a:effectLst/>
              <a:ea typeface="微軟正黑體" panose="020B0604030504040204" pitchFamily="34" charset="-120"/>
            </a:endParaRPr>
          </a:p>
          <a:p>
            <a:pPr algn="l">
              <a:lnSpc>
                <a:spcPct val="150000"/>
              </a:lnSpc>
            </a:pPr>
            <a:endParaRPr lang="en-US" altLang="zh-TW" sz="1600" b="1" i="0" dirty="0">
              <a:effectLst/>
              <a:ea typeface="微軟正黑體" panose="020B06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Key Participants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M</a:t>
            </a:r>
            <a:r>
              <a:rPr lang="en-US" altLang="zh-TW" sz="1600" b="1" i="0" dirty="0">
                <a:effectLst/>
                <a:ea typeface="微軟正黑體" panose="020B0604030504040204" pitchFamily="34" charset="-120"/>
              </a:rPr>
              <a:t>CP Host</a:t>
            </a:r>
            <a:r>
              <a:rPr lang="zh-TW" altLang="en-US" sz="1600" b="1" i="0" dirty="0">
                <a:effectLst/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管理多個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MCP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client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的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AI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應用程式 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MCP Client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ea typeface="微軟正黑體" panose="020B0604030504040204" pitchFamily="34" charset="-120"/>
              </a:rPr>
              <a:t>負責與 </a:t>
            </a:r>
            <a:r>
              <a:rPr lang="en-US" altLang="zh-TW" sz="1600" dirty="0">
                <a:ea typeface="微軟正黑體" panose="020B0604030504040204" pitchFamily="34" charset="-120"/>
              </a:rPr>
              <a:t>MCP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ea typeface="微軟正黑體" panose="020B0604030504040204" pitchFamily="34" charset="-120"/>
              </a:rPr>
              <a:t>server </a:t>
            </a:r>
            <a:r>
              <a:rPr lang="zh-TW" altLang="en-US" sz="1600" dirty="0">
                <a:ea typeface="微軟正黑體" panose="020B0604030504040204" pitchFamily="34" charset="-120"/>
              </a:rPr>
              <a:t>建立連線以取得內容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MCP Server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ea typeface="微軟正黑體" panose="020B0604030504040204" pitchFamily="34" charset="-120"/>
              </a:rPr>
              <a:t>負責提供內容的程式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2469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5C0F54-926F-404B-BBD1-3F782BAD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Transport Layer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581054-AB1E-4912-AF1D-F9BEC64AB50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AA96CA-05EC-427A-A8BE-60B2DEF60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2" y="2337142"/>
            <a:ext cx="4344006" cy="378195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EE10EB8-0458-4125-A118-2BEAA02790AB}"/>
              </a:ext>
            </a:extLst>
          </p:cNvPr>
          <p:cNvSpPr txBox="1"/>
          <p:nvPr/>
        </p:nvSpPr>
        <p:spPr>
          <a:xfrm>
            <a:off x="5444394" y="1740221"/>
            <a:ext cx="6612488" cy="300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MCP supports two transport mechanisms: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effectLst/>
                <a:ea typeface="微軟正黑體" panose="020B0604030504040204" pitchFamily="34" charset="-120"/>
              </a:rPr>
              <a:t>Stdio transport</a:t>
            </a:r>
            <a:r>
              <a:rPr lang="zh-TW" altLang="en-US" sz="1600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使用標準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inputs/</a:t>
            </a:r>
            <a:r>
              <a:rPr lang="en-US" altLang="zh-TW" sz="1600" b="0" i="0" dirty="0" err="1">
                <a:effectLst/>
                <a:ea typeface="微軟正黑體" panose="020B0604030504040204" pitchFamily="34" charset="-120"/>
              </a:rPr>
              <a:t>outpus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流在</a:t>
            </a:r>
            <a:r>
              <a:rPr lang="zh-TW" altLang="en-US" sz="1600" b="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同一台機器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上的 </a:t>
            </a:r>
            <a:r>
              <a:rPr lang="en-US" altLang="zh-TW" sz="1600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local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 process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之間進行直接通信，提供最佳效能，且無網路開銷。使用此種方式傳輸的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MCP 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通常被稱為本地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(local) MCP server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。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 err="1">
                <a:effectLst/>
                <a:ea typeface="微軟正黑體" panose="020B0604030504040204" pitchFamily="34" charset="-120"/>
              </a:rPr>
              <a:t>Streamable</a:t>
            </a:r>
            <a:r>
              <a:rPr lang="en-US" altLang="zh-TW" sz="1600" b="1" i="0" dirty="0">
                <a:effectLst/>
                <a:ea typeface="微軟正黑體" panose="020B0604030504040204" pitchFamily="34" charset="-120"/>
              </a:rPr>
              <a:t> HTTP transport</a:t>
            </a:r>
            <a:r>
              <a:rPr lang="zh-TW" altLang="en-US" sz="1600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使用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HTTP POST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請求進行客戶端到伺服器的訊息通信，並可選擇地使用伺服器發送事件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(SENT)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來實現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streaming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功能。使用此種方式傳輸的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MCP 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通常被稱為遠端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(remote) MCP server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。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5AE7C1-0A3F-4046-9405-A67FFEDCC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62" y="1281055"/>
            <a:ext cx="4296375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74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0F1170-DF77-4BF6-9CDE-3909F08F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Core Server Features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6DFCC3-E7B5-4C7F-AEDB-D8FF3C65072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F021FE34-1D5A-47D9-A007-E58BB4D0E000}"/>
              </a:ext>
            </a:extLst>
          </p:cNvPr>
          <p:cNvGrpSpPr/>
          <p:nvPr/>
        </p:nvGrpSpPr>
        <p:grpSpPr>
          <a:xfrm>
            <a:off x="637512" y="1610651"/>
            <a:ext cx="5027213" cy="3924632"/>
            <a:chOff x="1068787" y="1563517"/>
            <a:chExt cx="5027213" cy="392463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FA96A3C-26D9-4B86-ADE3-ECA18703978D}"/>
                </a:ext>
              </a:extLst>
            </p:cNvPr>
            <p:cNvSpPr/>
            <p:nvPr/>
          </p:nvSpPr>
          <p:spPr>
            <a:xfrm>
              <a:off x="1068787" y="2962229"/>
              <a:ext cx="1506748" cy="5375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MCP Server</a:t>
              </a:r>
            </a:p>
          </p:txBody>
        </p:sp>
        <p:sp>
          <p:nvSpPr>
            <p:cNvPr id="10" name="流程圖: 磁碟 9">
              <a:extLst>
                <a:ext uri="{FF2B5EF4-FFF2-40B4-BE49-F238E27FC236}">
                  <a16:creationId xmlns:a16="http://schemas.microsoft.com/office/drawing/2014/main" id="{08BB7319-7896-4F42-B683-A254E2960FFF}"/>
                </a:ext>
              </a:extLst>
            </p:cNvPr>
            <p:cNvSpPr/>
            <p:nvPr/>
          </p:nvSpPr>
          <p:spPr>
            <a:xfrm>
              <a:off x="3582796" y="1563517"/>
              <a:ext cx="1193401" cy="1051467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Resources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流程圖: 多重文件 10">
              <a:extLst>
                <a:ext uri="{FF2B5EF4-FFF2-40B4-BE49-F238E27FC236}">
                  <a16:creationId xmlns:a16="http://schemas.microsoft.com/office/drawing/2014/main" id="{C7436B7A-3764-456E-B817-EE1095B3DA53}"/>
                </a:ext>
              </a:extLst>
            </p:cNvPr>
            <p:cNvSpPr/>
            <p:nvPr/>
          </p:nvSpPr>
          <p:spPr>
            <a:xfrm>
              <a:off x="3385029" y="4281518"/>
              <a:ext cx="1588933" cy="1206631"/>
            </a:xfrm>
            <a:prstGeom prst="flowChartMultidocumen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Prompts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84A1BBC-3B55-476F-9F3C-00CF80C2AE82}"/>
                </a:ext>
              </a:extLst>
            </p:cNvPr>
            <p:cNvSpPr/>
            <p:nvPr/>
          </p:nvSpPr>
          <p:spPr>
            <a:xfrm>
              <a:off x="3557998" y="2739274"/>
              <a:ext cx="2538002" cy="120663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6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Tools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全臺各縣市天氣預報</a:t>
              </a:r>
              <a:endParaRPr lang="en-US" altLang="zh-TW" sz="16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臺北市各鄉鎮天氣預報</a:t>
              </a:r>
              <a:endParaRPr lang="en-US" altLang="zh-TW" sz="16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高雄市各鄉鎮天氣預報</a:t>
              </a:r>
              <a:endParaRPr lang="en-US" altLang="zh-TW" sz="16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0FF91D30-BA57-4FBE-BCCE-3623E96C7BEE}"/>
                </a:ext>
              </a:extLst>
            </p:cNvPr>
            <p:cNvCxnSpPr>
              <a:cxnSpLocks/>
              <a:stCxn id="9" idx="3"/>
              <a:endCxn id="10" idx="2"/>
            </p:cNvCxnSpPr>
            <p:nvPr/>
          </p:nvCxnSpPr>
          <p:spPr>
            <a:xfrm flipV="1">
              <a:off x="2575535" y="2089251"/>
              <a:ext cx="1007261" cy="1141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952AF80B-DC52-495A-8D4F-E1DE06E89061}"/>
                </a:ext>
              </a:extLst>
            </p:cNvPr>
            <p:cNvCxnSpPr>
              <a:cxnSpLocks/>
              <a:stCxn id="9" idx="3"/>
              <a:endCxn id="12" idx="1"/>
            </p:cNvCxnSpPr>
            <p:nvPr/>
          </p:nvCxnSpPr>
          <p:spPr>
            <a:xfrm>
              <a:off x="2575535" y="3231014"/>
              <a:ext cx="982463" cy="11157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7C267AA5-05AA-4CE9-BB82-9D8C379B692E}"/>
                </a:ext>
              </a:extLst>
            </p:cNvPr>
            <p:cNvCxnSpPr>
              <a:cxnSpLocks/>
              <a:stCxn id="9" idx="3"/>
              <a:endCxn id="11" idx="1"/>
            </p:cNvCxnSpPr>
            <p:nvPr/>
          </p:nvCxnSpPr>
          <p:spPr>
            <a:xfrm>
              <a:off x="2575535" y="3231014"/>
              <a:ext cx="809494" cy="165382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27CECA-83EA-421E-8D1E-E1C2DB23DE96}"/>
              </a:ext>
            </a:extLst>
          </p:cNvPr>
          <p:cNvSpPr txBox="1"/>
          <p:nvPr/>
        </p:nvSpPr>
        <p:spPr>
          <a:xfrm>
            <a:off x="5837694" y="1610651"/>
            <a:ext cx="6275511" cy="30076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MCP Server 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透過以下三個 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blocks 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提供功能：</a:t>
            </a:r>
            <a:endParaRPr lang="en-US" altLang="zh-TW" sz="1600" b="1" i="0" dirty="0">
              <a:solidFill>
                <a:srgbClr val="002060"/>
              </a:solidFill>
              <a:effectLst/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Tools</a:t>
            </a:r>
            <a:r>
              <a:rPr lang="zh-TW" altLang="en-US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ea typeface="微軟正黑體" panose="020B0604030504040204" pitchFamily="34" charset="-120"/>
              </a:rPr>
              <a:t>包含兩個方法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i="0" dirty="0">
                <a:effectLst/>
                <a:ea typeface="微軟正黑體" panose="020B0604030504040204" pitchFamily="34" charset="-120"/>
              </a:rPr>
              <a:t>tools/list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：回傳工具清單，包含每個工具的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schema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i="0" dirty="0">
                <a:effectLst/>
                <a:ea typeface="微軟正黑體" panose="020B0604030504040204" pitchFamily="34" charset="-120"/>
              </a:rPr>
              <a:t>tools/call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：執行工具並回傳工具執行結果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effectLst/>
                <a:ea typeface="微軟正黑體" panose="020B0604030504040204" pitchFamily="34" charset="-120"/>
              </a:rPr>
              <a:t>Resources</a:t>
            </a:r>
            <a:r>
              <a:rPr lang="zh-TW" altLang="en-US" sz="1600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資源提供結構化的資訊訪問，每個資源都有一個唯一的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URI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，使用者可透過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URI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訪問資源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Prompts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提示是結構化的模板，用於定義預期輸入和互動模式。 需直接由使用者明確呼叫。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5823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CFCD2E-62CB-4B22-8930-EC8FC6EE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Config of MCP Server 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1E6553-435F-4061-88FB-6FA9303AFC4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1A63AC-097A-4377-B5A9-C7039AC55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00" y="1227756"/>
            <a:ext cx="5830379" cy="152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0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MCP Server 的設定檔</a:t>
            </a:r>
            <a:r>
              <a:rPr kumimoji="0" lang="zh-TW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通常為 </a:t>
            </a: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JSON 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格式，主要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包含以下部分：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effectLst/>
                <a:ea typeface="微軟正黑體" panose="020B0604030504040204" pitchFamily="34" charset="-120"/>
              </a:rPr>
              <a:t>command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effectLst/>
                <a:ea typeface="微軟正黑體" panose="020B0604030504040204" pitchFamily="34" charset="-120"/>
              </a:rPr>
              <a:t>：執行的指令（npx、uv、uvx、docker）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effectLst/>
                <a:ea typeface="微軟正黑體" panose="020B0604030504040204" pitchFamily="34" charset="-120"/>
              </a:rPr>
              <a:t>args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effectLst/>
                <a:ea typeface="微軟正黑體" panose="020B0604030504040204" pitchFamily="34" charset="-120"/>
              </a:rPr>
              <a:t>：執行的參數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effectLst/>
                <a:ea typeface="微軟正黑體" panose="020B0604030504040204" pitchFamily="34" charset="-120"/>
              </a:rPr>
              <a:t>env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effectLst/>
                <a:ea typeface="微軟正黑體" panose="020B0604030504040204" pitchFamily="34" charset="-120"/>
              </a:rPr>
              <a:t>：環境變數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5C11E215-7FF4-49BA-A36D-90E084FB3382}"/>
              </a:ext>
            </a:extLst>
          </p:cNvPr>
          <p:cNvGrpSpPr/>
          <p:nvPr/>
        </p:nvGrpSpPr>
        <p:grpSpPr>
          <a:xfrm>
            <a:off x="604975" y="3006331"/>
            <a:ext cx="4391231" cy="3263592"/>
            <a:chOff x="604975" y="3006331"/>
            <a:chExt cx="4391231" cy="3263592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844E4DA-FE63-4503-945B-D961AE05B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4975" y="3006331"/>
              <a:ext cx="4391231" cy="3263592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C1F5842-F3EA-4D14-A290-8CC7CA83EA9C}"/>
                </a:ext>
              </a:extLst>
            </p:cNvPr>
            <p:cNvSpPr txBox="1"/>
            <p:nvPr/>
          </p:nvSpPr>
          <p:spPr>
            <a:xfrm>
              <a:off x="3525625" y="3090446"/>
              <a:ext cx="147058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TW" sz="1600" b="1" i="0" dirty="0">
                  <a:solidFill>
                    <a:schemeClr val="bg1"/>
                  </a:solidFill>
                  <a:effectLst/>
                </a:rPr>
                <a:t>GitHub Copilot</a:t>
              </a: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B0F9CE6-B6E4-40E4-8063-7F64636F0D63}"/>
              </a:ext>
            </a:extLst>
          </p:cNvPr>
          <p:cNvSpPr txBox="1"/>
          <p:nvPr/>
        </p:nvSpPr>
        <p:spPr>
          <a:xfrm>
            <a:off x="7013542" y="1172238"/>
            <a:ext cx="4573483" cy="18992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常見 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command 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種類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npx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zh-TW" altLang="en-US" sz="1600" b="0" i="0" dirty="0">
                <a:solidFill>
                  <a:srgbClr val="3A3A3A"/>
                </a:solidFill>
                <a:effectLst/>
                <a:ea typeface="微軟正黑體" panose="020B0604030504040204" pitchFamily="34" charset="-120"/>
              </a:rPr>
              <a:t>好處是可以直接執行套件（執行完之後不會安裝在系統中），可以減少污染的問題。</a:t>
            </a:r>
            <a:endParaRPr lang="en-US" altLang="zh-TW" sz="1600" b="0" i="0" dirty="0">
              <a:solidFill>
                <a:srgbClr val="3A3A3A"/>
              </a:solidFill>
              <a:effectLst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 err="1">
                <a:ea typeface="微軟正黑體" panose="020B0604030504040204" pitchFamily="34" charset="-120"/>
              </a:rPr>
              <a:t>uv</a:t>
            </a:r>
            <a:r>
              <a:rPr lang="en-US" altLang="zh-TW" sz="1600" b="1" dirty="0">
                <a:ea typeface="微軟正黑體" panose="020B0604030504040204" pitchFamily="34" charset="-120"/>
              </a:rPr>
              <a:t> / </a:t>
            </a:r>
            <a:r>
              <a:rPr lang="en-US" altLang="zh-TW" sz="1600" b="1" dirty="0" err="1">
                <a:ea typeface="微軟正黑體" panose="020B0604030504040204" pitchFamily="34" charset="-120"/>
              </a:rPr>
              <a:t>uvx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en-US" altLang="zh-TW" sz="1600" b="1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使用 </a:t>
            </a:r>
            <a:r>
              <a:rPr lang="en-US" altLang="zh-TW" sz="1600" dirty="0">
                <a:ea typeface="微軟正黑體" panose="020B0604030504040204" pitchFamily="34" charset="-120"/>
              </a:rPr>
              <a:t>python </a:t>
            </a:r>
            <a:r>
              <a:rPr lang="zh-TW" altLang="en-US" sz="1600" dirty="0">
                <a:ea typeface="微軟正黑體" panose="020B0604030504040204" pitchFamily="34" charset="-120"/>
              </a:rPr>
              <a:t>虛擬環境維護服務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docker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ea typeface="微軟正黑體" panose="020B0604030504040204" pitchFamily="34" charset="-120"/>
              </a:rPr>
              <a:t>使用 </a:t>
            </a:r>
            <a:r>
              <a:rPr lang="en-US" altLang="zh-TW" sz="1600" dirty="0">
                <a:ea typeface="微軟正黑體" panose="020B0604030504040204" pitchFamily="34" charset="-120"/>
              </a:rPr>
              <a:t>container </a:t>
            </a:r>
            <a:r>
              <a:rPr lang="zh-TW" altLang="en-US" sz="1600" dirty="0">
                <a:ea typeface="微軟正黑體" panose="020B0604030504040204" pitchFamily="34" charset="-120"/>
              </a:rPr>
              <a:t>維護服務</a:t>
            </a:r>
          </a:p>
        </p:txBody>
      </p:sp>
    </p:spTree>
    <p:extLst>
      <p:ext uri="{BB962C8B-B14F-4D97-AF65-F5344CB8AC3E}">
        <p14:creationId xmlns:p14="http://schemas.microsoft.com/office/powerpoint/2010/main" val="974927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3098</TotalTime>
  <Words>1526</Words>
  <Application>Microsoft Office PowerPoint</Application>
  <PresentationFormat>寬螢幕</PresentationFormat>
  <Paragraphs>199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7" baseType="lpstr">
      <vt:lpstr>Inter</vt:lpstr>
      <vt:lpstr>微軟正黑體</vt:lpstr>
      <vt:lpstr>Arial</vt:lpstr>
      <vt:lpstr>Calibri</vt:lpstr>
      <vt:lpstr>Calibri Light</vt:lpstr>
      <vt:lpstr>Verdana</vt:lpstr>
      <vt:lpstr>Wingdings</vt:lpstr>
      <vt:lpstr>Office 佈景主題</vt:lpstr>
      <vt:lpstr>Lesson 2: Tools &amp; MCP</vt:lpstr>
      <vt:lpstr>PowerPoint 簡報</vt:lpstr>
      <vt:lpstr>Q: 工具可以是什麼？</vt:lpstr>
      <vt:lpstr>Architecture</vt:lpstr>
      <vt:lpstr>API – 讓工具可以跟外界溝通的利器 </vt:lpstr>
      <vt:lpstr>Lab 1: Call Tools</vt:lpstr>
      <vt:lpstr>API 平台 - Postman</vt:lpstr>
      <vt:lpstr>Postman 頁面導覽</vt:lpstr>
      <vt:lpstr>Request 組成 &amp; 網址區塊</vt:lpstr>
      <vt:lpstr>參數區塊 – Headers &amp; Authorization</vt:lpstr>
      <vt:lpstr>參數區塊 – Params &amp; Body</vt:lpstr>
      <vt:lpstr>Response</vt:lpstr>
      <vt:lpstr>作業 1 - 呼叫天氣查詢工具 </vt:lpstr>
      <vt:lpstr>Agent 串接工具，需要 …</vt:lpstr>
      <vt:lpstr>MCP (Model Context Protocol)</vt:lpstr>
      <vt:lpstr>Architecture of MCP</vt:lpstr>
      <vt:lpstr>Transport Layer</vt:lpstr>
      <vt:lpstr>Core Server Features</vt:lpstr>
      <vt:lpstr>Config of MCP Server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2: Tools &amp; MCP</dc:title>
  <dc:creator>吳映萱(sarah_wu)</dc:creator>
  <cp:lastModifiedBy>吳映萱(sarah_wu)</cp:lastModifiedBy>
  <cp:revision>56</cp:revision>
  <dcterms:created xsi:type="dcterms:W3CDTF">2026-03-09T08:53:21Z</dcterms:created>
  <dcterms:modified xsi:type="dcterms:W3CDTF">2026-03-11T12:32:12Z</dcterms:modified>
</cp:coreProperties>
</file>